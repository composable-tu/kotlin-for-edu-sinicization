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embeddedFontLst>
    <p:embeddedFont>
      <p:font typeface="JetBrains Mon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JetBrainsMono-bold.fntdata"/><Relationship Id="rId63" Type="http://schemas.openxmlformats.org/officeDocument/2006/relationships/font" Target="fonts/JetBrainsMono-regular.fntdata"/><Relationship Id="rId22" Type="http://schemas.openxmlformats.org/officeDocument/2006/relationships/slide" Target="slides/slide17.xml"/><Relationship Id="rId66" Type="http://schemas.openxmlformats.org/officeDocument/2006/relationships/font" Target="fonts/JetBrainsMono-boldItalic.fntdata"/><Relationship Id="rId21" Type="http://schemas.openxmlformats.org/officeDocument/2006/relationships/slide" Target="slides/slide16.xml"/><Relationship Id="rId65" Type="http://schemas.openxmlformats.org/officeDocument/2006/relationships/font" Target="fonts/JetBrains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otlinlang.org/docs/server-overview.html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Overview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5491a8b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5491a8b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5491a8b4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5491a8b4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5491a8b4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5491a8b4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5491a8b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5491a8b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5491a8b4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5491a8b4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5491a8b4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5491a8b4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5491a8b4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5491a8b4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4cef99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4cef99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4cef992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4cef992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4cef9923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4cef9923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4cef992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4cef992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4cef9923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4cef9923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4cef9923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4cef9923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4cef9923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4cef9923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4cef9923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4cef9923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4cef9923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4cef9923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4cef9923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4cef9923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4cef9923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4cef9923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4cef9923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4cef9923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4cef9923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4cef9923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4cef9923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4cef9923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4cef9923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4cef9923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4cef9923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4cef9923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4cef9923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4cef9923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4cef9923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4cef9923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4cef9923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4cef9923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4cef9923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4cef9923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4cef9923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4cef9923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4cef9923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4cef9923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4cef9923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4cef9923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4cef9923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4cef9923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4cef9923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4cef9923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4cef9923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4cef9923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4cef9923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4cef9923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4cef9923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4cef9923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4cef9923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4cef9923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4cef9923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4cef9923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4cef9923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4cef9923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4cef9923f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4cef9923f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4cef9923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4cef9923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4cef9923f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4cef9923f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4cef9923f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4cef9923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4cef9923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4cef9923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4cef9923f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4cef9923f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4cef9923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4cef9923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4cef9923f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4cef9923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4cef9923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4cef9923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4cef9923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54cef9923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4cef9923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4cef9923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4cef9923f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4cef9923f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4cef9923f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4cef9923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4cef9923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4cef9923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4cef9923f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4cef9923f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4cef9923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4cef9923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4cef9923f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4cef9923f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4cef9923f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4cef9923f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etBrains Mono"/>
              <a:buNone/>
              <a:defRPr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  <a:defRPr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○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■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●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○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■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●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○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etBrains Mono"/>
              <a:buChar char="■"/>
              <a:defRPr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mozilla.org/en-US/docs/Web/HTTP/Guides/Content_negotiation" TargetMode="External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mozilla.org/en-US/docs/Web/HTTP/Guides/Authentication" TargetMode="External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Development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Basics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</a:rPr>
              <a:t>-</a:t>
            </a:r>
            <a:r>
              <a:rPr lang="en" sz="13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300">
                <a:highlight>
                  <a:srgbClr val="FFFFFF"/>
                </a:highlight>
              </a:rPr>
              <a:t>**</a:t>
            </a:r>
            <a:r>
              <a:rPr lang="en" sz="1300">
                <a:solidFill>
                  <a:srgbClr val="267F99"/>
                </a:solidFill>
                <a:highlight>
                  <a:srgbClr val="FFFFFF"/>
                </a:highlight>
              </a:rPr>
              <a:t>Computer</a:t>
            </a:r>
            <a:r>
              <a:rPr lang="en" sz="13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300">
                <a:solidFill>
                  <a:srgbClr val="267F99"/>
                </a:solidFill>
                <a:highlight>
                  <a:srgbClr val="FFFFFF"/>
                </a:highlight>
              </a:rPr>
              <a:t>Networks</a:t>
            </a:r>
            <a:r>
              <a:rPr lang="en" sz="1300">
                <a:highlight>
                  <a:srgbClr val="FFFFFF"/>
                </a:highlight>
              </a:rPr>
              <a:t>**:</a:t>
            </a:r>
            <a:r>
              <a:rPr lang="en" sz="13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300">
                <a:solidFill>
                  <a:srgbClr val="267F99"/>
                </a:solidFill>
                <a:highlight>
                  <a:srgbClr val="FFFFFF"/>
                </a:highlight>
              </a:rPr>
              <a:t>Systems</a:t>
            </a:r>
            <a:r>
              <a:rPr lang="en" sz="1300">
                <a:solidFill>
                  <a:srgbClr val="3B3B3B"/>
                </a:solidFill>
                <a:highlight>
                  <a:srgbClr val="FFFFFF"/>
                </a:highlight>
              </a:rPr>
              <a:t> that allow computers to communicate</a:t>
            </a:r>
            <a:endParaRPr sz="13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Internet Protocol (IP)</a:t>
            </a:r>
            <a:r>
              <a:rPr lang="en" sz="1100"/>
              <a:t>: System for identifying computers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Ports</a:t>
            </a:r>
            <a:r>
              <a:rPr lang="en" sz="1100"/>
              <a:t>: Communication channels on a computer (0-65535)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Connection</a:t>
            </a:r>
            <a:r>
              <a:rPr lang="en" sz="1200">
                <a:highlight>
                  <a:srgbClr val="FFFFFF"/>
                </a:highlight>
              </a:rPr>
              <a:t>**: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Communication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pathway between two programs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Like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a phone call between two computers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Connection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Information</a:t>
            </a:r>
            <a:r>
              <a:rPr lang="en" sz="1200">
                <a:highlight>
                  <a:srgbClr val="FFFFFF"/>
                </a:highlight>
              </a:rPr>
              <a:t>**: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Source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IP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and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port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Destination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IP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and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port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TCP Protocol</a:t>
            </a:r>
            <a:r>
              <a:rPr lang="en" sz="1200">
                <a:highlight>
                  <a:srgbClr val="FFFFFF"/>
                </a:highlight>
              </a:rPr>
              <a:t>**: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Reliable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, ordered delivery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- An </a:t>
            </a: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</a:rPr>
              <a:t>Internet Protocol address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</a:rPr>
              <a:t>IP address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) 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x.x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x.x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Address structure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r>
              <a:rPr lang="en" sz="1200">
                <a:highlight>
                  <a:srgbClr val="FFFFFF"/>
                </a:highlight>
              </a:rPr>
              <a:t>**: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127.0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0.1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Localhost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r>
              <a:rPr lang="en" sz="1200">
                <a:highlight>
                  <a:srgbClr val="FFFFFF"/>
                </a:highlight>
              </a:rPr>
              <a:t>**: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  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Always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refers to your own computer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  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Useful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AF00DB"/>
                </a:solidFill>
                <a:highlight>
                  <a:srgbClr val="FFFFFF"/>
                </a:highlight>
              </a:rPr>
              <a:t>for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testing without network access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  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Also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accessible </a:t>
            </a:r>
            <a:r>
              <a:rPr lang="en" sz="1200">
                <a:highlight>
                  <a:srgbClr val="FFFFFF"/>
                </a:highlight>
              </a:rPr>
              <a:t>as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"localhost"</a:t>
            </a:r>
            <a:endParaRPr sz="120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0.0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0.0</a:t>
            </a:r>
            <a:r>
              <a:rPr lang="en" sz="1200">
                <a:highlight>
                  <a:srgbClr val="FFFFFF"/>
                </a:highlight>
              </a:rPr>
              <a:t>**: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 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Means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"all available network interfaces"</a:t>
            </a:r>
            <a:endParaRPr sz="120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 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When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a server listens on 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0.0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0.0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, it accepts connections from any network interface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 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Used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to make servers accessible from other computers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255.255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255.255</a:t>
            </a:r>
            <a:r>
              <a:rPr lang="en" sz="1200">
                <a:highlight>
                  <a:srgbClr val="FFFFFF"/>
                </a:highlight>
              </a:rPr>
              <a:t>**: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Broadcast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address (sends to all devices on local network)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highlight>
                  <a:srgbClr val="FFFFFF"/>
                </a:highlight>
              </a:rPr>
              <a:t>**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192.168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.x.x </a:t>
            </a:r>
            <a:r>
              <a:rPr lang="en" sz="1200">
                <a:highlight>
                  <a:srgbClr val="FFFFFF"/>
                </a:highlight>
              </a:rPr>
              <a:t>and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10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.x.x.x</a:t>
            </a:r>
            <a:r>
              <a:rPr lang="en" sz="1200">
                <a:highlight>
                  <a:srgbClr val="FFFFFF"/>
                </a:highlight>
              </a:rPr>
              <a:t>**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Private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addresses (only work on local networks)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Sockets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Socket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Programming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tool </a:t>
            </a:r>
            <a:r>
              <a:rPr lang="en" sz="1400">
                <a:solidFill>
                  <a:srgbClr val="AF00DB"/>
                </a:solidFill>
                <a:highlight>
                  <a:srgbClr val="FFFFFF"/>
                </a:highlight>
              </a:rPr>
              <a:t>for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network communication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What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Sockets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Do</a:t>
            </a:r>
            <a:r>
              <a:rPr lang="en" sz="1400">
                <a:highlight>
                  <a:srgbClr val="FFFFFF"/>
                </a:highlight>
              </a:rPr>
              <a:t>**: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Create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network connections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Send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over the network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Receive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from the network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Socket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Types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in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Kotlin</a:t>
            </a:r>
            <a:r>
              <a:rPr lang="en" sz="1400">
                <a:highlight>
                  <a:srgbClr val="FFFFFF"/>
                </a:highlight>
              </a:rPr>
              <a:t>**: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Socket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For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TCP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connections (reliable)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ServerSocket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For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accepting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TCP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connections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DatagramSocket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For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UDP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communication (simpler, faster)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Client-Server Model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Server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Program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that waits </a:t>
            </a:r>
            <a:r>
              <a:rPr lang="en" sz="1400">
                <a:solidFill>
                  <a:srgbClr val="AF00DB"/>
                </a:solidFill>
                <a:highlight>
                  <a:srgbClr val="FFFFFF"/>
                </a:highlight>
              </a:rPr>
              <a:t>for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connections </a:t>
            </a:r>
            <a:r>
              <a:rPr lang="en" sz="1400">
                <a:highlight>
                  <a:srgbClr val="FFFFFF"/>
                </a:highlight>
              </a:rPr>
              <a:t>and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provides a service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Listens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on a specific port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Handles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multiple client connections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Example</a:t>
            </a:r>
            <a:r>
              <a:rPr lang="en" sz="1400">
                <a:highlight>
                  <a:srgbClr val="FFFFFF"/>
                </a:highlight>
              </a:rPr>
              <a:t>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Web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server, game server, chat server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Client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Program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that connects to a server to use its service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Initiates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the connection to the server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Often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has a user interface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Example</a:t>
            </a:r>
            <a:r>
              <a:rPr lang="en" sz="1400">
                <a:highlight>
                  <a:srgbClr val="FFFFFF"/>
                </a:highlight>
              </a:rPr>
              <a:t>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Web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browser, game client, chat app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highlight>
                  <a:srgbClr val="FFFFFF"/>
                </a:highlight>
              </a:rPr>
              <a:t>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Communication</a:t>
            </a:r>
            <a:r>
              <a:rPr lang="en" sz="1400">
                <a:highlight>
                  <a:srgbClr val="FFFFFF"/>
                </a:highlight>
              </a:rPr>
              <a:t>**: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Two</a:t>
            </a:r>
            <a:r>
              <a:rPr lang="en" sz="1400"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way exchange of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Socket 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8000"/>
                </a:solidFill>
                <a:highlight>
                  <a:srgbClr val="FFFFFF"/>
                </a:highlight>
              </a:rPr>
              <a:t>// Create a server socket on port 8080</a:t>
            </a:r>
            <a:endParaRPr sz="1014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serverSocket </a:t>
            </a:r>
            <a:r>
              <a:rPr lang="en" sz="1014">
                <a:highlight>
                  <a:srgbClr val="FFFFFF"/>
                </a:highlight>
              </a:rPr>
              <a:t>=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14">
                <a:solidFill>
                  <a:srgbClr val="267F99"/>
                </a:solidFill>
                <a:highlight>
                  <a:srgbClr val="FFFFFF"/>
                </a:highlight>
              </a:rPr>
              <a:t>ServerSocket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>
                <a:solidFill>
                  <a:srgbClr val="A31515"/>
                </a:solidFill>
                <a:highlight>
                  <a:srgbClr val="FFFFFF"/>
                </a:highlight>
              </a:rPr>
              <a:t>"Server started on port 8080"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8000"/>
                </a:solidFill>
                <a:highlight>
                  <a:srgbClr val="FFFFFF"/>
                </a:highlight>
              </a:rPr>
              <a:t>// Accept one client connection</a:t>
            </a:r>
            <a:endParaRPr sz="1014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clientSocket </a:t>
            </a:r>
            <a:r>
              <a:rPr lang="en" sz="1014">
                <a:highlight>
                  <a:srgbClr val="FFFFFF"/>
                </a:highlight>
              </a:rPr>
              <a:t>=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serverSocket.accept()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>
                <a:solidFill>
                  <a:srgbClr val="A31515"/>
                </a:solidFill>
                <a:highlight>
                  <a:srgbClr val="FFFFFF"/>
                </a:highlight>
              </a:rPr>
              <a:t>"Client connected!"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8000"/>
                </a:solidFill>
                <a:highlight>
                  <a:srgbClr val="FFFFFF"/>
                </a:highlight>
              </a:rPr>
              <a:t>// Create a writer to send data to the client</a:t>
            </a:r>
            <a:endParaRPr sz="1014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writer </a:t>
            </a:r>
            <a:r>
              <a:rPr lang="en" sz="1014">
                <a:highlight>
                  <a:srgbClr val="FFFFFF"/>
                </a:highlight>
              </a:rPr>
              <a:t>=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14">
                <a:solidFill>
                  <a:srgbClr val="267F99"/>
                </a:solidFill>
                <a:highlight>
                  <a:srgbClr val="FFFFFF"/>
                </a:highlight>
              </a:rPr>
              <a:t>PrintWriter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(clientSocket.getOutputStream(), </a:t>
            </a:r>
            <a:r>
              <a:rPr lang="en" sz="1014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8000"/>
                </a:solidFill>
                <a:highlight>
                  <a:srgbClr val="FFFFFF"/>
                </a:highlight>
              </a:rPr>
              <a:t>// Send a message</a:t>
            </a:r>
            <a:endParaRPr sz="1014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writer.</a:t>
            </a:r>
            <a:r>
              <a:rPr lang="en" sz="1014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>
                <a:solidFill>
                  <a:srgbClr val="A31515"/>
                </a:solidFill>
                <a:highlight>
                  <a:srgbClr val="FFFFFF"/>
                </a:highlight>
              </a:rPr>
              <a:t>"Hello from Kotlin server!"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008000"/>
                </a:solidFill>
                <a:highlight>
                  <a:srgbClr val="FFFFFF"/>
                </a:highlight>
              </a:rPr>
              <a:t>// Clean up</a:t>
            </a:r>
            <a:endParaRPr sz="1014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clientSocket.close()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serverSocket.close()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14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14">
                <a:solidFill>
                  <a:srgbClr val="A31515"/>
                </a:solidFill>
                <a:highlight>
                  <a:srgbClr val="FFFFFF"/>
                </a:highlight>
              </a:rPr>
              <a:t>"Server stopped"</a:t>
            </a:r>
            <a:r>
              <a:rPr lang="en" sz="1014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14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014">
              <a:solidFill>
                <a:srgbClr val="008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Socket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</a:rPr>
              <a:t>// Connect to the server (localhost = 127.0.0.1)</a:t>
            </a:r>
            <a:endParaRPr sz="10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socket </a:t>
            </a:r>
            <a:r>
              <a:rPr lang="en" sz="1000">
                <a:highlight>
                  <a:srgbClr val="FFFFFF"/>
                </a:highlight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</a:rPr>
              <a:t>Socket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</a:rPr>
              <a:t>"localhost"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</a:rPr>
              <a:t>"Connected to server"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</a:rPr>
              <a:t>// Set up reader to receive data</a:t>
            </a:r>
            <a:endParaRPr sz="10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reader </a:t>
            </a:r>
            <a:r>
              <a:rPr lang="en" sz="1000">
                <a:highlight>
                  <a:srgbClr val="FFFFFF"/>
                </a:highlight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</a:rPr>
              <a:t>BufferedReader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</a:rPr>
              <a:t>InputStreamReader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(socket.getInputStream()))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</a:rPr>
              <a:t>// Read and print the message from server</a:t>
            </a:r>
            <a:endParaRPr sz="10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message </a:t>
            </a:r>
            <a:r>
              <a:rPr lang="en" sz="1000">
                <a:highlight>
                  <a:srgbClr val="FFFFFF"/>
                </a:highlight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reader.readLine()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</a:rPr>
              <a:t>"Server says: $message"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</a:rPr>
              <a:t>// Clean up</a:t>
            </a:r>
            <a:endParaRPr sz="10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socket.close()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</a:rPr>
              <a:t>"Connection closed"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</a:rPr>
              <a:t>)</a:t>
            </a:r>
            <a:endParaRPr sz="10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Backend?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0"/>
              <a:t>- The server-side of an application that users don't directly interact with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0"/>
              <a:t>- Handles core business logic, data storage, and security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0"/>
              <a:t>- Communicates with other systems (databases, services, etc.)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0"/>
              <a:t>- Serves data and functionality to frontends (web, mobile apps)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0"/>
              <a:t>- Runs on servers or cloud platforms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30"/>
              <a:t>- Often built as a set of services or APIs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3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APIs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</a:t>
            </a:r>
            <a:r>
              <a:rPr lang="en"/>
              <a:t> APIs that communicate over the internet using HTTP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Client-server communication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Common formats: JSON, XML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Technology agnostic (different languages can communicate)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Types: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SOAP: Uses XML, more rigid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REST: Uses HTTP methods, resource-based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GraphQL: Query language for APIs, flexible data fetching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- RPC: Remote Procedure Call, action-based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text based communication protocol (http 1.*)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can handle text and binary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curl -v http://google.com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* Host google.com:80 was resolved.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* IPv6: (none)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* IPv4: 216.58.206.46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*   Trying 216.58.206.46:80...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* Connected to google.com (216.58.206.46) port 80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&gt; GET / HTTP/1.1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&gt; Host: google.com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&gt; User-Agent: curl/8.7.1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&gt; Accept: */*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&gt;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 Request completely sent off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466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HTTP/1.1 301 Moved Permanently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Location: http://www.google.com/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Content-Type: text/html; charset=UTF-8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Content-Security-Policy-Report-Only: object-src 'none';base-uri 'self';script-src 'nonce-z-LCHgth0elAZCmPgxyuFA' 'strict-dynamic' 'report-sample' 'unsafe-eval' 'unsafe-inline' https: http:;report-uri https://csp.withgoogle.com/csp/gws/other-hp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Date: Mon, 05 May 2025 10:57:07 GMT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Expires: Wed, 04 Jun 2025 10:57:07 GMT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Cache-Control: public, max-age=2592000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Server: gws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Content-Length: 219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X-XSS-Protection: 0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X-Frame-Options: SAMEORIGIN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&lt;HTML&gt;&lt;HEAD&gt;&lt;meta http-equiv="content-type" content="text/html;charset=utf-8"&gt;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&lt;TITLE&gt;301 Moved&lt;/TITLE&gt;&lt;/HEAD&gt;&lt;BODY&gt;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&lt;H1&gt;301 Moved&lt;/H1&gt;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The document has moved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&lt;A HREF="http://www.google.com/"&gt;here&lt;/A&gt;.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&lt;/BODY&gt;&lt;/HTML&gt;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* Connection #0 to host google.com left intact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REST = Representational State Transfer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Architectural style for web APIs created by Roy Fielding (2000)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Based on key principles: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Uses HTTP methods (GET, POST, PUT, DELETE)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Resource-based (URLs represent resources)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Stateless (server doesn't store client state)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Uniform interface (consistent interaction patterns)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Client-server separation (independent evolution)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Methods in REST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**GET**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Retrieve data (read-only, safe)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Example: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`GET /users/123`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- Get user with ID 123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**POST**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Create new resources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Example: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`POST /users`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- Create a new user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**PUT**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Update existing resources (full replacement)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Example: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`PUT /users/123`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- Update entire user 123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**PATCH**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Partially update resources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Example: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`PATCH /users/123`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- Update parts of user 123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**DELETE**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Remove resources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Example: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`DELETE /users/123`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- Delete user 123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 Resources and URLs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Resources are the key objects in your system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Example: users, products, tasks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URLs (endpoints) identify resources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Collection: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`/users`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(all users)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Individual: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`/users/123`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(specific user)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Hierarchical relationships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`/users/123/orders`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(orders for user 123)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Query parameters for filtering, sorting, pagination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800000"/>
                </a:solidFill>
                <a:highlight>
                  <a:srgbClr val="FFFFFF"/>
                </a:highlight>
              </a:rPr>
              <a:t>`/products?category=electronics&amp;sort=price`</a:t>
            </a:r>
            <a:endParaRPr sz="1400">
              <a:solidFill>
                <a:srgbClr val="8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Status Codes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Numeric codes that indicate request outcome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Grouped by first digit: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</a:rPr>
              <a:t>**2xx**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: Success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200 OK, 201 Created, 204 No Content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</a:rPr>
              <a:t>**3xx**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: Redirection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301 Moved Permanently, 304 Not Modified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</a:rPr>
              <a:t>**4xx**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: Client Error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400 Bad Request, 401 Unauthorized, 404 Not Found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</a:rPr>
              <a:t>**5xx**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: Server Error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500 Internal Server Error, 503 Service Unavailable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Helps clients understand what happened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 API Benefits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**Scalability**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Stateless nature helps scaling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**Flexibility**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Clients can evolve independently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**Portability**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Works across platforms and languages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**Visibility**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Clear HTTP interactions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**Reliability**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Well-understood caching and error handling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**Simplicity**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Easier to understand and implement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b="1" lang="en" sz="1400">
                <a:solidFill>
                  <a:srgbClr val="000080"/>
                </a:solidFill>
                <a:highlight>
                  <a:srgbClr val="FFFFFF"/>
                </a:highlight>
              </a:rPr>
              <a:t>**Widespread adoption**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: Industry standard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Framework Basics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Frameworks provide structure and common functionality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Handle repetitive tasks (routing, serialization, etc.)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Common features: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HTTP server functionality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Routing system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Request/response handling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Data validation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Database integration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Authentication/Authorization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Testing support</a:t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200">
                <a:solidFill>
                  <a:srgbClr val="3B3B3B"/>
                </a:solidFill>
                <a:highlight>
                  <a:srgbClr val="FFFFFF"/>
                </a:highlight>
              </a:rPr>
              <a:t> Logging and monitoring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ntroduction to Ktor</a:t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Close to HTTP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- Lightweight, asynchronous web framework for Kotlin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Developed by JetBrains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Ideal for microservices, HTTP APIs, and RESTful applications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Current version: 3.1.2 (March 2025)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Highly modular with plugin-based architecture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Ktor Project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Use the Ktor Project Generator at </a:t>
            </a:r>
            <a:r>
              <a:rPr lang="en" sz="1400" u="sng">
                <a:solidFill>
                  <a:srgbClr val="3B3B3B"/>
                </a:solidFill>
                <a:highlight>
                  <a:srgbClr val="FFFFFF"/>
                </a:highlight>
              </a:rPr>
              <a:t>https://start.ktor.io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Select your preferences: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Build system (Gradle with Kotlin DSL recommended)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Ktor version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Server engine (Netty, CIO, Tomcat, etc.)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451A5"/>
                </a:solidFill>
                <a:highlight>
                  <a:srgbClr val="FFFFFF"/>
                </a:highlight>
              </a:rPr>
              <a:t>-</a:t>
            </a:r>
            <a:r>
              <a:rPr lang="en" sz="1400">
                <a:solidFill>
                  <a:srgbClr val="3B3B3B"/>
                </a:solidFill>
                <a:highlight>
                  <a:srgbClr val="FFFFFF"/>
                </a:highlight>
              </a:rPr>
              <a:t> Required plugins</a:t>
            </a:r>
            <a:endParaRPr sz="14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128" y="1017725"/>
            <a:ext cx="454042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Ktor application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400"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795E26"/>
                </a:solidFill>
                <a:highlight>
                  <a:srgbClr val="FFFFFF"/>
                </a:highlight>
              </a:rPr>
              <a:t>main</a:t>
            </a:r>
            <a:r>
              <a:rPr lang="en" sz="1400">
                <a:highlight>
                  <a:srgbClr val="FFFFFF"/>
                </a:highlight>
              </a:rPr>
              <a:t>() {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Start Ktor server with Netty engine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embeddedServer(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Netty</a:t>
            </a:r>
            <a:r>
              <a:rPr lang="en" sz="1400">
                <a:highlight>
                  <a:srgbClr val="FFFFFF"/>
                </a:highlight>
              </a:rPr>
              <a:t>,           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Engine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port = </a:t>
            </a:r>
            <a:r>
              <a:rPr lang="en" sz="1400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400">
                <a:highlight>
                  <a:srgbClr val="FFFFFF"/>
                </a:highlight>
              </a:rPr>
              <a:t>,     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Port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host = 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"0.0.0.0"</a:t>
            </a:r>
            <a:r>
              <a:rPr lang="en" sz="1400">
                <a:highlight>
                  <a:srgbClr val="FFFFFF"/>
                </a:highlight>
              </a:rPr>
              <a:t>,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Host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module = </a:t>
            </a:r>
            <a:r>
              <a:rPr lang="en" sz="1400">
                <a:solidFill>
                  <a:srgbClr val="001080"/>
                </a:solidFill>
                <a:highlight>
                  <a:srgbClr val="FFFFFF"/>
                </a:highlight>
              </a:rPr>
              <a:t>Application</a:t>
            </a:r>
            <a:r>
              <a:rPr lang="en" sz="1400">
                <a:highlight>
                  <a:srgbClr val="FFFFFF"/>
                </a:highlight>
              </a:rPr>
              <a:t>::module 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Module function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).start(wait =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}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Ktor Application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33B3"/>
                </a:solidFill>
                <a:highlight>
                  <a:srgbClr val="FFFFFF"/>
                </a:highlight>
              </a:rPr>
              <a:t>fun </a:t>
            </a:r>
            <a:r>
              <a:rPr lang="en" sz="1200">
                <a:highlight>
                  <a:srgbClr val="FFFFFF"/>
                </a:highlight>
              </a:rPr>
              <a:t>Application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0627A"/>
                </a:solidFill>
                <a:highlight>
                  <a:srgbClr val="FFFFFF"/>
                </a:highlight>
              </a:rPr>
              <a:t>module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() {</a:t>
            </a:r>
            <a:endParaRPr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33B3"/>
                </a:solidFill>
                <a:highlight>
                  <a:srgbClr val="FFFFFF"/>
                </a:highlight>
              </a:rPr>
              <a:t>routing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lang="en" sz="1200">
                <a:solidFill>
                  <a:srgbClr val="0033B3"/>
                </a:solidFill>
                <a:highlight>
                  <a:srgbClr val="FFFFFF"/>
                </a:highlight>
              </a:rPr>
              <a:t>get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</a:rPr>
              <a:t>"/"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)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           </a:t>
            </a:r>
            <a:r>
              <a:rPr lang="en" sz="1200">
                <a:solidFill>
                  <a:srgbClr val="871094"/>
                </a:solidFill>
                <a:highlight>
                  <a:srgbClr val="FFFFFF"/>
                </a:highlight>
              </a:rPr>
              <a:t>call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.respondText(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</a:rPr>
              <a:t>"Hello World!"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   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Routes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050">
                <a:highlight>
                  <a:srgbClr val="FFFFFF"/>
                </a:highlight>
              </a:rPr>
              <a:t> Application.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configureRouting</a:t>
            </a:r>
            <a:r>
              <a:rPr lang="en" sz="1050">
                <a:highlight>
                  <a:srgbClr val="FFFFFF"/>
                </a:highlight>
              </a:rPr>
              <a:t>()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routing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Define a GET endpoint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get(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call.respondText(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"Hello, Ktor!"</a:t>
            </a:r>
            <a:r>
              <a:rPr lang="en" sz="1050">
                <a:highlight>
                  <a:srgbClr val="FFFFFF"/>
                </a:highlight>
              </a:rPr>
              <a:t>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Define a GET endpoint with JSON response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get(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"/info"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call.respond(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>
                <a:highlight>
                  <a:srgbClr val="FFFFFF"/>
                </a:highlight>
              </a:rPr>
              <a:t>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"version"</a:t>
            </a:r>
            <a:r>
              <a:rPr lang="en" sz="1050">
                <a:highlight>
                  <a:srgbClr val="FFFFFF"/>
                </a:highlight>
              </a:rPr>
              <a:t> to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"1.0"</a:t>
            </a:r>
            <a:r>
              <a:rPr lang="en" sz="1050">
                <a:highlight>
                  <a:srgbClr val="FFFFFF"/>
                </a:highlight>
              </a:rPr>
              <a:t>))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Routes</a:t>
            </a:r>
            <a:endParaRPr/>
          </a:p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b="1" lang="en" sz="1050">
                <a:highlight>
                  <a:srgbClr val="FFFFFF"/>
                </a:highlight>
              </a:rPr>
              <a:t>route</a:t>
            </a:r>
            <a:r>
              <a:rPr lang="en" sz="1050">
                <a:highlight>
                  <a:srgbClr val="FFFFFF"/>
                </a:highlight>
              </a:rPr>
              <a:t>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"/api"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Nested routes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route(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"/v1"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Tasks API endpoints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route(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</a:t>
            </a:r>
            <a:r>
              <a:rPr b="1" lang="en" sz="1050">
                <a:highlight>
                  <a:srgbClr val="FFFFFF"/>
                </a:highlight>
              </a:rPr>
              <a:t>get</a:t>
            </a:r>
            <a:r>
              <a:rPr lang="en" sz="1050">
                <a:highlight>
                  <a:srgbClr val="FFFFFF"/>
                </a:highlight>
              </a:rPr>
              <a:t> {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/* Get all tasks */</a:t>
            </a:r>
            <a:r>
              <a:rPr lang="en" sz="1050">
                <a:highlight>
                  <a:srgbClr val="FFFFFF"/>
                </a:highlight>
              </a:rPr>
              <a:t>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</a:t>
            </a:r>
            <a:r>
              <a:rPr b="1" lang="en" sz="1050">
                <a:highlight>
                  <a:srgbClr val="FFFFFF"/>
                </a:highlight>
              </a:rPr>
              <a:t>post</a:t>
            </a:r>
            <a:r>
              <a:rPr lang="en" sz="1050">
                <a:highlight>
                  <a:srgbClr val="FFFFFF"/>
                </a:highlight>
              </a:rPr>
              <a:t> {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/* Create a task */</a:t>
            </a:r>
            <a:r>
              <a:rPr lang="en" sz="1050">
                <a:highlight>
                  <a:srgbClr val="FFFFFF"/>
                </a:highlight>
              </a:rPr>
              <a:t>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Path parameters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route(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"/{id}"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    get {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/* Get task by ID */</a:t>
            </a:r>
            <a:r>
              <a:rPr lang="en" sz="1050">
                <a:highlight>
                  <a:srgbClr val="FFFFFF"/>
                </a:highlight>
              </a:rPr>
              <a:t>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    </a:t>
            </a:r>
            <a:r>
              <a:rPr b="1" lang="en" sz="1050">
                <a:highlight>
                  <a:srgbClr val="FFFFFF"/>
                </a:highlight>
              </a:rPr>
              <a:t>put</a:t>
            </a:r>
            <a:r>
              <a:rPr lang="en" sz="1050">
                <a:highlight>
                  <a:srgbClr val="FFFFFF"/>
                </a:highlight>
              </a:rPr>
              <a:t> {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/* Update task */</a:t>
            </a:r>
            <a:r>
              <a:rPr lang="en" sz="1050">
                <a:highlight>
                  <a:srgbClr val="FFFFFF"/>
                </a:highlight>
              </a:rPr>
              <a:t>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    </a:t>
            </a:r>
            <a:r>
              <a:rPr b="1" lang="en" sz="1050">
                <a:highlight>
                  <a:srgbClr val="FFFFFF"/>
                </a:highlight>
              </a:rPr>
              <a:t>delete</a:t>
            </a:r>
            <a:r>
              <a:rPr lang="en" sz="1050">
                <a:highlight>
                  <a:srgbClr val="FFFFFF"/>
                </a:highlight>
              </a:rPr>
              <a:t> {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/* Delete task */</a:t>
            </a:r>
            <a:r>
              <a:rPr lang="en" sz="1050">
                <a:highlight>
                  <a:srgbClr val="FFFFFF"/>
                </a:highlight>
              </a:rPr>
              <a:t>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       }</a:t>
            </a:r>
            <a:endParaRPr sz="105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Parameters</a:t>
            </a:r>
            <a:endParaRPr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/tasks/42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get(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"/tasks/{id}"</a:t>
            </a:r>
            <a:r>
              <a:rPr lang="en" sz="1400">
                <a:highlight>
                  <a:srgbClr val="FFFFFF"/>
                </a:highlight>
              </a:rPr>
              <a:t>) {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400">
                <a:highlight>
                  <a:srgbClr val="FFFFFF"/>
                </a:highlight>
              </a:rPr>
              <a:t> id = call.parameters[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"id"</a:t>
            </a:r>
            <a:r>
              <a:rPr lang="en" sz="1400">
                <a:highlight>
                  <a:srgbClr val="FFFFFF"/>
                </a:highlight>
              </a:rPr>
              <a:t>]?.toIntOrNull()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400">
                <a:highlight>
                  <a:srgbClr val="FFFFFF"/>
                </a:highlight>
              </a:rPr>
              <a:t> (id ==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" sz="1400">
                <a:highlight>
                  <a:srgbClr val="FFFFFF"/>
                </a:highlight>
              </a:rPr>
              <a:t>) {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call.respond(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400">
                <a:highlight>
                  <a:srgbClr val="FFFFFF"/>
                </a:highlight>
              </a:rPr>
              <a:t>.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1400">
                <a:highlight>
                  <a:srgbClr val="FFFFFF"/>
                </a:highlight>
              </a:rPr>
              <a:t>, 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"Invalid ID format"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</a:t>
            </a:r>
            <a:r>
              <a:rPr lang="en" sz="1400">
                <a:solidFill>
                  <a:srgbClr val="AF00DB"/>
                </a:solidFill>
                <a:highlight>
                  <a:srgbClr val="FFFFFF"/>
                </a:highlight>
              </a:rPr>
              <a:t>return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@get</a:t>
            </a:r>
            <a:endParaRPr sz="140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}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Use the ID parameter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}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Parameters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/tasks?id=42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get(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1400">
                <a:highlight>
                  <a:srgbClr val="FFFFFF"/>
                </a:highlight>
              </a:rPr>
              <a:t>) {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400">
                <a:highlight>
                  <a:srgbClr val="FFFFFF"/>
                </a:highlight>
              </a:rPr>
              <a:t> id = call.queryParameters[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"id"</a:t>
            </a:r>
            <a:r>
              <a:rPr lang="en" sz="1400">
                <a:highlight>
                  <a:srgbClr val="FFFFFF"/>
                </a:highlight>
              </a:rPr>
              <a:t>]?.toIntOrNull()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400">
                <a:highlight>
                  <a:srgbClr val="FFFFFF"/>
                </a:highlight>
              </a:rPr>
              <a:t> (id ==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" sz="1400">
                <a:highlight>
                  <a:srgbClr val="FFFFFF"/>
                </a:highlight>
              </a:rPr>
              <a:t>) {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call.respond(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400">
                <a:highlight>
                  <a:srgbClr val="FFFFFF"/>
                </a:highlight>
              </a:rPr>
              <a:t>.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1400">
                <a:highlight>
                  <a:srgbClr val="FFFFFF"/>
                </a:highlight>
              </a:rPr>
              <a:t>, 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"Invalid ID format"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    </a:t>
            </a:r>
            <a:r>
              <a:rPr lang="en" sz="1400">
                <a:solidFill>
                  <a:srgbClr val="AF00DB"/>
                </a:solidFill>
                <a:highlight>
                  <a:srgbClr val="FFFFFF"/>
                </a:highlight>
              </a:rPr>
              <a:t>return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@get</a:t>
            </a:r>
            <a:endParaRPr sz="140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}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  </a:t>
            </a:r>
            <a:r>
              <a:rPr lang="en" sz="1400">
                <a:solidFill>
                  <a:srgbClr val="008000"/>
                </a:solidFill>
                <a:highlight>
                  <a:srgbClr val="FFFFFF"/>
                </a:highlight>
              </a:rPr>
              <a:t>// Use the ID parameter</a:t>
            </a:r>
            <a:endParaRPr sz="14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Plugins in Ktor</a:t>
            </a:r>
            <a:endParaRPr/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ContentNegotiation: Handles serialization/deserialization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Routing: Manages HTTP route definitions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Authentication: Handles user authentication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CORS: Manages cross-origin resource sharing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StatusPages: Handles errors and exceptions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Compression: Compresses HTTP responses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- CallLogging: Logs HTTP requests and responses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Negotiation</a:t>
            </a:r>
            <a:endParaRPr/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https://developer.mozilla.org/en-US/docs/Web/HTTP/Guides/Content_negotiation</a:t>
            </a:r>
            <a:endParaRPr sz="1300"/>
          </a:p>
        </p:txBody>
      </p:sp>
      <p:pic>
        <p:nvPicPr>
          <p:cNvPr id="231" name="Google Shape;23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75" y="1485850"/>
            <a:ext cx="567052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Negotiation</a:t>
            </a:r>
            <a:endParaRPr/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050">
                <a:highlight>
                  <a:srgbClr val="FFFFFF"/>
                </a:highlight>
              </a:rPr>
              <a:t> Application.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configureSerialization</a:t>
            </a:r>
            <a:r>
              <a:rPr lang="en" sz="1050">
                <a:highlight>
                  <a:srgbClr val="FFFFFF"/>
                </a:highlight>
              </a:rPr>
              <a:t>()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install(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ContentNegotiation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Use kotlinx.serialization for JSON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json()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Alternative: Use Gson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gson()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Alternative: Use Jackson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jackson()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Negotiation</a:t>
            </a:r>
            <a:endParaRPr/>
          </a:p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@Serializable</a:t>
            </a:r>
            <a:endParaRPr sz="10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class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050">
                <a:highlight>
                  <a:srgbClr val="FFFFFF"/>
                </a:highlight>
              </a:rPr>
              <a:t>(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id</a:t>
            </a:r>
            <a:r>
              <a:rPr lang="en" sz="1050">
                <a:highlight>
                  <a:srgbClr val="FFFFFF"/>
                </a:highlight>
              </a:rPr>
              <a:t>: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Int?</a:t>
            </a:r>
            <a:r>
              <a:rPr lang="en" sz="1050">
                <a:highlight>
                  <a:srgbClr val="FFFFFF"/>
                </a:highlight>
              </a:rPr>
              <a:t> =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" sz="1050">
                <a:highlight>
                  <a:srgbClr val="FFFFFF"/>
                </a:highlight>
              </a:rPr>
              <a:t>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title</a:t>
            </a:r>
            <a:r>
              <a:rPr lang="en" sz="1050">
                <a:highlight>
                  <a:srgbClr val="FFFFFF"/>
                </a:highlight>
              </a:rPr>
              <a:t>: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String</a:t>
            </a:r>
            <a:r>
              <a:rPr lang="en" sz="1050">
                <a:highlight>
                  <a:srgbClr val="FFFFFF"/>
                </a:highlight>
              </a:rPr>
              <a:t>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description</a:t>
            </a:r>
            <a:r>
              <a:rPr lang="en" sz="1050">
                <a:highlight>
                  <a:srgbClr val="FFFFFF"/>
                </a:highlight>
              </a:rPr>
              <a:t>: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String</a:t>
            </a:r>
            <a:r>
              <a:rPr lang="en" sz="1050">
                <a:highlight>
                  <a:srgbClr val="FFFFFF"/>
                </a:highlight>
              </a:rPr>
              <a:t>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completed</a:t>
            </a:r>
            <a:r>
              <a:rPr lang="en" sz="1050">
                <a:highlight>
                  <a:srgbClr val="FFFFFF"/>
                </a:highlight>
              </a:rPr>
              <a:t>: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Boolean</a:t>
            </a:r>
            <a:r>
              <a:rPr lang="en" sz="1050">
                <a:highlight>
                  <a:srgbClr val="FFFFFF"/>
                </a:highlight>
              </a:rPr>
              <a:t> =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endParaRPr sz="10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Negotiation: send</a:t>
            </a:r>
            <a:endParaRPr/>
          </a:p>
        </p:txBody>
      </p:sp>
      <p:sp>
        <p:nvSpPr>
          <p:cNvPr id="249" name="Google Shape;24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33B3"/>
                </a:solidFill>
                <a:highlight>
                  <a:srgbClr val="FFFFFF"/>
                </a:highlight>
              </a:rPr>
              <a:t>fun </a:t>
            </a:r>
            <a:r>
              <a:rPr lang="en" sz="1200">
                <a:highlight>
                  <a:srgbClr val="FFFFFF"/>
                </a:highlight>
              </a:rPr>
              <a:t>Application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00627A"/>
                </a:solidFill>
                <a:highlight>
                  <a:srgbClr val="FFFFFF"/>
                </a:highlight>
              </a:rPr>
              <a:t>module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() {</a:t>
            </a:r>
            <a:endParaRPr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33B3"/>
                </a:solidFill>
                <a:highlight>
                  <a:srgbClr val="FFFFFF"/>
                </a:highlight>
              </a:rPr>
              <a:t>routing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lang="en" sz="1200">
                <a:solidFill>
                  <a:srgbClr val="0033B3"/>
                </a:solidFill>
                <a:highlight>
                  <a:srgbClr val="FFFFFF"/>
                </a:highlight>
              </a:rPr>
              <a:t>get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</a:rPr>
              <a:t>"/"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)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           </a:t>
            </a:r>
            <a:r>
              <a:rPr lang="en" sz="1200">
                <a:solidFill>
                  <a:srgbClr val="871094"/>
                </a:solidFill>
                <a:highlight>
                  <a:srgbClr val="FFFFFF"/>
                </a:highlight>
              </a:rPr>
              <a:t>call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.respond(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</a:rPr>
              <a:t>HttpStatusCode.OK, Task(....)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</a:rPr>
              <a:t>   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Negotiation: receive</a:t>
            </a:r>
            <a:endParaRPr/>
          </a:p>
        </p:txBody>
      </p:sp>
      <p:sp>
        <p:nvSpPr>
          <p:cNvPr id="255" name="Google Shape;25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post(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900">
                <a:highlight>
                  <a:srgbClr val="FFFFFF"/>
                </a:highlight>
              </a:rPr>
              <a:t>) {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</a:t>
            </a:r>
            <a:r>
              <a:rPr lang="en" sz="900">
                <a:solidFill>
                  <a:srgbClr val="AF00DB"/>
                </a:solidFill>
                <a:highlight>
                  <a:srgbClr val="FFFFFF"/>
                </a:highlight>
              </a:rPr>
              <a:t>try</a:t>
            </a:r>
            <a:r>
              <a:rPr lang="en" sz="900">
                <a:highlight>
                  <a:srgbClr val="FFFFFF"/>
                </a:highlight>
              </a:rPr>
              <a:t> {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</a:t>
            </a:r>
            <a:r>
              <a:rPr lang="en" sz="900">
                <a:solidFill>
                  <a:srgbClr val="008000"/>
                </a:solidFill>
                <a:highlight>
                  <a:srgbClr val="FFFFFF"/>
                </a:highlight>
              </a:rPr>
              <a:t>// Parse the request body into a Task object</a:t>
            </a:r>
            <a:endParaRPr sz="9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900">
                <a:highlight>
                  <a:srgbClr val="FFFFFF"/>
                </a:highlight>
              </a:rPr>
              <a:t> task = call.receive&lt;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900">
                <a:highlight>
                  <a:srgbClr val="FFFFFF"/>
                </a:highlight>
              </a:rPr>
              <a:t>&gt;()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</a:t>
            </a:r>
            <a:r>
              <a:rPr lang="en" sz="900">
                <a:solidFill>
                  <a:srgbClr val="008000"/>
                </a:solidFill>
                <a:highlight>
                  <a:srgbClr val="FFFFFF"/>
                </a:highlight>
              </a:rPr>
              <a:t>// Process the task</a:t>
            </a:r>
            <a:endParaRPr sz="9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</a:t>
            </a:r>
            <a:r>
              <a:rPr lang="en" sz="900">
                <a:solidFill>
                  <a:srgbClr val="008000"/>
                </a:solidFill>
                <a:highlight>
                  <a:srgbClr val="FFFFFF"/>
                </a:highlight>
              </a:rPr>
              <a:t>// ...</a:t>
            </a:r>
            <a:endParaRPr sz="9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</a:t>
            </a:r>
            <a:r>
              <a:rPr lang="en" sz="900">
                <a:solidFill>
                  <a:srgbClr val="008000"/>
                </a:solidFill>
                <a:highlight>
                  <a:srgbClr val="FFFFFF"/>
                </a:highlight>
              </a:rPr>
              <a:t>// Respond with the created task</a:t>
            </a:r>
            <a:endParaRPr sz="9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call.respond(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900">
                <a:highlight>
                  <a:srgbClr val="FFFFFF"/>
                </a:highlight>
              </a:rPr>
              <a:t>.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</a:rPr>
              <a:t>Created</a:t>
            </a:r>
            <a:r>
              <a:rPr lang="en" sz="900">
                <a:highlight>
                  <a:srgbClr val="FFFFFF"/>
                </a:highlight>
              </a:rPr>
              <a:t>, task)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} </a:t>
            </a:r>
            <a:r>
              <a:rPr lang="en" sz="900">
                <a:solidFill>
                  <a:srgbClr val="AF00DB"/>
                </a:solidFill>
                <a:highlight>
                  <a:srgbClr val="FFFFFF"/>
                </a:highlight>
              </a:rPr>
              <a:t>catch</a:t>
            </a:r>
            <a:r>
              <a:rPr lang="en" sz="900">
                <a:highlight>
                  <a:srgbClr val="FFFFFF"/>
                </a:highlight>
              </a:rPr>
              <a:t> (</a:t>
            </a:r>
            <a:r>
              <a:rPr lang="en" sz="900">
                <a:solidFill>
                  <a:srgbClr val="001080"/>
                </a:solidFill>
                <a:highlight>
                  <a:srgbClr val="FFFFFF"/>
                </a:highlight>
              </a:rPr>
              <a:t>e</a:t>
            </a:r>
            <a:r>
              <a:rPr lang="en" sz="900">
                <a:highlight>
                  <a:srgbClr val="FFFFFF"/>
                </a:highlight>
              </a:rPr>
              <a:t>: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</a:rPr>
              <a:t>ContentTransformationException</a:t>
            </a:r>
            <a:r>
              <a:rPr lang="en" sz="900">
                <a:highlight>
                  <a:srgbClr val="FFFFFF"/>
                </a:highlight>
              </a:rPr>
              <a:t>) {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call.respond(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    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900">
                <a:highlight>
                  <a:srgbClr val="FFFFFF"/>
                </a:highlight>
              </a:rPr>
              <a:t>.</a:t>
            </a:r>
            <a:r>
              <a:rPr lang="en" sz="90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900">
                <a:highlight>
                  <a:srgbClr val="FFFFFF"/>
                </a:highlight>
              </a:rPr>
              <a:t>,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    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</a:rPr>
              <a:t>"Invalid task format: ${e.message}"</a:t>
            </a:r>
            <a:endParaRPr sz="90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    )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   }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FFFFFF"/>
                </a:highlight>
              </a:rPr>
              <a:t>}</a:t>
            </a:r>
            <a:endParaRPr sz="9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</a:t>
            </a:r>
            <a:endParaRPr/>
          </a:p>
        </p:txBody>
      </p:sp>
      <p:sp>
        <p:nvSpPr>
          <p:cNvPr id="261" name="Google Shape;26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Application.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configureStatusPages</a:t>
            </a:r>
            <a:r>
              <a:rPr lang="en" sz="1200">
                <a:highlight>
                  <a:srgbClr val="FFFFFF"/>
                </a:highlight>
              </a:rPr>
              <a:t>()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install(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StatusPages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Handle exceptions thrown during routing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exception&lt;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Throwable</a:t>
            </a:r>
            <a:r>
              <a:rPr lang="en" sz="1200">
                <a:highlight>
                  <a:srgbClr val="FFFFFF"/>
                </a:highlight>
              </a:rPr>
              <a:t>&gt; { call, cause -&gt;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call.respond(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200"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BadRequest</a:t>
            </a:r>
            <a:r>
              <a:rPr lang="en" sz="1200">
                <a:highlight>
                  <a:srgbClr val="FFFFFF"/>
                </a:highlight>
              </a:rPr>
              <a:t>,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"Invalid request format"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...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status(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200"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NotFound</a:t>
            </a:r>
            <a:r>
              <a:rPr lang="en" sz="1200">
                <a:highlight>
                  <a:srgbClr val="FFFFFF"/>
                </a:highlight>
              </a:rPr>
              <a:t>) { call, status -&gt;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    call.respond(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        status,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       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200"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"error"</a:t>
            </a:r>
            <a:r>
              <a:rPr lang="en" sz="1200">
                <a:highlight>
                  <a:srgbClr val="FFFFFF"/>
                </a:highlight>
              </a:rPr>
              <a:t> to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"The requested resource was not found"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    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Authentication</a:t>
            </a:r>
            <a:endParaRPr/>
          </a:p>
        </p:txBody>
      </p:sp>
      <p:sp>
        <p:nvSpPr>
          <p:cNvPr id="267" name="Google Shape;267;p48"/>
          <p:cNvSpPr txBox="1"/>
          <p:nvPr>
            <p:ph idx="1" type="body"/>
          </p:nvPr>
        </p:nvSpPr>
        <p:spPr>
          <a:xfrm>
            <a:off x="311700" y="1152475"/>
            <a:ext cx="211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https://developer.mozilla.org/en-US/docs/Web/HTTP/Guides/Authentication</a:t>
            </a:r>
            <a:endParaRPr sz="1400"/>
          </a:p>
        </p:txBody>
      </p:sp>
      <p:pic>
        <p:nvPicPr>
          <p:cNvPr id="268" name="Google Shape;26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1507" y="-24175"/>
            <a:ext cx="513458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Authentication Config</a:t>
            </a:r>
            <a:endParaRPr/>
          </a:p>
        </p:txBody>
      </p:sp>
      <p:sp>
        <p:nvSpPr>
          <p:cNvPr id="274" name="Google Shape;27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Application.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configureAuthentication</a:t>
            </a:r>
            <a:r>
              <a:rPr lang="en" sz="1200">
                <a:highlight>
                  <a:srgbClr val="FFFFFF"/>
                </a:highlight>
              </a:rPr>
              <a:t>()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install(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Authentication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Basic authentication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basic(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"auth-basic"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validate { credentials -&gt;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    </a:t>
            </a:r>
            <a:r>
              <a:rPr lang="en" sz="120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200">
                <a:highlight>
                  <a:srgbClr val="FFFFFF"/>
                </a:highlight>
              </a:rPr>
              <a:t> (credentials.name ==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"admin"</a:t>
            </a:r>
            <a:r>
              <a:rPr lang="en" sz="1200">
                <a:highlight>
                  <a:srgbClr val="FFFFFF"/>
                </a:highlight>
              </a:rPr>
              <a:t> &amp;&amp;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        credentials.password ==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"password"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       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UserIdPrincipal</a:t>
            </a:r>
            <a:r>
              <a:rPr lang="en" sz="1200">
                <a:highlight>
                  <a:srgbClr val="FFFFFF"/>
                </a:highlight>
              </a:rPr>
              <a:t>(credentials.name)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    } </a:t>
            </a:r>
            <a:r>
              <a:rPr lang="en" sz="1200">
                <a:solidFill>
                  <a:srgbClr val="AF00DB"/>
                </a:solidFill>
                <a:highlight>
                  <a:srgbClr val="FFFFFF"/>
                </a:highlight>
              </a:rPr>
              <a:t>else</a:t>
            </a:r>
            <a:r>
              <a:rPr lang="en" sz="1200">
                <a:highlight>
                  <a:srgbClr val="FFFFFF"/>
                </a:highlight>
              </a:rPr>
              <a:t>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 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endParaRPr sz="120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 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 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...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Authentication Use</a:t>
            </a:r>
            <a:endParaRPr/>
          </a:p>
        </p:txBody>
      </p:sp>
      <p:sp>
        <p:nvSpPr>
          <p:cNvPr id="280" name="Google Shape;28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routing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Public routes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get(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"/public"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call.respondText(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"Public endpoint"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Protected routes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authenticate(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"auth-basic"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get(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"/protected"</a:t>
            </a:r>
            <a:r>
              <a:rPr lang="en" sz="1200">
                <a:highlight>
                  <a:srgbClr val="FFFFFF"/>
                </a:highlight>
              </a:rPr>
              <a:t>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principal = call.principal&lt;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UserIdPrincipal</a:t>
            </a:r>
            <a:r>
              <a:rPr lang="en" sz="1200">
                <a:highlight>
                  <a:srgbClr val="FFFFFF"/>
                </a:highlight>
              </a:rPr>
              <a:t>&gt;()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    call.respondText(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"Protected endpoint, user: ${principal?.name}"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286" name="Google Shape;28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class</a:t>
            </a:r>
            <a:r>
              <a:rPr lang="en" sz="1250">
                <a:highlight>
                  <a:srgbClr val="FFFFFF"/>
                </a:highlight>
              </a:rPr>
              <a:t> 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TaskApiTest</a:t>
            </a:r>
            <a:r>
              <a:rPr lang="en" sz="1250">
                <a:highlight>
                  <a:srgbClr val="FFFFFF"/>
                </a:highlight>
              </a:rPr>
              <a:t>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@Test</a:t>
            </a:r>
            <a:endParaRPr sz="12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50">
                <a:highlight>
                  <a:srgbClr val="FFFFFF"/>
                </a:highlight>
              </a:rPr>
              <a:t> </a:t>
            </a:r>
            <a:r>
              <a:rPr lang="en" sz="1250">
                <a:solidFill>
                  <a:srgbClr val="795E26"/>
                </a:solidFill>
                <a:highlight>
                  <a:srgbClr val="FFFFFF"/>
                </a:highlight>
              </a:rPr>
              <a:t>`get all tasks returns 200`</a:t>
            </a:r>
            <a:r>
              <a:rPr lang="en" sz="1250">
                <a:highlight>
                  <a:srgbClr val="FFFFFF"/>
                </a:highlight>
              </a:rPr>
              <a:t>() = testApplication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application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    configureRoutine()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}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       val</a:t>
            </a:r>
            <a:r>
              <a:rPr lang="en" sz="1250">
                <a:highlight>
                  <a:srgbClr val="FFFFFF"/>
                </a:highlight>
              </a:rPr>
              <a:t> client = createClient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    install(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ContentNegotiation</a:t>
            </a:r>
            <a:r>
              <a:rPr lang="en" sz="1250">
                <a:highlight>
                  <a:srgbClr val="FFFFFF"/>
                </a:highlight>
              </a:rPr>
              <a:t>)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        json()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    }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       }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...</a:t>
            </a:r>
            <a:endParaRPr sz="125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292" name="Google Shape;29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    </a:t>
            </a:r>
            <a:r>
              <a:rPr lang="en" sz="1250">
                <a:solidFill>
                  <a:srgbClr val="008000"/>
                </a:solidFill>
                <a:highlight>
                  <a:srgbClr val="FFFFFF"/>
                </a:highlight>
              </a:rPr>
              <a:t>// Perform test request</a:t>
            </a:r>
            <a:endParaRPr sz="12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    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>
                <a:highlight>
                  <a:srgbClr val="FFFFFF"/>
                </a:highlight>
              </a:rPr>
              <a:t> response = client.get(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"/tasks"</a:t>
            </a:r>
            <a:r>
              <a:rPr lang="en" sz="1250">
                <a:highlight>
                  <a:srgbClr val="FFFFFF"/>
                </a:highlight>
              </a:rPr>
              <a:t>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    </a:t>
            </a:r>
            <a:r>
              <a:rPr lang="en" sz="1250">
                <a:solidFill>
                  <a:srgbClr val="008000"/>
                </a:solidFill>
                <a:highlight>
                  <a:srgbClr val="FFFFFF"/>
                </a:highlight>
              </a:rPr>
              <a:t>// Verify response</a:t>
            </a:r>
            <a:endParaRPr sz="12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    assertEquals(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250">
                <a:highlight>
                  <a:srgbClr val="FFFFFF"/>
                </a:highlight>
              </a:rPr>
              <a:t>.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OK</a:t>
            </a:r>
            <a:r>
              <a:rPr lang="en" sz="1250">
                <a:highlight>
                  <a:srgbClr val="FFFFFF"/>
                </a:highlight>
              </a:rPr>
              <a:t>, response.status)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    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>
                <a:highlight>
                  <a:srgbClr val="FFFFFF"/>
                </a:highlight>
              </a:rPr>
              <a:t> tasks = response.body&lt;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List</a:t>
            </a:r>
            <a:r>
              <a:rPr lang="en" sz="1250">
                <a:highlight>
                  <a:srgbClr val="FFFFFF"/>
                </a:highlight>
              </a:rPr>
              <a:t>&lt;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50">
                <a:highlight>
                  <a:srgbClr val="FFFFFF"/>
                </a:highlight>
              </a:rPr>
              <a:t>&gt;&gt;()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    assertEquals(</a:t>
            </a:r>
            <a:r>
              <a:rPr lang="en" sz="1250">
                <a:solidFill>
                  <a:srgbClr val="098658"/>
                </a:solidFill>
                <a:highlight>
                  <a:srgbClr val="FFFFFF"/>
                </a:highlight>
              </a:rPr>
              <a:t>2</a:t>
            </a:r>
            <a:r>
              <a:rPr lang="en" sz="1250">
                <a:highlight>
                  <a:srgbClr val="FFFFFF"/>
                </a:highlight>
              </a:rPr>
              <a:t>, tasks.size)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}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highlight>
                  <a:srgbClr val="FFFFFF"/>
                </a:highlight>
              </a:rPr>
              <a:t>}</a:t>
            </a:r>
            <a:endParaRPr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Integration</a:t>
            </a:r>
            <a:endParaRPr/>
          </a:p>
        </p:txBody>
      </p:sp>
      <p:sp>
        <p:nvSpPr>
          <p:cNvPr id="298" name="Google Shape;29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-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Ktor</a:t>
            </a:r>
            <a:r>
              <a:rPr lang="en" sz="1350">
                <a:highlight>
                  <a:srgbClr val="FFFFFF"/>
                </a:highlight>
              </a:rPr>
              <a:t> doesn't include built-in database support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-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Common</a:t>
            </a:r>
            <a:r>
              <a:rPr lang="en" sz="1350">
                <a:highlight>
                  <a:srgbClr val="FFFFFF"/>
                </a:highlight>
              </a:rPr>
              <a:t> choices: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 - **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Exposed</a:t>
            </a:r>
            <a:r>
              <a:rPr lang="en" sz="1350">
                <a:highlight>
                  <a:srgbClr val="FFFFFF"/>
                </a:highlight>
              </a:rPr>
              <a:t>**: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Kotlin</a:t>
            </a:r>
            <a:r>
              <a:rPr lang="en" sz="1350">
                <a:highlight>
                  <a:srgbClr val="FFFFFF"/>
                </a:highlight>
              </a:rPr>
              <a:t>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SQL</a:t>
            </a:r>
            <a:r>
              <a:rPr lang="en" sz="1350">
                <a:highlight>
                  <a:srgbClr val="FFFFFF"/>
                </a:highlight>
              </a:rPr>
              <a:t> library by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JetBrains</a:t>
            </a:r>
            <a:endParaRPr sz="135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 - **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JDBC</a:t>
            </a:r>
            <a:r>
              <a:rPr lang="en" sz="1350">
                <a:highlight>
                  <a:srgbClr val="FFFFFF"/>
                </a:highlight>
              </a:rPr>
              <a:t>**: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Standard</a:t>
            </a:r>
            <a:r>
              <a:rPr lang="en" sz="1350">
                <a:highlight>
                  <a:srgbClr val="FFFFFF"/>
                </a:highlight>
              </a:rPr>
              <a:t>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Java</a:t>
            </a:r>
            <a:r>
              <a:rPr lang="en" sz="1350">
                <a:highlight>
                  <a:srgbClr val="FFFFFF"/>
                </a:highlight>
              </a:rPr>
              <a:t> database connectivity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 - **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MongoDB</a:t>
            </a:r>
            <a:r>
              <a:rPr lang="en" sz="1350">
                <a:highlight>
                  <a:srgbClr val="FFFFFF"/>
                </a:highlight>
              </a:rPr>
              <a:t>**: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NoSQL</a:t>
            </a:r>
            <a:r>
              <a:rPr lang="en" sz="1350">
                <a:highlight>
                  <a:srgbClr val="FFFFFF"/>
                </a:highlight>
              </a:rPr>
              <a:t> database with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Kotlin</a:t>
            </a:r>
            <a:r>
              <a:rPr lang="en" sz="1350">
                <a:highlight>
                  <a:srgbClr val="FFFFFF"/>
                </a:highlight>
              </a:rPr>
              <a:t> driver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 - **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Redis</a:t>
            </a:r>
            <a:r>
              <a:rPr lang="en" sz="1350">
                <a:highlight>
                  <a:srgbClr val="FFFFFF"/>
                </a:highlight>
              </a:rPr>
              <a:t>**: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In</a:t>
            </a:r>
            <a:r>
              <a:rPr lang="en" sz="1350">
                <a:highlight>
                  <a:srgbClr val="FFFFFF"/>
                </a:highlight>
              </a:rPr>
              <a:t>-memory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350">
                <a:highlight>
                  <a:srgbClr val="FFFFFF"/>
                </a:highlight>
              </a:rPr>
              <a:t> structure store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F"/>
                </a:highlight>
              </a:rPr>
              <a:t>- </a:t>
            </a:r>
            <a:r>
              <a:rPr lang="en" sz="1350">
                <a:solidFill>
                  <a:srgbClr val="267F99"/>
                </a:solidFill>
                <a:highlight>
                  <a:srgbClr val="FFFFFF"/>
                </a:highlight>
              </a:rPr>
              <a:t>Create</a:t>
            </a:r>
            <a:r>
              <a:rPr lang="en" sz="1350">
                <a:highlight>
                  <a:srgbClr val="FFFFFF"/>
                </a:highlight>
              </a:rPr>
              <a:t> database-backed repository implementations</a:t>
            </a:r>
            <a:endParaRPr sz="13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Exposed Setup</a:t>
            </a:r>
            <a:endParaRPr/>
          </a:p>
        </p:txBody>
      </p:sp>
      <p:sp>
        <p:nvSpPr>
          <p:cNvPr id="304" name="Google Shape;30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dependencies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implementation(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"org.jetbrains.exposed:exposed-core:0.61.0"</a:t>
            </a:r>
            <a:r>
              <a:rPr lang="en" sz="1250">
                <a:highlight>
                  <a:srgbClr val="FFFFFF"/>
                </a:highlight>
              </a:rPr>
              <a:t>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implementation(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"org.jetbrains.exposed:exposed-dao:0.61.0"</a:t>
            </a:r>
            <a:r>
              <a:rPr lang="en" sz="1250">
                <a:highlight>
                  <a:srgbClr val="FFFFFF"/>
                </a:highlight>
              </a:rPr>
              <a:t>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implementation(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"org.jetbrains.exposed:exposed-jdbc:0.61.0"</a:t>
            </a:r>
            <a:r>
              <a:rPr lang="en" sz="1250">
                <a:highlight>
                  <a:srgbClr val="FFFFFF"/>
                </a:highlight>
              </a:rPr>
              <a:t>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implementation(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"com.h2database:h2:2.1.214"</a:t>
            </a:r>
            <a:r>
              <a:rPr lang="en" sz="1250">
                <a:highlight>
                  <a:srgbClr val="FFFFFF"/>
                </a:highlight>
              </a:rPr>
              <a:t>) </a:t>
            </a:r>
            <a:r>
              <a:rPr lang="en" sz="1250">
                <a:solidFill>
                  <a:srgbClr val="008000"/>
                </a:solidFill>
                <a:highlight>
                  <a:srgbClr val="FFFFFF"/>
                </a:highlight>
              </a:rPr>
              <a:t>// H2 database</a:t>
            </a:r>
            <a:endParaRPr sz="12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}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Table</a:t>
            </a:r>
            <a:endParaRPr/>
          </a:p>
        </p:txBody>
      </p:sp>
      <p:sp>
        <p:nvSpPr>
          <p:cNvPr id="310" name="Google Shape;31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object</a:t>
            </a:r>
            <a:r>
              <a:rPr lang="en" sz="1200">
                <a:highlight>
                  <a:srgbClr val="FFFFFF"/>
                </a:highlight>
              </a:rPr>
              <a:t> Tasks 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Table</a:t>
            </a:r>
            <a:r>
              <a:rPr lang="en" sz="1200">
                <a:highlight>
                  <a:srgbClr val="FFFFFF"/>
                </a:highlight>
              </a:rPr>
              <a:t>("tasks")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id = integer(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"id"</a:t>
            </a:r>
            <a:r>
              <a:rPr lang="en" sz="1200">
                <a:highlight>
                  <a:srgbClr val="FFFFFF"/>
                </a:highlight>
              </a:rPr>
              <a:t>).autoIncrement()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title = varchar(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"name"</a:t>
            </a:r>
            <a:r>
              <a:rPr lang="en" sz="1200">
                <a:highlight>
                  <a:srgbClr val="FFFFFF"/>
                </a:highlight>
              </a:rPr>
              <a:t>,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MAX_VARCHAR_LENGTH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description = varchar(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"description"</a:t>
            </a:r>
            <a:r>
              <a:rPr lang="en" sz="1200">
                <a:highlight>
                  <a:srgbClr val="FFFFFF"/>
                </a:highlight>
              </a:rPr>
              <a:t>,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MAX_VARCHAR_LENGTH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isCompleted = bool(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"completed"</a:t>
            </a:r>
            <a:r>
              <a:rPr lang="en" sz="1200">
                <a:highlight>
                  <a:srgbClr val="FFFFFF"/>
                </a:highlight>
              </a:rPr>
              <a:t>).default(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}</a:t>
            </a:r>
            <a:endParaRPr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and create tables</a:t>
            </a:r>
            <a:endParaRPr/>
          </a:p>
        </p:txBody>
      </p:sp>
      <p:sp>
        <p:nvSpPr>
          <p:cNvPr id="316" name="Google Shape;31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050">
                <a:highlight>
                  <a:srgbClr val="FFFFFF"/>
                </a:highlight>
              </a:rPr>
              <a:t> Application.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configureDatabases</a:t>
            </a:r>
            <a:r>
              <a:rPr lang="en" sz="1050">
                <a:highlight>
                  <a:srgbClr val="FFFFFF"/>
                </a:highlight>
              </a:rPr>
              <a:t>()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database =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Database</a:t>
            </a:r>
            <a:r>
              <a:rPr lang="en" sz="1050">
                <a:highlight>
                  <a:srgbClr val="FFFFFF"/>
                </a:highlight>
              </a:rPr>
              <a:t>.connect(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url =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"jdbc:h2:mem:test;DB_CLOSE_DELAY=-1"</a:t>
            </a:r>
            <a:r>
              <a:rPr lang="en" sz="1050">
                <a:highlight>
                  <a:srgbClr val="FFFFFF"/>
                </a:highlight>
              </a:rPr>
              <a:t>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driver =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"org.h2.Driver"</a:t>
            </a:r>
            <a:endParaRPr sz="10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transaction(database)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Create tables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SchemaUtils</a:t>
            </a:r>
            <a:r>
              <a:rPr lang="en" sz="1050">
                <a:highlight>
                  <a:srgbClr val="FFFFFF"/>
                </a:highlight>
              </a:rPr>
              <a:t>.create(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050">
                <a:highlight>
                  <a:srgbClr val="FFFFFF"/>
                </a:highlight>
              </a:rPr>
              <a:t>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Inserting Data</a:t>
            </a:r>
            <a:endParaRPr/>
          </a:p>
        </p:txBody>
      </p:sp>
      <p:sp>
        <p:nvSpPr>
          <p:cNvPr id="322" name="Google Shape;32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>
                <a:highlight>
                  <a:srgbClr val="FFFFFF"/>
                </a:highlight>
              </a:rPr>
              <a:t> taskId = 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.insert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it[title] = 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"Learn Exposed"</a:t>
            </a:r>
            <a:endParaRPr sz="12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it[description] = 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"Go through the Get started with Exposed tutorial"</a:t>
            </a:r>
            <a:endParaRPr sz="12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} get 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.id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50">
                <a:highlight>
                  <a:srgbClr val="FFFFFF"/>
                </a:highlight>
              </a:rPr>
              <a:t> secondTaskId = 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.insert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it[title] = 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"Read The Hobbit"</a:t>
            </a:r>
            <a:endParaRPr sz="12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it[description] = 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"Read the first two chapters of The Hobbit"</a:t>
            </a:r>
            <a:endParaRPr sz="12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it[isCompleted] = 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endParaRPr sz="125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} get 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.id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Data</a:t>
            </a:r>
            <a:endParaRPr/>
          </a:p>
        </p:txBody>
      </p:sp>
      <p:sp>
        <p:nvSpPr>
          <p:cNvPr id="328" name="Google Shape;32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.select(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.id.count(), 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.isCompleted).groupBy(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highlight>
                  <a:srgbClr val="FFFFFF"/>
                </a:highlight>
              </a:rPr>
              <a:t>.isCompleted).forEach {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   </a:t>
            </a:r>
            <a:r>
              <a:rPr lang="en" sz="1250">
                <a:solidFill>
                  <a:srgbClr val="795E26"/>
                </a:solidFill>
                <a:highlight>
                  <a:srgbClr val="FFFFFF"/>
                </a:highlight>
              </a:rPr>
              <a:t>println</a:t>
            </a:r>
            <a:r>
              <a:rPr lang="en" sz="1250">
                <a:highlight>
                  <a:srgbClr val="FFFFFF"/>
                </a:highlight>
              </a:rPr>
              <a:t>(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"${it[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.isCompleted]}: ${it[</a:t>
            </a:r>
            <a:r>
              <a:rPr lang="en" sz="1250">
                <a:solidFill>
                  <a:srgbClr val="267F99"/>
                </a:solidFill>
                <a:highlight>
                  <a:srgbClr val="FFFFFF"/>
                </a:highlight>
              </a:rPr>
              <a:t>Tasks</a:t>
            </a:r>
            <a:r>
              <a:rPr lang="en" sz="1250">
                <a:solidFill>
                  <a:srgbClr val="A31515"/>
                </a:solidFill>
                <a:highlight>
                  <a:srgbClr val="FFFFFF"/>
                </a:highlight>
              </a:rPr>
              <a:t>.id.count()]} "</a:t>
            </a:r>
            <a:r>
              <a:rPr lang="en" sz="1250">
                <a:highlight>
                  <a:srgbClr val="FFFFFF"/>
                </a:highlight>
              </a:rPr>
              <a:t>)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</a:rPr>
              <a:t>}</a:t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 Pattern</a:t>
            </a:r>
            <a:endParaRPr/>
          </a:p>
        </p:txBody>
      </p:sp>
      <p:sp>
        <p:nvSpPr>
          <p:cNvPr id="334" name="Google Shape;334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- 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What</a:t>
            </a:r>
            <a:r>
              <a:rPr lang="en" sz="1400">
                <a:highlight>
                  <a:srgbClr val="FFFFFF"/>
                </a:highlight>
              </a:rPr>
              <a:t>**: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Design</a:t>
            </a:r>
            <a:r>
              <a:rPr lang="en" sz="1400">
                <a:highlight>
                  <a:srgbClr val="FFFFFF"/>
                </a:highlight>
              </a:rPr>
              <a:t> pattern to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abstract</a:t>
            </a:r>
            <a:r>
              <a:rPr lang="en" sz="1400"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400">
                <a:highlight>
                  <a:srgbClr val="FFFFFF"/>
                </a:highlight>
              </a:rPr>
              <a:t> access logic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- 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Why</a:t>
            </a:r>
            <a:r>
              <a:rPr lang="en" sz="1400">
                <a:highlight>
                  <a:srgbClr val="FFFFFF"/>
                </a:highlight>
              </a:rPr>
              <a:t>**: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Separates</a:t>
            </a:r>
            <a:r>
              <a:rPr lang="en" sz="1400">
                <a:highlight>
                  <a:srgbClr val="FFFFFF"/>
                </a:highlight>
              </a:rPr>
              <a:t> business logic from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400">
                <a:highlight>
                  <a:srgbClr val="FFFFFF"/>
                </a:highlight>
              </a:rPr>
              <a:t> storage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- **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Benefits</a:t>
            </a:r>
            <a:r>
              <a:rPr lang="en" sz="1400">
                <a:highlight>
                  <a:srgbClr val="FFFFFF"/>
                </a:highlight>
              </a:rPr>
              <a:t>**: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-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Testability</a:t>
            </a:r>
            <a:r>
              <a:rPr lang="en" sz="1400">
                <a:highlight>
                  <a:srgbClr val="FFFFFF"/>
                </a:highlight>
              </a:rPr>
              <a:t> (can mock repositories)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-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Flexibility</a:t>
            </a:r>
            <a:r>
              <a:rPr lang="en" sz="1400">
                <a:highlight>
                  <a:srgbClr val="FFFFFF"/>
                </a:highlight>
              </a:rPr>
              <a:t> (easily swap implementations)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-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Maintainability</a:t>
            </a:r>
            <a:r>
              <a:rPr lang="en" sz="1400">
                <a:highlight>
                  <a:srgbClr val="FFFFFF"/>
                </a:highlight>
              </a:rPr>
              <a:t> (consistent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</a:rPr>
              <a:t>data</a:t>
            </a:r>
            <a:r>
              <a:rPr lang="en" sz="1400">
                <a:highlight>
                  <a:srgbClr val="FFFFFF"/>
                </a:highlight>
              </a:rPr>
              <a:t> access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API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 -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Single</a:t>
            </a:r>
            <a:r>
              <a:rPr lang="en" sz="1400"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Responsibility</a:t>
            </a:r>
            <a:r>
              <a:rPr lang="en" sz="1400"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rgbClr val="267F99"/>
                </a:solidFill>
                <a:highlight>
                  <a:srgbClr val="FFFFFF"/>
                </a:highlight>
              </a:rPr>
              <a:t>Principle</a:t>
            </a:r>
            <a:endParaRPr sz="140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Repository</a:t>
            </a:r>
            <a:endParaRPr/>
          </a:p>
        </p:txBody>
      </p:sp>
      <p:sp>
        <p:nvSpPr>
          <p:cNvPr id="340" name="Google Shape;340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interface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TaskRepository</a:t>
            </a:r>
            <a:r>
              <a:rPr lang="en" sz="1200">
                <a:highlight>
                  <a:srgbClr val="FFFFFF"/>
                </a:highlight>
              </a:rPr>
              <a:t>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Get all tasks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getAllTasks</a:t>
            </a:r>
            <a:r>
              <a:rPr lang="en" sz="1200">
                <a:highlight>
                  <a:srgbClr val="FFFFFF"/>
                </a:highlight>
              </a:rPr>
              <a:t>():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List</a:t>
            </a:r>
            <a:r>
              <a:rPr lang="en" sz="1200">
                <a:highlight>
                  <a:srgbClr val="FFFFFF"/>
                </a:highlight>
              </a:rPr>
              <a:t>&lt;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&gt;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Get task by ID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getTaskById</a:t>
            </a:r>
            <a:r>
              <a:rPr lang="en" sz="1200"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001080"/>
                </a:solidFill>
                <a:highlight>
                  <a:srgbClr val="FFFFFF"/>
                </a:highlight>
              </a:rPr>
              <a:t>id</a:t>
            </a:r>
            <a:r>
              <a:rPr lang="en" sz="1200">
                <a:highlight>
                  <a:srgbClr val="FFFFFF"/>
                </a:highlight>
              </a:rPr>
              <a:t>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Int</a:t>
            </a:r>
            <a:r>
              <a:rPr lang="en" sz="1200">
                <a:highlight>
                  <a:srgbClr val="FFFFFF"/>
                </a:highlight>
              </a:rPr>
              <a:t>):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Task?</a:t>
            </a:r>
            <a:endParaRPr sz="120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Create a new task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createTask</a:t>
            </a:r>
            <a:r>
              <a:rPr lang="en" sz="1200"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001080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):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endParaRPr sz="120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   ...</a:t>
            </a:r>
            <a:endParaRPr sz="1200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Repository</a:t>
            </a:r>
            <a:endParaRPr/>
          </a:p>
        </p:txBody>
      </p:sp>
      <p:sp>
        <p:nvSpPr>
          <p:cNvPr id="346" name="Google Shape;346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class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InMemoryTaskRepository</a:t>
            </a:r>
            <a:r>
              <a:rPr lang="en" sz="1200">
                <a:highlight>
                  <a:srgbClr val="FFFFFF"/>
                </a:highlight>
              </a:rPr>
              <a:t> 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TaskRepository</a:t>
            </a:r>
            <a:r>
              <a:rPr lang="en" sz="1200">
                <a:highlight>
                  <a:srgbClr val="FFFFFF"/>
                </a:highlight>
              </a:rPr>
              <a:t>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private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idCounter =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AtomicInteger</a:t>
            </a:r>
            <a:r>
              <a:rPr lang="en" sz="1200"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</a:rPr>
              <a:t>1</a:t>
            </a:r>
            <a:r>
              <a:rPr lang="en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private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200">
                <a:highlight>
                  <a:srgbClr val="FFFFFF"/>
                </a:highlight>
              </a:rPr>
              <a:t> tasks =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ConcurrentHashMap</a:t>
            </a:r>
            <a:r>
              <a:rPr lang="en" sz="1200">
                <a:highlight>
                  <a:srgbClr val="FFFFFF"/>
                </a:highlight>
              </a:rPr>
              <a:t>&lt;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Int</a:t>
            </a:r>
            <a:r>
              <a:rPr lang="en" sz="1200">
                <a:highlight>
                  <a:srgbClr val="FFFFFF"/>
                </a:highlight>
              </a:rPr>
              <a:t>,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&gt;()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init</a:t>
            </a:r>
            <a:r>
              <a:rPr lang="en" sz="1200">
                <a:highlight>
                  <a:srgbClr val="FFFFFF"/>
                </a:highlight>
              </a:rPr>
              <a:t> {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</a:rPr>
              <a:t>// Add some initial tasks</a:t>
            </a:r>
            <a:endParaRPr sz="120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createTask(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(title =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"Setup project"</a:t>
            </a:r>
            <a:r>
              <a:rPr lang="en" sz="1200">
                <a:highlight>
                  <a:srgbClr val="FFFFFF"/>
                </a:highlight>
              </a:rPr>
              <a:t>, ...))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</a:rPr>
              <a:t>       createTask(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(title = 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</a:rPr>
              <a:t>"Learn Ktor"</a:t>
            </a:r>
            <a:r>
              <a:rPr lang="en" sz="1200">
                <a:highlight>
                  <a:srgbClr val="FFFFFF"/>
                </a:highlight>
              </a:rPr>
              <a:t>, ...))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}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   override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getAllTasks</a:t>
            </a:r>
            <a:r>
              <a:rPr lang="en" sz="1200">
                <a:highlight>
                  <a:srgbClr val="FFFFFF"/>
                </a:highlight>
              </a:rPr>
              <a:t>():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List</a:t>
            </a:r>
            <a:r>
              <a:rPr lang="en" sz="1200">
                <a:highlight>
                  <a:srgbClr val="FFFFFF"/>
                </a:highlight>
              </a:rPr>
              <a:t>&lt;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</a:t>
            </a:r>
            <a:r>
              <a:rPr lang="en" sz="1200">
                <a:highlight>
                  <a:srgbClr val="FFFFFF"/>
                </a:highlight>
              </a:rPr>
              <a:t>&gt; = tasks.values.toList()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override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suspend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</a:rPr>
              <a:t>fun</a:t>
            </a:r>
            <a:r>
              <a:rPr lang="en" sz="1200"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795E26"/>
                </a:solidFill>
                <a:highlight>
                  <a:srgbClr val="FFFFFF"/>
                </a:highlight>
              </a:rPr>
              <a:t>getTaskById</a:t>
            </a:r>
            <a:r>
              <a:rPr lang="en" sz="1200">
                <a:highlight>
                  <a:srgbClr val="FFFFFF"/>
                </a:highlight>
              </a:rPr>
              <a:t>(</a:t>
            </a:r>
            <a:r>
              <a:rPr lang="en" sz="1200">
                <a:solidFill>
                  <a:srgbClr val="001080"/>
                </a:solidFill>
                <a:highlight>
                  <a:srgbClr val="FFFFFF"/>
                </a:highlight>
              </a:rPr>
              <a:t>id</a:t>
            </a:r>
            <a:r>
              <a:rPr lang="en" sz="1200">
                <a:highlight>
                  <a:srgbClr val="FFFFFF"/>
                </a:highlight>
              </a:rPr>
              <a:t>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Int</a:t>
            </a:r>
            <a:r>
              <a:rPr lang="en" sz="1200">
                <a:highlight>
                  <a:srgbClr val="FFFFFF"/>
                </a:highlight>
              </a:rPr>
              <a:t>): </a:t>
            </a:r>
            <a:r>
              <a:rPr lang="en" sz="1200">
                <a:solidFill>
                  <a:srgbClr val="267F99"/>
                </a:solidFill>
                <a:highlight>
                  <a:srgbClr val="FFFFFF"/>
                </a:highlight>
              </a:rPr>
              <a:t>Task?</a:t>
            </a:r>
            <a:r>
              <a:rPr lang="en" sz="1200">
                <a:highlight>
                  <a:srgbClr val="FFFFFF"/>
                </a:highlight>
              </a:rPr>
              <a:t> = tasks[id]</a:t>
            </a:r>
            <a:endParaRPr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in Production</a:t>
            </a:r>
            <a:endParaRPr/>
          </a:p>
        </p:txBody>
      </p:sp>
      <p:sp>
        <p:nvSpPr>
          <p:cNvPr id="352" name="Google Shape;352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Package application as a JAR or WAR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Deploy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Cloud providers (AWS, GCP, Azure)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Kubernetes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Docker containers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Java servlet containers (Tomcat, Jetty)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Configuration via environment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Health checks and monitoring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Using Netty or CIO engines for best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 check</a:t>
            </a:r>
            <a:endParaRPr/>
          </a:p>
        </p:txBody>
      </p:sp>
      <p:sp>
        <p:nvSpPr>
          <p:cNvPr id="358" name="Google Shape;358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routing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Simple health check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get(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"/health"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call.respond(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050">
                <a:highlight>
                  <a:srgbClr val="FFFFFF"/>
                </a:highlight>
              </a:rPr>
              <a:t>.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OK</a:t>
            </a:r>
            <a:r>
              <a:rPr lang="en" sz="1050">
                <a:highlight>
                  <a:srgbClr val="FFFFFF"/>
                </a:highlight>
              </a:rPr>
              <a:t>,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>
                <a:highlight>
                  <a:srgbClr val="FFFFFF"/>
                </a:highlight>
              </a:rPr>
              <a:t>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"status"</a:t>
            </a:r>
            <a:r>
              <a:rPr lang="en" sz="1050">
                <a:highlight>
                  <a:srgbClr val="FFFFFF"/>
                </a:highlight>
              </a:rPr>
              <a:t> to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>
                <a:highlight>
                  <a:srgbClr val="FFFFFF"/>
                </a:highlight>
              </a:rPr>
              <a:t>))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 check</a:t>
            </a:r>
            <a:endParaRPr/>
          </a:p>
        </p:txBody>
      </p:sp>
      <p:sp>
        <p:nvSpPr>
          <p:cNvPr id="364" name="Google Shape;364;p64"/>
          <p:cNvSpPr txBox="1"/>
          <p:nvPr>
            <p:ph idx="1" type="body"/>
          </p:nvPr>
        </p:nvSpPr>
        <p:spPr>
          <a:xfrm>
            <a:off x="311700" y="1152475"/>
            <a:ext cx="8520600" cy="3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get(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"/health/detailed"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databaseStatus =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</a:rPr>
              <a:t>try</a:t>
            </a:r>
            <a:r>
              <a:rPr lang="en" sz="1050">
                <a:highlight>
                  <a:srgbClr val="FFFFFF"/>
                </a:highlight>
              </a:rPr>
              <a:t>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Check database connection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taskRepository.ping()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endParaRPr sz="10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}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</a:rPr>
              <a:t>catch</a:t>
            </a:r>
            <a:r>
              <a:rPr lang="en" sz="1050">
                <a:highlight>
                  <a:srgbClr val="FFFFFF"/>
                </a:highlight>
              </a:rPr>
              <a:t> 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e</a:t>
            </a:r>
            <a:r>
              <a:rPr lang="en" sz="1050">
                <a:highlight>
                  <a:srgbClr val="FFFFFF"/>
                </a:highlight>
              </a:rPr>
              <a:t>: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Throwable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"DOWN"</a:t>
            </a:r>
            <a:endParaRPr sz="10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Determine overall status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</a:rPr>
              <a:t>val</a:t>
            </a:r>
            <a:r>
              <a:rPr lang="en" sz="1050">
                <a:highlight>
                  <a:srgbClr val="FFFFFF"/>
                </a:highlight>
              </a:rPr>
              <a:t> overallStatus =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050">
                <a:highlight>
                  <a:srgbClr val="FFFFFF"/>
                </a:highlight>
              </a:rPr>
              <a:t> (databaseStatus ==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>
                <a:highlight>
                  <a:srgbClr val="FFFFFF"/>
                </a:highlight>
              </a:rPr>
              <a:t>)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</a:rPr>
              <a:t>else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"DOWN"</a:t>
            </a:r>
            <a:endParaRPr sz="10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call.respond(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</a:rPr>
              <a:t>if</a:t>
            </a:r>
            <a:r>
              <a:rPr lang="en" sz="1050">
                <a:highlight>
                  <a:srgbClr val="FFFFFF"/>
                </a:highlight>
              </a:rPr>
              <a:t> (overallStatus ==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"UP"</a:t>
            </a:r>
            <a:r>
              <a:rPr lang="en" sz="1050">
                <a:highlight>
                  <a:srgbClr val="FFFFFF"/>
                </a:highlight>
              </a:rPr>
              <a:t>)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050">
                <a:highlight>
                  <a:srgbClr val="FFFFFF"/>
                </a:highlight>
              </a:rPr>
              <a:t>.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OK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</a:rPr>
              <a:t>else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HttpStatusCode</a:t>
            </a:r>
            <a:r>
              <a:rPr lang="en" sz="1050">
                <a:highlight>
                  <a:srgbClr val="FFFFFF"/>
                </a:highlight>
              </a:rPr>
              <a:t>.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ServiceUnavailable</a:t>
            </a:r>
            <a:r>
              <a:rPr lang="en" sz="1050">
                <a:highlight>
                  <a:srgbClr val="FFFFFF"/>
                </a:highlight>
              </a:rPr>
              <a:t>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>
                <a:highlight>
                  <a:srgbClr val="FFFFFF"/>
                </a:highlight>
              </a:rPr>
              <a:t>(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"status"</a:t>
            </a:r>
            <a:r>
              <a:rPr lang="en" sz="1050">
                <a:highlight>
                  <a:srgbClr val="FFFFFF"/>
                </a:highlight>
              </a:rPr>
              <a:t> to overallStatus,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"components"</a:t>
            </a:r>
            <a:r>
              <a:rPr lang="en" sz="1050">
                <a:highlight>
                  <a:srgbClr val="FFFFFF"/>
                </a:highlight>
              </a:rPr>
              <a:t> to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mapOf</a:t>
            </a:r>
            <a:r>
              <a:rPr lang="en" sz="1050">
                <a:highlight>
                  <a:srgbClr val="FFFFFF"/>
                </a:highlight>
              </a:rPr>
              <a:t>(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   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"database"</a:t>
            </a:r>
            <a:r>
              <a:rPr lang="en" sz="1050">
                <a:highlight>
                  <a:srgbClr val="FFFFFF"/>
                </a:highlight>
              </a:rPr>
              <a:t> to databaseStatus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),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   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"version"</a:t>
            </a:r>
            <a:r>
              <a:rPr lang="en" sz="1050">
                <a:highlight>
                  <a:srgbClr val="FFFFFF"/>
                </a:highlight>
              </a:rPr>
              <a:t> to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"1.0.0"</a:t>
            </a:r>
            <a:endParaRPr sz="1050">
              <a:solidFill>
                <a:srgbClr val="A3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and Monitoring</a:t>
            </a:r>
            <a:endParaRPr/>
          </a:p>
        </p:txBody>
      </p:sp>
      <p:sp>
        <p:nvSpPr>
          <p:cNvPr id="370" name="Google Shape;370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implementation(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"io.ktor:ktor-server-metrics-micrometer"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implementation(</a:t>
            </a:r>
            <a:r>
              <a:rPr lang="en" sz="1400">
                <a:solidFill>
                  <a:srgbClr val="A31515"/>
                </a:solidFill>
                <a:highlight>
                  <a:srgbClr val="FFFFFF"/>
                </a:highlight>
              </a:rPr>
              <a:t>"io.micrometer:micrometer-registry-prometheus:1.11.0"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and Monitoring</a:t>
            </a:r>
            <a:endParaRPr/>
          </a:p>
        </p:txBody>
      </p:sp>
      <p:sp>
        <p:nvSpPr>
          <p:cNvPr id="376" name="Google Shape;376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install(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MicrometerMetrics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registry = appMicrometerRegistry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// Tag all metrics with application name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meterBinders =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</a:rPr>
              <a:t>listOf</a:t>
            </a:r>
            <a:r>
              <a:rPr lang="en" sz="1050">
                <a:highlight>
                  <a:srgbClr val="FFFFFF"/>
                </a:highlight>
              </a:rPr>
              <a:t>(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ClassLoaderMetrics</a:t>
            </a:r>
            <a:r>
              <a:rPr lang="en" sz="1050">
                <a:highlight>
                  <a:srgbClr val="FFFFFF"/>
                </a:highlight>
              </a:rPr>
              <a:t>(),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JvmMemoryMetrics</a:t>
            </a:r>
            <a:r>
              <a:rPr lang="en" sz="1050">
                <a:highlight>
                  <a:srgbClr val="FFFFFF"/>
                </a:highlight>
              </a:rPr>
              <a:t>(),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JvmGcMetrics</a:t>
            </a:r>
            <a:r>
              <a:rPr lang="en" sz="1050">
                <a:highlight>
                  <a:srgbClr val="FFFFFF"/>
                </a:highlight>
              </a:rPr>
              <a:t>(),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ProcessorMetrics</a:t>
            </a:r>
            <a:r>
              <a:rPr lang="en" sz="1050">
                <a:highlight>
                  <a:srgbClr val="FFFFFF"/>
                </a:highlight>
              </a:rPr>
              <a:t>(),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JvmThreadMetrics</a:t>
            </a:r>
            <a:r>
              <a:rPr lang="en" sz="1050">
                <a:highlight>
                  <a:srgbClr val="FFFFFF"/>
                </a:highlight>
              </a:rPr>
              <a:t>()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Metrics and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routing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get(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</a:rPr>
              <a:t>"/metrics"</a:t>
            </a:r>
            <a:r>
              <a:rPr lang="en" sz="1050">
                <a:highlight>
                  <a:srgbClr val="FFFFFF"/>
                </a:highlight>
              </a:rPr>
              <a:t>) {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    call.respond(appMicrometerRegistry.scrape())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 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   }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Options</a:t>
            </a:r>
            <a:endParaRPr/>
          </a:p>
        </p:txBody>
      </p:sp>
      <p:sp>
        <p:nvSpPr>
          <p:cNvPr id="388" name="Google Shape;388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- **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JAR</a:t>
            </a:r>
            <a:r>
              <a:rPr lang="en" sz="1393">
                <a:highlight>
                  <a:srgbClr val="FFFFFF"/>
                </a:highlight>
              </a:rPr>
              <a:t> deployment**: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`./gradlew shadowJar`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`java -jar build/libs/application.jar`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- **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Docker</a:t>
            </a:r>
            <a:r>
              <a:rPr lang="en" sz="1393">
                <a:highlight>
                  <a:srgbClr val="FFFFFF"/>
                </a:highlight>
              </a:rPr>
              <a:t>**: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Simple</a:t>
            </a:r>
            <a:r>
              <a:rPr lang="en" sz="1393">
                <a:highlight>
                  <a:srgbClr val="FFFFFF"/>
                </a:highlight>
              </a:rPr>
              <a:t> 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Dockerfile</a:t>
            </a:r>
            <a:r>
              <a:rPr lang="en" sz="1393">
                <a:highlight>
                  <a:srgbClr val="FFFFFF"/>
                </a:highlight>
              </a:rPr>
              <a:t> provided by 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Ktor</a:t>
            </a:r>
            <a:endParaRPr sz="1393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`docker build -t myapp .`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`docker run -p </a:t>
            </a:r>
            <a:r>
              <a:rPr lang="en" sz="1393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393">
                <a:highlight>
                  <a:srgbClr val="FFFFFF"/>
                </a:highlight>
              </a:rPr>
              <a:t>:</a:t>
            </a:r>
            <a:r>
              <a:rPr lang="en" sz="1393">
                <a:solidFill>
                  <a:srgbClr val="098658"/>
                </a:solidFill>
                <a:highlight>
                  <a:srgbClr val="FFFFFF"/>
                </a:highlight>
              </a:rPr>
              <a:t>8080</a:t>
            </a:r>
            <a:r>
              <a:rPr lang="en" sz="1393">
                <a:highlight>
                  <a:srgbClr val="FFFFFF"/>
                </a:highlight>
              </a:rPr>
              <a:t> myapp`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- **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Kubernetes</a:t>
            </a:r>
            <a:r>
              <a:rPr lang="en" sz="1393">
                <a:highlight>
                  <a:srgbClr val="FFFFFF"/>
                </a:highlight>
              </a:rPr>
              <a:t>**: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Define</a:t>
            </a:r>
            <a:r>
              <a:rPr lang="en" sz="1393">
                <a:highlight>
                  <a:srgbClr val="FFFFFF"/>
                </a:highlight>
              </a:rPr>
              <a:t> resource requirements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Health</a:t>
            </a:r>
            <a:r>
              <a:rPr lang="en" sz="1393">
                <a:highlight>
                  <a:srgbClr val="FFFFFF"/>
                </a:highlight>
              </a:rPr>
              <a:t> checks </a:t>
            </a:r>
            <a:r>
              <a:rPr lang="en" sz="1393">
                <a:solidFill>
                  <a:srgbClr val="AF00DB"/>
                </a:solidFill>
                <a:highlight>
                  <a:srgbClr val="FFFFFF"/>
                </a:highlight>
              </a:rPr>
              <a:t>for</a:t>
            </a:r>
            <a:r>
              <a:rPr lang="en" sz="1393">
                <a:highlight>
                  <a:srgbClr val="FFFFFF"/>
                </a:highlight>
              </a:rPr>
              <a:t> liveness/readiness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 - 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Auto</a:t>
            </a:r>
            <a:r>
              <a:rPr lang="en" sz="1393">
                <a:highlight>
                  <a:srgbClr val="FFFFFF"/>
                </a:highlight>
              </a:rPr>
              <a:t>-scaling based on metrics</a:t>
            </a:r>
            <a:endParaRPr sz="1393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393">
                <a:highlight>
                  <a:srgbClr val="FFFFFF"/>
                </a:highlight>
              </a:rPr>
              <a:t>- **</a:t>
            </a:r>
            <a:r>
              <a:rPr lang="en" sz="1393">
                <a:solidFill>
                  <a:srgbClr val="267F99"/>
                </a:solidFill>
                <a:highlight>
                  <a:srgbClr val="FFFFFF"/>
                </a:highlight>
              </a:rPr>
              <a:t>Cloud</a:t>
            </a:r>
            <a:r>
              <a:rPr lang="en" sz="1393">
                <a:highlight>
                  <a:srgbClr val="FFFFFF"/>
                </a:highlight>
              </a:rPr>
              <a:t> platforms**</a:t>
            </a:r>
            <a:endParaRPr sz="1393">
              <a:solidFill>
                <a:srgbClr val="267F9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393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203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94" name="Google Shape;394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- **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Official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Documentation</a:t>
            </a:r>
            <a:r>
              <a:rPr lang="en" sz="1050">
                <a:highlight>
                  <a:srgbClr val="FFFFFF"/>
                </a:highlight>
              </a:rPr>
              <a:t>**: [ktor.io/docs](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https</a:t>
            </a:r>
            <a:r>
              <a:rPr lang="en" sz="1050">
                <a:highlight>
                  <a:srgbClr val="FFFFFF"/>
                </a:highlight>
              </a:rPr>
              <a:t>://ktor.io/docs)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- **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GitHub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Repository</a:t>
            </a:r>
            <a:r>
              <a:rPr lang="en" sz="1050">
                <a:highlight>
                  <a:srgbClr val="FFFFFF"/>
                </a:highlight>
              </a:rPr>
              <a:t>**: [github.com/ktorio/ktor](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https</a:t>
            </a:r>
            <a:r>
              <a:rPr lang="en" sz="1050">
                <a:highlight>
                  <a:srgbClr val="FFFFFF"/>
                </a:highlight>
              </a:rPr>
              <a:t>://github.com/ktorio/ktor)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- **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Samples</a:t>
            </a:r>
            <a:r>
              <a:rPr lang="en" sz="1050">
                <a:highlight>
                  <a:srgbClr val="FFFFFF"/>
                </a:highlight>
              </a:rPr>
              <a:t>**: [github.com/ktorio/ktor-samples](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https</a:t>
            </a:r>
            <a:r>
              <a:rPr lang="en" sz="1050">
                <a:highlight>
                  <a:srgbClr val="FFFFFF"/>
                </a:highlight>
              </a:rPr>
              <a:t>://github.com/ktorio/ktor-samples)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F"/>
                </a:highlight>
              </a:rPr>
              <a:t>- **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Project</a:t>
            </a:r>
            <a:r>
              <a:rPr lang="en" sz="1050">
                <a:highlight>
                  <a:srgbClr val="FFFFFF"/>
                </a:highlight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</a:rPr>
              <a:t>Generator</a:t>
            </a:r>
            <a:r>
              <a:rPr lang="en" sz="1050">
                <a:highlight>
                  <a:srgbClr val="FFFFFF"/>
                </a:highlight>
              </a:rPr>
              <a:t>**: [start.ktor.io](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</a:rPr>
              <a:t>https</a:t>
            </a:r>
            <a:r>
              <a:rPr lang="en" sz="1050">
                <a:highlight>
                  <a:srgbClr val="FFFFFF"/>
                </a:highlight>
              </a:rPr>
              <a:t>://start.ktor.io)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