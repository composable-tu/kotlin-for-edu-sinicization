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embeddedFontLst>
    <p:embeddedFont>
      <p:font typeface="HONOR Sans CN" panose="02000500000000000000" pitchFamily="2" charset="-122"/>
      <p:regular r:id="rId40"/>
      <p:bold r:id="rId41"/>
    </p:embeddedFont>
    <p:embeddedFont>
      <p:font typeface="Inter" panose="020B0604020202020204" charset="0"/>
      <p:regular r:id="rId42"/>
      <p:bold r:id="rId43"/>
      <p:italic r:id="rId44"/>
      <p:boldItalic r:id="rId45"/>
    </p:embeddedFont>
    <p:embeddedFont>
      <p:font typeface="JetBrains Mono" panose="020B0604020202020204" charset="0"/>
      <p:regular r:id="rId46"/>
      <p:bold r:id="rId47"/>
      <p:italic r:id="rId48"/>
      <p:boldItalic r:id="rId49"/>
    </p:embeddedFont>
    <p:embeddedFont>
      <p:font typeface="Open Sans" panose="020B0606030504020204" pitchFamily="34" charset="0"/>
      <p:regular r:id="rId50"/>
      <p:bold r:id="rId51"/>
      <p:italic r:id="rId52"/>
      <p:boldItalic r:id="rId53"/>
    </p:embeddedFont>
    <p:embeddedFont>
      <p:font typeface="Raleway" pitchFamily="2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315" autoAdjust="0"/>
  </p:normalViewPr>
  <p:slideViewPr>
    <p:cSldViewPr snapToGrid="0">
      <p:cViewPr varScale="1">
        <p:scale>
          <a:sx n="69" d="100"/>
          <a:sy n="69" d="100"/>
        </p:scale>
        <p:origin x="60" y="83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HONOR Sans CN" panose="02000500000000000000" pitchFamily="2" charset="-122"/>
        <a:ea typeface="HONOR Sans CN" panose="02000500000000000000" pitchFamily="2" charset="-122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kotlinlang.org/docs/lambdas.html#higher-order-functions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kotlinlang.org/api/latest/jvm/stdlib/kotlin.collections/map.html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kotlinlang.org/docs/collection-filtering.html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kotlinlang.org/docs/collection-aggregate.html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kotlinlang.org/docs/collection-grouping.html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Today's topic is functional programming, one of the programming styles supported in Kotlin.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0" lvl="0" indent="0" algn="l" rtl="0">
              <a:lnSpc>
                <a:spcPct val="15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请看以上两段用于计算特定集合中正数之和的代码。左侧代码中的执行指令具有命令式结构。</a:t>
            </a:r>
          </a:p>
          <a:p>
            <a:pPr marL="63500" lvl="0" indent="0" algn="l" rtl="0">
              <a:lnSpc>
                <a:spcPct val="15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63500" lvl="0" indent="0" algn="l" rtl="0">
              <a:lnSpc>
                <a:spcPct val="15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但在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中，我们也可以声明一系列转换来实现相同的结果。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在本节课中，我们将仅关注函数式编程风格在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中的积极应用。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哪些语言特性使我们能够做到这一点？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zh-CN" altLang="en-US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首先，是能够将函数类型用作参数。通常可以通过这种方式传递的值包括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`lambda`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表达式、匿名函数和函数引用。其次，是针对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`case`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语句的语法改进：不再将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`lambda`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表达式写在函数调用的括号内，而是将其置于括号之外。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zh-CN" altLang="en-US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此外，如果未传递其他参数，则可以省略括号。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函数类型的实例与普通函数并无太大区别。我们可以将其存储在变量中并进行修改。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但除了创建由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`lambda`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初始化的变量外，我们还可以在任何代码块中声明一个命名的局部函数。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3"/>
              </a:rPr>
              <a:t>https://kotlinlang.org/docs/lambdas.html#higher-order-functions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所谓“纯函数式编程”中的所有函数都被视为数学意义上的函数；它们既不能改变程序的状态，也不应拥有自己的状态。以下是一个从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LISP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（最早的纯函数式编程语言之一）重写的程序示例。如我们所见，其中没有可变变量，甚至循环也被递归所取代。以典型的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标准来看，本例中的代码相当非传统。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在讨论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的函数式编程风格时，有一组常用的高阶函数尤为引人注目。让我们先从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`map`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函数开始。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顾名思义，它通过应用用户提供的函数来转换源集合。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3"/>
              </a:rPr>
              <a:t>https://kotlinlang.org/api/latest/jvm/stdlib/kotlin.collections/map.html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这里有一个问题：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`map`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forEach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之间的主要区别是什么？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答案是：正如你所见，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`map`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会返回一个列表，其中每个元素都是对源集合进行转换后得到的；而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forEach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仅返回一个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`Unit`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c1d24e09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2c1d24e09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由于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`map`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是一个扩展函数，因此可以通过调用链来组合多个转换操作。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1d24e091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2c1d24e091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3"/>
              </a:rPr>
              <a:t>https://kotlinlang.org/docs/collection-filtering.html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c1d24e091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2c1d24e091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3"/>
              </a:rPr>
              <a:t>https://kotlinlang.org/docs/collection-aggregate.html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c1d24e091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2c1d24e091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让我们追踪一个更复杂的集合函数链。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首先，通过空格和换行符分隔符将字符串拆分为单词。中间结果是一个字符串列表。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然后我们使用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`filter`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过滤掉空字符串。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接下来我们将所有字符串转换为小写。中间集合同样是一个字符串列表。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此类链式操作的每一步都有数十种实现方式。在此示例中，我们可以使用内置计数扩展的组结构，也可以手动操作：通过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`map`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方法自行计算计数。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</a:b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3"/>
              </a:rPr>
              <a:t>https://kotlinlang.org/docs/collection-grouping.html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而此转换的最后一步是将计数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Map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转换为列表。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由于我们拥有一个列表，因此还可以获取其排序副本。我们可以选择列表元素中某个可比较的属性作为排序依据。在本例中，我们使用由单词及其计数组成的元组中的第二个值。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若要实现反向排序，我们可以对按升序排列的列表进行反转、要求按降序排列，或者通过比较两个互换后数值之间的差值来实现。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由于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中的高阶函数可以接受任意函数类型的实例，因此除了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`lambda`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之外，我们还可以传递函数引用以及存储在变量中的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`lambda`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在此代码片段中，我们接收一个数字和两个值：如果数字是偶数，则返回第一个值；如果数字是奇数，则返回第二个值。然后我们传入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`4`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，并分别调用这两个情况下的打印函数。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实际上，这段代码会打印出两个字符串。为什么？因为在命令式编程中，所有传入的参数都会在函数执行之前进行求值，就像烹饪前先准备好并称量好食材一样。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zh-CN" altLang="en-US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在检查数字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`4`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的奇偶性之前，这两个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println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调用已经执行完毕。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从语言本身的层面来看，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并不懒计算值，但通过将立即调用包装成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`lambda`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表达式并替换为延迟调用，最终会得到预期的结果。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为了能在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for`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循环中像使用内置类型一样使用该类，必须使用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operator`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修饰符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aInstance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= A&lt;Int&gt;()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for (value in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aInstance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) {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//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对该值进行操作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最后，让我们探讨如何以函数式的方式处理数据。在成熟的函数式编程语言中，会检查条件表达式的穷尽性（类似于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`when`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）。但在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中也是这样工作的吗？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是的。在这个例子中，我们有一个枚举类，编译器知道除了那些作为常量定义的实例之外，不存在其他可能的实例。因此，如果我们的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`when`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子句（无论按何种顺序和组合）处理了这三个值中的每一个，我们就无需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`else`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子句，因为它永远不会被应用。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但在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中，我们也有密封类和密封接口。它们的子类仅限于与父类或父接口定义在同一模块中的类或接口。这些子类是否也受到与枚举相同的影响？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系统会检查所有可能的子类，以确定是否需要在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`when`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表达式中包含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`else`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子句。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让我们看看本页面的代码，看看能否对其进行一些改进。在每个颜色类中，我们都定义了一个同类型的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`name`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属性。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因此，我们每个类的接口都变得相同了。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现在让我们来详细分析一下。在上面的函数中，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`name`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属性只有在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`this`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被转换为各个子类时才可用。但当我们将接口设为相同时，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`name`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属性对所有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NewColor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实例都可用，且无需了解具体的继承者信息。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实际上，某些类型与某些数学运算之间存在对应关系。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函数式编程者总是向大家强调代数类型。如果我们将密封类视为其子类的和，并将具有属性的类视为判别式与值的乘积，那么我们就可以对这些类型进行代数运算。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并未彻底实现这些原则，但已足够满足实际应用需求。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看到第一张关于猴子的幻灯片后，你可能会认为函数式编程是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中一种更高级、更符合语言习惯的编程风格。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zh-CN" altLang="en-US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但事实并非如此。实际上，你应该在程序中混合使用多种编程风格，才能获得最佳效果。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zh-CN" altLang="en-US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你可以使用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Arrow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项目来增加项目中函数式代码的比例。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75a318ed16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75a318ed16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Code">
  <p:cSld name="CUSTOM_4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JetBrains Mono"/>
              <a:buChar char="●"/>
              <a:defRPr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914400" lvl="1" indent="-317500" rtl="0"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○"/>
              <a:defRPr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371600" lvl="2" indent="-317500" rtl="0"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■"/>
              <a:defRPr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1828800" lvl="3" indent="-317500" rtl="0"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●"/>
              <a:defRPr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2286000" lvl="4" indent="-317500" rtl="0"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○"/>
              <a:defRPr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2743200" lvl="5" indent="-317500" rtl="0"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■"/>
              <a:defRPr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3200400" lvl="6" indent="-317500" rtl="0"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●"/>
              <a:defRPr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3657600" lvl="7" indent="-317500" rtl="0"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○"/>
              <a:defRPr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4114800" lvl="8" indent="-317500" rtl="0">
              <a:spcBef>
                <a:spcPts val="600"/>
              </a:spcBef>
              <a:spcAft>
                <a:spcPts val="600"/>
              </a:spcAft>
              <a:buSzPts val="1400"/>
              <a:buFont typeface="JetBrains Mono"/>
              <a:buChar char="■"/>
              <a:defRPr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Inter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 Lots of code">
  <p:cSld name="CUSTOM_4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Font typeface="JetBrains Mono"/>
              <a:buChar char="●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914400" lvl="1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○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371600" lvl="2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■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1828800" lvl="3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●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2286000" lvl="4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○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2743200" lvl="5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■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3200400" lvl="6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●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3657600" lvl="7" indent="-279400" rtl="0"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○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4114800" lvl="8" indent="-279400" rtl="0">
              <a:spcBef>
                <a:spcPts val="600"/>
              </a:spcBef>
              <a:spcAft>
                <a:spcPts val="600"/>
              </a:spcAft>
              <a:buSzPts val="800"/>
              <a:buFont typeface="JetBrains Mono"/>
              <a:buChar char="■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Inter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 Main point">
  <p:cSld name="CUSTOM_5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411475" y="1626682"/>
            <a:ext cx="8321100" cy="16644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. Text slide">
  <p:cSld name="CUSTOM_7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292600" y="292598"/>
            <a:ext cx="8328900" cy="44859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marL="914400" lvl="1" indent="-317500" rtl="0"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0000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pic>
        <p:nvPicPr>
          <p:cNvPr id="21" name="Google Shape;21;p6"/>
          <p:cNvPicPr preferRelativeResize="0"/>
          <p:nvPr/>
        </p:nvPicPr>
        <p:blipFill rotWithShape="1">
          <a:blip r:embed="rId2">
            <a:alphaModFix/>
          </a:blip>
          <a:srcRect l="25105" t="18583" r="1078" b="20590"/>
          <a:stretch/>
        </p:blipFill>
        <p:spPr>
          <a:xfrm rot="-720009">
            <a:off x="4471046" y="-44961"/>
            <a:ext cx="5499357" cy="453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Text and header 1">
  <p:cSld name="CUSTOM_7_2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958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marL="914400" lvl="1" indent="-317500" rtl="0"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Inter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Ralewa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Ralewa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Inter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defRPr>
            </a:lvl1pPr>
            <a:lvl2pPr marL="914400" lvl="1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2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35" name="Google Shape;35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36" name="Google Shape;3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Ralewa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Ralewa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183880" y="41148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ONOR Sans CN" panose="02000500000000000000" pitchFamily="2" charset="-122"/>
          <a:ea typeface="HONOR Sans CN" panose="02000500000000000000" pitchFamily="2" charset="-122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ONOR Sans CN" panose="02000500000000000000" pitchFamily="2" charset="-122"/>
          <a:ea typeface="HONOR Sans CN" panose="02000500000000000000" pitchFamily="2" charset="-122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>
          <p15:clr>
            <a:srgbClr val="EA4335"/>
          </p15:clr>
        </p15:guide>
        <p15:guide id="2" pos="259">
          <p15:clr>
            <a:srgbClr val="EA4335"/>
          </p15:clr>
        </p15:guide>
        <p15:guide id="3" pos="1037">
          <p15:clr>
            <a:srgbClr val="EA4335"/>
          </p15:clr>
        </p15:guide>
        <p15:guide id="4" pos="1152">
          <p15:clr>
            <a:srgbClr val="EA4335"/>
          </p15:clr>
        </p15:guide>
        <p15:guide id="5" pos="1930">
          <p15:clr>
            <a:srgbClr val="EA4335"/>
          </p15:clr>
        </p15:guide>
        <p15:guide id="6" pos="2045">
          <p15:clr>
            <a:srgbClr val="EA4335"/>
          </p15:clr>
        </p15:guide>
        <p15:guide id="7" pos="2822">
          <p15:clr>
            <a:srgbClr val="EA4335"/>
          </p15:clr>
        </p15:guide>
        <p15:guide id="8" pos="2938">
          <p15:clr>
            <a:srgbClr val="EA4335"/>
          </p15:clr>
        </p15:guide>
        <p15:guide id="9" pos="3715">
          <p15:clr>
            <a:srgbClr val="EA4335"/>
          </p15:clr>
        </p15:guide>
        <p15:guide id="10" pos="3830">
          <p15:clr>
            <a:srgbClr val="EA4335"/>
          </p15:clr>
        </p15:guide>
        <p15:guide id="11" pos="4608">
          <p15:clr>
            <a:srgbClr val="EA4335"/>
          </p15:clr>
        </p15:guide>
        <p15:guide id="12" pos="4723">
          <p15:clr>
            <a:srgbClr val="EA4335"/>
          </p15:clr>
        </p15:guide>
        <p15:guide id="13" pos="5501">
          <p15:clr>
            <a:srgbClr val="EA4335"/>
          </p15:clr>
        </p15:guide>
        <p15:guide id="14" orient="horz" pos="582">
          <p15:clr>
            <a:srgbClr val="EA4335"/>
          </p15:clr>
        </p15:guide>
        <p15:guide id="15" orient="horz" pos="732">
          <p15:clr>
            <a:srgbClr val="EA4335"/>
          </p15:clr>
        </p15:guide>
        <p15:guide id="16" orient="horz" pos="881">
          <p15:clr>
            <a:srgbClr val="EA4335"/>
          </p15:clr>
        </p15:guide>
        <p15:guide id="17" orient="horz" pos="1031">
          <p15:clr>
            <a:srgbClr val="EA4335"/>
          </p15:clr>
        </p15:guide>
        <p15:guide id="18" orient="horz" pos="1181">
          <p15:clr>
            <a:srgbClr val="EA4335"/>
          </p15:clr>
        </p15:guide>
        <p15:guide id="19" orient="horz" pos="1331">
          <p15:clr>
            <a:srgbClr val="EA4335"/>
          </p15:clr>
        </p15:guide>
        <p15:guide id="20" orient="horz" pos="1480">
          <p15:clr>
            <a:srgbClr val="EA4335"/>
          </p15:clr>
        </p15:guide>
        <p15:guide id="21" orient="horz" pos="1630">
          <p15:clr>
            <a:srgbClr val="EA4335"/>
          </p15:clr>
        </p15:guide>
        <p15:guide id="22" orient="horz" pos="1780">
          <p15:clr>
            <a:srgbClr val="EA4335"/>
          </p15:clr>
        </p15:guide>
        <p15:guide id="23" orient="horz" pos="1930">
          <p15:clr>
            <a:srgbClr val="EA4335"/>
          </p15:clr>
        </p15:guide>
        <p15:guide id="24" orient="horz" pos="2079">
          <p15:clr>
            <a:srgbClr val="EA4335"/>
          </p15:clr>
        </p15:guide>
        <p15:guide id="25" orient="horz" pos="2229">
          <p15:clr>
            <a:srgbClr val="EA4335"/>
          </p15:clr>
        </p15:guide>
        <p15:guide id="26" orient="horz" pos="2379">
          <p15:clr>
            <a:srgbClr val="EA4335"/>
          </p15:clr>
        </p15:guide>
        <p15:guide id="27" orient="horz" pos="2529">
          <p15:clr>
            <a:srgbClr val="EA4335"/>
          </p15:clr>
        </p15:guide>
        <p15:guide id="28" orient="horz" pos="267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twitter.com/kotli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arrow-kt.io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kotlin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/>
        </p:nvSpPr>
        <p:spPr>
          <a:xfrm>
            <a:off x="886558" y="1003425"/>
            <a:ext cx="7275000" cy="19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48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函数式编程</a:t>
            </a:r>
            <a:endParaRPr sz="48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pic>
        <p:nvPicPr>
          <p:cNvPr id="46" name="Google Shape;4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075" y="332279"/>
            <a:ext cx="596400" cy="2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2"/>
          <p:cNvSpPr txBox="1"/>
          <p:nvPr/>
        </p:nvSpPr>
        <p:spPr>
          <a:xfrm>
            <a:off x="923472" y="257347"/>
            <a:ext cx="25638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Kotlin</a:t>
            </a:r>
            <a:endParaRPr sz="17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48" name="Google Shape;48;p12">
            <a:hlinkClick r:id="rId4"/>
          </p:cNvPr>
          <p:cNvSpPr txBox="1"/>
          <p:nvPr/>
        </p:nvSpPr>
        <p:spPr>
          <a:xfrm>
            <a:off x="238875" y="4469150"/>
            <a:ext cx="216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B7B7B7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@kotlin</a:t>
            </a:r>
            <a:endParaRPr sz="1700" dirty="0">
              <a:solidFill>
                <a:srgbClr val="B7B7B7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49" name="Google Shape;49;p12"/>
          <p:cNvSpPr txBox="1"/>
          <p:nvPr/>
        </p:nvSpPr>
        <p:spPr>
          <a:xfrm>
            <a:off x="1079350" y="4469150"/>
            <a:ext cx="39678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B7B7B7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|  Developed by JetBrains </a:t>
            </a:r>
            <a:endParaRPr sz="1700" dirty="0">
              <a:solidFill>
                <a:srgbClr val="B7B7B7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这是什么？</a:t>
            </a:r>
            <a:endParaRPr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3136550" y="3145925"/>
            <a:ext cx="12531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 sz="2400" b="1" i="0" u="none" strike="noStrike" cap="none" dirty="0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VS</a:t>
            </a:r>
            <a:endParaRPr sz="2400" b="1" i="0" u="none" strike="noStrike" cap="none" dirty="0">
              <a:solidFill>
                <a:srgbClr val="000000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6663300" cy="1159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我们已经熟悉面向对象编程（</a:t>
            </a:r>
            <a:r>
              <a:rPr lang="en-US" altLang="zh-CN" dirty="0"/>
              <a:t>OOP</a:t>
            </a:r>
            <a:r>
              <a:rPr lang="zh-CN" altLang="en-US" dirty="0"/>
              <a:t>），但 </a:t>
            </a:r>
            <a:r>
              <a:rPr lang="en-US" altLang="zh-CN" dirty="0"/>
              <a:t>Kotlin </a:t>
            </a:r>
            <a:r>
              <a:rPr lang="zh-CN" altLang="en-US" dirty="0"/>
              <a:t>还借鉴了函数式编程（</a:t>
            </a:r>
            <a:r>
              <a:rPr lang="en-US" altLang="zh-CN" dirty="0"/>
              <a:t>FP</a:t>
            </a:r>
            <a:r>
              <a:rPr lang="zh-CN" altLang="en-US" dirty="0"/>
              <a:t>）的概念。函数式编程是一种编程范式，其程序是通过</a:t>
            </a:r>
            <a:r>
              <a:rPr lang="zh-CN" altLang="en-US" b="1" dirty="0"/>
              <a:t>应用</a:t>
            </a:r>
            <a:r>
              <a:rPr lang="zh-CN" altLang="en-US" dirty="0"/>
              <a:t>和</a:t>
            </a:r>
            <a:r>
              <a:rPr lang="zh-CN" altLang="en-US" b="1" dirty="0"/>
              <a:t>组合函数</a:t>
            </a:r>
            <a:r>
              <a:rPr lang="zh-CN" altLang="en-US" dirty="0"/>
              <a:t>来构建的。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292600" y="2845575"/>
            <a:ext cx="2903400" cy="1159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var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sum = 0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(item in list) {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1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(item &gt; 0) {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sum += item * item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dirty="0">
              <a:highlight>
                <a:schemeClr val="lt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1"/>
          </p:nvPr>
        </p:nvSpPr>
        <p:spPr>
          <a:xfrm>
            <a:off x="4179575" y="2845575"/>
            <a:ext cx="4448400" cy="1159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list.filter { it &gt; 0 }.map { it * it }.sum()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100" dirty="0">
              <a:solidFill>
                <a:srgbClr val="3F51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我们的方法</a:t>
            </a:r>
            <a:endParaRPr dirty="0"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函数式编程与其他概念一样，既有优点也有缺点，但我们将重点关注其优势。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/>
              <a:t>免责声明</a:t>
            </a:r>
            <a:r>
              <a:rPr lang="zh-CN" altLang="en-US" dirty="0"/>
              <a:t>：本讲课中不会涉及深奥的数学内容或 </a:t>
            </a:r>
            <a:r>
              <a:rPr lang="en-US" altLang="zh-CN" dirty="0"/>
              <a:t>Haskell </a:t>
            </a:r>
            <a:r>
              <a:rPr lang="zh-CN" altLang="en-US" dirty="0"/>
              <a:t>示例。我们将探讨那些我们认为在 </a:t>
            </a:r>
            <a:r>
              <a:rPr lang="en-US" altLang="zh-CN" dirty="0"/>
              <a:t>Kotlin </a:t>
            </a:r>
            <a:r>
              <a:rPr lang="zh-CN" altLang="en-US" dirty="0"/>
              <a:t>中最值得使用的函数式编程特性。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我们已经知道</a:t>
            </a:r>
            <a:r>
              <a:rPr lang="en-US" altLang="zh-CN" dirty="0"/>
              <a:t>……</a:t>
            </a:r>
            <a:endParaRPr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lvl="0" indent="-317500">
              <a:lnSpc>
                <a:spcPct val="150000"/>
              </a:lnSpc>
              <a:buSzPts val="1400"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 </a:t>
            </a: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中，你可以将函数作为其他函数的参数传递：</a:t>
            </a:r>
            <a:b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</a:br>
            <a:r>
              <a:rPr lang="en-US" altLang="zh-CN" sz="1100" dirty="0">
                <a:solidFill>
                  <a:srgbClr val="3F51B5"/>
                </a:solidFill>
              </a:rPr>
              <a:t>fun</a:t>
            </a:r>
            <a:r>
              <a:rPr lang="en-US" altLang="zh-CN" sz="1100" dirty="0">
                <a:solidFill>
                  <a:srgbClr val="37474F"/>
                </a:solidFill>
              </a:rPr>
              <a:t> foo(bar: () -&gt; Unit): Unit { ... }</a:t>
            </a:r>
          </a:p>
          <a:p>
            <a:pPr lvl="0" indent="-317500">
              <a:lnSpc>
                <a:spcPct val="150000"/>
              </a:lnSpc>
              <a:spcBef>
                <a:spcPts val="1000"/>
              </a:spcBef>
              <a:buSzPts val="1400"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如果函数的最后一个参数是函数，则可以将其放在括号之外：</a:t>
            </a:r>
            <a:b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</a:br>
            <a:r>
              <a:rPr lang="en-US" altLang="zh-CN" sz="1100" dirty="0">
                <a:solidFill>
                  <a:srgbClr val="3F51B5"/>
                </a:solidFill>
              </a:rPr>
              <a:t>fun</a:t>
            </a:r>
            <a:r>
              <a:rPr lang="en-US" altLang="zh-CN" sz="1100" dirty="0">
                <a:solidFill>
                  <a:srgbClr val="37474F"/>
                </a:solidFill>
              </a:rPr>
              <a:t> </a:t>
            </a:r>
            <a:r>
              <a:rPr lang="en-US" altLang="zh-CN" sz="1100" dirty="0" err="1">
                <a:solidFill>
                  <a:srgbClr val="37474F"/>
                </a:solidFill>
              </a:rPr>
              <a:t>baz</a:t>
            </a:r>
            <a:r>
              <a:rPr lang="en-US" altLang="zh-CN" sz="1100" dirty="0">
                <a:solidFill>
                  <a:srgbClr val="37474F"/>
                </a:solidFill>
              </a:rPr>
              <a:t>(start: Int, end: Int, step: (Int) -&gt; Unit): Unit { ... }</a:t>
            </a:r>
            <a:br>
              <a:rPr lang="en-US" altLang="zh-CN" sz="1100" dirty="0">
                <a:solidFill>
                  <a:srgbClr val="37474F"/>
                </a:solidFill>
              </a:rPr>
            </a:br>
            <a:r>
              <a:rPr lang="en-US" altLang="zh-CN" sz="1100" dirty="0" err="1">
                <a:solidFill>
                  <a:srgbClr val="37474F"/>
                </a:solidFill>
              </a:rPr>
              <a:t>baz</a:t>
            </a:r>
            <a:r>
              <a:rPr lang="en-US" altLang="zh-CN" sz="1100" dirty="0">
                <a:solidFill>
                  <a:srgbClr val="37474F"/>
                </a:solidFill>
              </a:rPr>
              <a:t>(23, 42) { </a:t>
            </a:r>
            <a:r>
              <a:rPr lang="en-US" altLang="zh-CN" sz="1100" dirty="0" err="1">
                <a:solidFill>
                  <a:srgbClr val="37474F"/>
                </a:solidFill>
              </a:rPr>
              <a:t>println</a:t>
            </a:r>
            <a:r>
              <a:rPr lang="en-US" altLang="zh-CN" sz="1100" dirty="0">
                <a:solidFill>
                  <a:srgbClr val="37474F"/>
                </a:solidFill>
              </a:rPr>
              <a:t>(</a:t>
            </a:r>
            <a:r>
              <a:rPr lang="en-US" altLang="zh-CN" sz="1100" dirty="0">
                <a:solidFill>
                  <a:srgbClr val="008000"/>
                </a:solidFill>
              </a:rPr>
              <a:t>"Magnificent!"</a:t>
            </a:r>
            <a:r>
              <a:rPr lang="en-US" altLang="zh-CN" sz="1100" dirty="0">
                <a:solidFill>
                  <a:srgbClr val="37474F"/>
                </a:solidFill>
              </a:rPr>
              <a:t>) }</a:t>
            </a:r>
            <a:endParaRPr lang="en-US" altLang="zh-CN"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lvl="0" indent="-3175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400"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如果函数的唯一参数是一个函数，则可以完全省略括号：</a:t>
            </a:r>
            <a:b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</a:br>
            <a:r>
              <a:rPr lang="en-US" altLang="zh-CN" sz="1100" dirty="0">
                <a:solidFill>
                  <a:srgbClr val="37474F"/>
                </a:solidFill>
              </a:rPr>
              <a:t>foo { </a:t>
            </a:r>
            <a:r>
              <a:rPr lang="en-US" altLang="zh-CN" sz="1100" dirty="0" err="1">
                <a:solidFill>
                  <a:srgbClr val="37474F"/>
                </a:solidFill>
              </a:rPr>
              <a:t>println</a:t>
            </a:r>
            <a:r>
              <a:rPr lang="en-US" altLang="zh-CN" sz="1100" dirty="0">
                <a:solidFill>
                  <a:srgbClr val="37474F"/>
                </a:solidFill>
              </a:rPr>
              <a:t>(</a:t>
            </a:r>
            <a:r>
              <a:rPr lang="en-US" altLang="zh-CN" sz="1100" dirty="0">
                <a:solidFill>
                  <a:srgbClr val="008000"/>
                </a:solidFill>
              </a:rPr>
              <a:t>"Kotlin keeps on giving!"</a:t>
            </a:r>
            <a:r>
              <a:rPr lang="en-US" altLang="zh-CN" sz="1100" dirty="0">
                <a:solidFill>
                  <a:srgbClr val="37474F"/>
                </a:solidFill>
              </a:rPr>
              <a:t>) }</a:t>
            </a:r>
            <a:endParaRPr lang="en-US" altLang="zh-CN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zh-CN" sz="13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Lambda </a:t>
            </a:r>
            <a:r>
              <a:rPr lang="zh-CN" altLang="en-US" sz="13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表达式可以赋值给</a:t>
            </a:r>
            <a:r>
              <a:rPr lang="en" sz="13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sz="1300" dirty="0">
                <a:solidFill>
                  <a:srgbClr val="3F51B5"/>
                </a:solidFill>
              </a:rPr>
              <a:t>val</a:t>
            </a:r>
            <a:r>
              <a:rPr lang="en" sz="13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3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也可以重新赋值给</a:t>
            </a:r>
            <a:r>
              <a:rPr lang="en" sz="13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sz="1300" dirty="0">
                <a:solidFill>
                  <a:srgbClr val="3F51B5"/>
                </a:solidFill>
              </a:rPr>
              <a:t>var</a:t>
            </a:r>
            <a:r>
              <a:rPr lang="zh-CN" altLang="en-US" sz="13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：</a:t>
            </a:r>
            <a:endParaRPr sz="13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3F51B5"/>
                </a:solidFill>
              </a:rPr>
              <a:t>var</a:t>
            </a:r>
            <a:r>
              <a:rPr lang="en" sz="1000" dirty="0">
                <a:solidFill>
                  <a:srgbClr val="37474F"/>
                </a:solidFill>
              </a:rPr>
              <a:t> lambda1: (Int) -&gt; Double = { r -&gt; r * 6.28 }</a:t>
            </a:r>
            <a:endParaRPr sz="1000" dirty="0">
              <a:solidFill>
                <a:srgbClr val="37474F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3F51B5"/>
                </a:solidFill>
              </a:rPr>
              <a:t>val</a:t>
            </a:r>
            <a:r>
              <a:rPr lang="en" sz="1000" dirty="0">
                <a:solidFill>
                  <a:srgbClr val="37474F"/>
                </a:solidFill>
              </a:rPr>
              <a:t> lambda2 = { d: Int -&gt; 3.14 * d.toDouble().pow(2) }</a:t>
            </a:r>
            <a:endParaRPr sz="1000" dirty="0">
              <a:solidFill>
                <a:srgbClr val="37474F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37474F"/>
                </a:solidFill>
              </a:rPr>
              <a:t>lambda1 = lambda2</a:t>
            </a:r>
            <a:br>
              <a:rPr lang="en" sz="1000" dirty="0">
                <a:solidFill>
                  <a:srgbClr val="37474F"/>
                </a:solidFill>
              </a:rPr>
            </a:br>
            <a:endParaRPr sz="1000" dirty="0">
              <a:solidFill>
                <a:srgbClr val="37474F"/>
              </a:solidFill>
            </a:endParaRPr>
          </a:p>
          <a:p>
            <a:pPr marL="457200" lvl="0" indent="-311150" algn="l" rtl="0"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n-US" altLang="zh-CN" sz="13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Lambda </a:t>
            </a:r>
            <a:r>
              <a:rPr lang="zh-CN" altLang="en-US" sz="13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表达式可以用函数语法替换：</a:t>
            </a:r>
            <a:endParaRPr sz="1000" dirty="0">
              <a:solidFill>
                <a:srgbClr val="37474F"/>
              </a:solidFill>
            </a:endParaRPr>
          </a:p>
          <a:p>
            <a:pPr marL="0" lvl="0" indent="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3F51B5"/>
                </a:solidFill>
              </a:rPr>
              <a:t>val</a:t>
            </a:r>
            <a:r>
              <a:rPr lang="en" sz="1000" dirty="0">
                <a:solidFill>
                  <a:srgbClr val="37474F"/>
                </a:solidFill>
              </a:rPr>
              <a:t> sum = </a:t>
            </a:r>
            <a:r>
              <a:rPr lang="en" sz="1000" dirty="0">
                <a:solidFill>
                  <a:srgbClr val="3F51B5"/>
                </a:solidFill>
              </a:rPr>
              <a:t>fun</a:t>
            </a:r>
            <a:r>
              <a:rPr lang="en" sz="1000" dirty="0">
                <a:solidFill>
                  <a:srgbClr val="37474F"/>
                </a:solidFill>
              </a:rPr>
              <a:t>(a: Int, b: Int): Int = a + b</a:t>
            </a:r>
            <a:br>
              <a:rPr lang="en" sz="1000" dirty="0">
                <a:solidFill>
                  <a:srgbClr val="080808"/>
                </a:solidFill>
                <a:highlight>
                  <a:schemeClr val="lt1"/>
                </a:highlight>
              </a:rPr>
            </a:br>
            <a:r>
              <a:rPr lang="en" sz="1000" dirty="0">
                <a:solidFill>
                  <a:srgbClr val="080808"/>
                </a:solidFill>
                <a:highlight>
                  <a:schemeClr val="lt1"/>
                </a:highlight>
              </a:rPr>
              <a:t>	</a:t>
            </a:r>
            <a:r>
              <a:rPr lang="en" sz="1000" dirty="0">
                <a:solidFill>
                  <a:srgbClr val="3F51B5"/>
                </a:solidFill>
              </a:rPr>
              <a:t>val</a:t>
            </a:r>
            <a:r>
              <a:rPr lang="en" sz="1000" dirty="0">
                <a:solidFill>
                  <a:srgbClr val="0033B3"/>
                </a:solidFill>
                <a:highlight>
                  <a:schemeClr val="lt1"/>
                </a:highlight>
              </a:rPr>
              <a:t> </a:t>
            </a:r>
            <a:r>
              <a:rPr lang="en" sz="1000" dirty="0">
                <a:solidFill>
                  <a:srgbClr val="37474F"/>
                </a:solidFill>
              </a:rPr>
              <a:t>sum2 = { a:Int, b: Int -&gt; a + b }</a:t>
            </a:r>
            <a:endParaRPr sz="1000" b="1" dirty="0">
              <a:solidFill>
                <a:srgbClr val="080808"/>
              </a:solidFill>
              <a:highlight>
                <a:schemeClr val="lt1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Font typeface="Open Sans"/>
              <a:buChar char="●"/>
            </a:pPr>
            <a:r>
              <a:rPr lang="zh-CN" altLang="en-US" sz="13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允许在函数内部声明函数：</a:t>
            </a:r>
            <a:endParaRPr sz="13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3F51B5"/>
                </a:solidFill>
              </a:rPr>
              <a:t>fun</a:t>
            </a:r>
            <a:r>
              <a:rPr lang="en" sz="1000" dirty="0">
                <a:solidFill>
                  <a:srgbClr val="37474F"/>
                </a:solidFill>
              </a:rPr>
              <a:t> global() {</a:t>
            </a:r>
            <a:br>
              <a:rPr lang="en" sz="1000" dirty="0">
                <a:solidFill>
                  <a:srgbClr val="37474F"/>
                </a:solidFill>
              </a:rPr>
            </a:br>
            <a:r>
              <a:rPr lang="en" sz="1000" dirty="0">
                <a:solidFill>
                  <a:srgbClr val="37474F"/>
                </a:solidFill>
              </a:rPr>
              <a:t>	</a:t>
            </a:r>
            <a:r>
              <a:rPr lang="en" sz="1000" dirty="0">
                <a:solidFill>
                  <a:srgbClr val="3F51B5"/>
                </a:solidFill>
              </a:rPr>
              <a:t>fun</a:t>
            </a:r>
            <a:r>
              <a:rPr lang="en" sz="1000" dirty="0">
                <a:solidFill>
                  <a:srgbClr val="37474F"/>
                </a:solidFill>
              </a:rPr>
              <a:t> local() { ... }</a:t>
            </a:r>
            <a:endParaRPr sz="1000" dirty="0">
              <a:solidFill>
                <a:srgbClr val="37474F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37474F"/>
                </a:solidFill>
              </a:rPr>
              <a:t>...</a:t>
            </a:r>
            <a:br>
              <a:rPr lang="en" sz="1000" dirty="0">
                <a:solidFill>
                  <a:srgbClr val="37474F"/>
                </a:solidFill>
              </a:rPr>
            </a:br>
            <a:r>
              <a:rPr lang="en" sz="1000" dirty="0">
                <a:solidFill>
                  <a:srgbClr val="37474F"/>
                </a:solidFill>
              </a:rPr>
              <a:t>	local()</a:t>
            </a:r>
            <a:endParaRPr sz="1000" dirty="0">
              <a:solidFill>
                <a:srgbClr val="37474F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37474F"/>
                </a:solidFill>
              </a:rPr>
              <a:t>...</a:t>
            </a:r>
            <a:br>
              <a:rPr lang="en" sz="1000" dirty="0">
                <a:solidFill>
                  <a:srgbClr val="37474F"/>
                </a:solidFill>
              </a:rPr>
            </a:br>
            <a:r>
              <a:rPr lang="en" sz="1000" dirty="0">
                <a:solidFill>
                  <a:srgbClr val="37474F"/>
                </a:solidFill>
              </a:rPr>
              <a:t>}</a:t>
            </a:r>
            <a:endParaRPr sz="700" dirty="0"/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sz="13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我们已经知道</a:t>
            </a:r>
            <a:r>
              <a:rPr lang="en-US" altLang="zh-CN" dirty="0"/>
              <a:t>……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将其他函数作为</a:t>
            </a:r>
            <a:r>
              <a:rPr lang="zh-CN" altLang="en-US" sz="14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参数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的函数被称为高阶函数。</a:t>
            </a: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zh-CN" altLang="en-US"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 </a:t>
            </a: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中，处理集合时经常会遇到它们：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200" dirty="0">
                <a:solidFill>
                  <a:srgbClr val="37474F"/>
                </a:solidFill>
              </a:rPr>
              <a:t>list.partition { it % 2 == 0 }  </a:t>
            </a:r>
            <a:r>
              <a:rPr lang="en" sz="1200" b="1" dirty="0">
                <a:solidFill>
                  <a:srgbClr val="37474F"/>
                </a:solidFill>
              </a:rPr>
              <a:t>OR </a:t>
            </a:r>
            <a:r>
              <a:rPr lang="en" sz="1200" dirty="0">
                <a:solidFill>
                  <a:srgbClr val="37474F"/>
                </a:solidFill>
              </a:rPr>
              <a:t> list.partition { x -&gt; x % 2 == 0 }</a:t>
            </a:r>
            <a:endParaRPr sz="12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2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允许你对函数进行任何操作，这意味着“</a:t>
            </a: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中的函数是第一公民”。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在函数式编程中，函数的设计原则是纯净的。通俗来说，这意味着它们不能持有状态。循环具有迭代器索引，而这本身就是一种状态，因此请告别</a:t>
            </a:r>
            <a:r>
              <a:rPr lang="zh-CN" altLang="en-US" sz="1400" i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传统的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循环。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100" dirty="0">
                <a:solidFill>
                  <a:srgbClr val="3F51B5"/>
                </a:solidFill>
              </a:rPr>
            </a:b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sumIter(term: (Double) -&gt; Double, a: Double, next: (Double) -&gt; Double, b: Double): Double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iter(a: Double, acc: Double): Double = </a:t>
            </a:r>
            <a:r>
              <a:rPr lang="en" sz="1100" dirty="0">
                <a:solidFill>
                  <a:srgbClr val="3F51B5"/>
                </a:solidFill>
              </a:rPr>
              <a:t>if</a:t>
            </a:r>
            <a:r>
              <a:rPr lang="en" sz="1100" dirty="0">
                <a:solidFill>
                  <a:srgbClr val="37474F"/>
                </a:solidFill>
              </a:rPr>
              <a:t> (a &gt; b) acc </a:t>
            </a:r>
            <a:r>
              <a:rPr lang="en" sz="1100" dirty="0">
                <a:solidFill>
                  <a:srgbClr val="3F51B5"/>
                </a:solidFill>
              </a:rPr>
              <a:t>else</a:t>
            </a:r>
            <a:r>
              <a:rPr lang="en" sz="1100" dirty="0">
                <a:solidFill>
                  <a:srgbClr val="37474F"/>
                </a:solidFill>
              </a:rPr>
              <a:t> iter(next(a), acc + term(a))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return</a:t>
            </a:r>
            <a:r>
              <a:rPr lang="en" sz="1100" dirty="0">
                <a:solidFill>
                  <a:srgbClr val="37474F"/>
                </a:solidFill>
              </a:rPr>
              <a:t> iter(a, 0.0)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integral(f: (Double) -&gt; Double, a: Double, b: Double, dx: Double): Double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addDx(x: Double) = x + dx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return</a:t>
            </a:r>
            <a:r>
              <a:rPr lang="en" sz="1100" dirty="0">
                <a:solidFill>
                  <a:srgbClr val="37474F"/>
                </a:solidFill>
              </a:rPr>
              <a:t> dx * sumIter(f, (a + (dx / 2.0)), ::addDx, b)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（这是一个转写为 </a:t>
            </a: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 </a:t>
            </a: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LISP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程序；实际上没人会这样写代码）</a:t>
            </a:r>
            <a:endParaRPr sz="1400" dirty="0"/>
          </a:p>
        </p:txBody>
      </p:sp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在函数式编程的语境中，通常需要使用以下函数：</a:t>
            </a:r>
            <a:r>
              <a:rPr lang="en" sz="1400" dirty="0">
                <a:solidFill>
                  <a:srgbClr val="37474F"/>
                </a:solidFill>
              </a:rPr>
              <a:t>map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、</a:t>
            </a:r>
            <a:r>
              <a:rPr lang="en" sz="1400" dirty="0">
                <a:solidFill>
                  <a:srgbClr val="37474F"/>
                </a:solidFill>
              </a:rPr>
              <a:t>filter</a:t>
            </a:r>
            <a:r>
              <a:rPr lang="e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</a:t>
            </a:r>
            <a:r>
              <a:rPr lang="e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 </a:t>
            </a:r>
            <a:r>
              <a:rPr lang="en" sz="1400" dirty="0">
                <a:solidFill>
                  <a:srgbClr val="37474F"/>
                </a:solidFill>
              </a:rPr>
              <a:t>fold</a:t>
            </a:r>
            <a:r>
              <a:rPr lang="e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.</a:t>
            </a: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37474F"/>
                </a:solidFill>
              </a:rPr>
              <a:t>map</a:t>
            </a:r>
            <a:r>
              <a:rPr lang="e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允许我们对集合中的每个元素应用一个函数：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000080"/>
                </a:solidFill>
              </a:rPr>
              <a:t>val</a:t>
            </a:r>
            <a:r>
              <a:rPr lang="en" sz="1400" dirty="0">
                <a:solidFill>
                  <a:srgbClr val="37474F"/>
                </a:solidFill>
              </a:rPr>
              <a:t> list = listOf(1, 2, 3)</a:t>
            </a: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rgbClr val="37474F"/>
                </a:solidFill>
              </a:rPr>
              <a:t>list.map { it * it } </a:t>
            </a:r>
            <a:r>
              <a:rPr lang="en" sz="1400" dirty="0">
                <a:solidFill>
                  <a:srgbClr val="666666"/>
                </a:solidFill>
              </a:rPr>
              <a:t>// [1, 4, 9]</a:t>
            </a:r>
            <a:endParaRPr sz="1400" dirty="0">
              <a:solidFill>
                <a:srgbClr val="666666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dirty="0"/>
          </a:p>
        </p:txBody>
      </p:sp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8326800" cy="1950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在函数式编程的语境中，通常需要使用以下函数：</a:t>
            </a:r>
            <a:r>
              <a:rPr lang="en-US" altLang="zh-CN" sz="1400" dirty="0">
                <a:solidFill>
                  <a:srgbClr val="37474F"/>
                </a:solidFill>
              </a:rPr>
              <a:t>map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、</a:t>
            </a:r>
            <a:r>
              <a:rPr lang="en-US" altLang="zh-CN" sz="1400" dirty="0">
                <a:solidFill>
                  <a:srgbClr val="37474F"/>
                </a:solidFill>
              </a:rPr>
              <a:t>filter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和 </a:t>
            </a:r>
            <a:r>
              <a:rPr lang="en-US" altLang="zh-CN" sz="1400" dirty="0">
                <a:solidFill>
                  <a:srgbClr val="37474F"/>
                </a:solidFill>
              </a:rPr>
              <a:t>fold</a:t>
            </a: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.</a:t>
            </a:r>
            <a:endParaRPr lang="zh-CN" altLang="en-US" sz="1400" dirty="0">
              <a:solidFill>
                <a:srgbClr val="37474F"/>
              </a:solidFill>
            </a:endParaRPr>
          </a:p>
          <a:p>
            <a:pPr marL="0" lvl="0" indent="0">
              <a:spcBef>
                <a:spcPts val="600"/>
              </a:spcBef>
              <a:buSzPts val="1800"/>
              <a:buNone/>
            </a:pPr>
            <a:endParaRPr lang="zh-CN" altLang="en-US" sz="1400" dirty="0">
              <a:solidFill>
                <a:srgbClr val="37474F"/>
              </a:solidFill>
            </a:endParaRPr>
          </a:p>
          <a:p>
            <a:pPr marL="0" lvl="0" indent="0">
              <a:spcBef>
                <a:spcPts val="600"/>
              </a:spcBef>
              <a:buSzPts val="1800"/>
              <a:buNone/>
            </a:pPr>
            <a:r>
              <a:rPr lang="en-US" altLang="zh-CN" sz="1400" dirty="0">
                <a:solidFill>
                  <a:srgbClr val="37474F"/>
                </a:solidFill>
              </a:rPr>
              <a:t>map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允许我们对集合中的每个元素应用一个函数：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000080"/>
                </a:solidFill>
              </a:rPr>
              <a:t>val</a:t>
            </a:r>
            <a:r>
              <a:rPr lang="en" sz="1400" dirty="0">
                <a:solidFill>
                  <a:srgbClr val="37474F"/>
                </a:solidFill>
              </a:rPr>
              <a:t> list = listOf(1, 2, 3)</a:t>
            </a: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37474F"/>
                </a:solidFill>
              </a:rPr>
              <a:t>list.map { it * it } </a:t>
            </a:r>
            <a:r>
              <a:rPr lang="en" sz="1400" dirty="0">
                <a:solidFill>
                  <a:srgbClr val="666666"/>
                </a:solidFill>
              </a:rPr>
              <a:t>// [1, 4, 9]</a:t>
            </a:r>
            <a:endParaRPr sz="14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sz="1400" dirty="0"/>
          </a:p>
        </p:txBody>
      </p:sp>
      <p:sp>
        <p:nvSpPr>
          <p:cNvPr id="100" name="Google Shape;100;p20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  <p:sp>
        <p:nvSpPr>
          <p:cNvPr id="101" name="Google Shape;101;p20"/>
          <p:cNvSpPr txBox="1"/>
          <p:nvPr/>
        </p:nvSpPr>
        <p:spPr>
          <a:xfrm>
            <a:off x="982275" y="3963780"/>
            <a:ext cx="5231100" cy="509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37474F"/>
                </a:solidFill>
                <a:latin typeface="JetBrains Mono"/>
                <a:cs typeface="JetBrains Mono"/>
                <a:sym typeface="Open Sans"/>
              </a:rPr>
              <a:t>map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dirty="0" err="1">
                <a:solidFill>
                  <a:srgbClr val="37474F"/>
                </a:solidFill>
                <a:latin typeface="JetBrains Mono"/>
                <a:cs typeface="JetBrains Mono"/>
                <a:sym typeface="Open Sans"/>
              </a:rPr>
              <a:t>forEach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之间的主要区别是什么？</a:t>
            </a:r>
            <a:endParaRPr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675" y="3694625"/>
            <a:ext cx="842075" cy="84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8326800" cy="16662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你可以将这两个函数</a:t>
            </a:r>
            <a:r>
              <a:rPr lang="zh-CN" altLang="en-US" sz="14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组合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起来，同时执行这两项操作：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80"/>
                </a:solidFill>
              </a:rPr>
              <a:t>val</a:t>
            </a:r>
            <a:r>
              <a:rPr lang="en" sz="1400" dirty="0">
                <a:solidFill>
                  <a:srgbClr val="37474F"/>
                </a:solidFill>
              </a:rPr>
              <a:t> list = listOf(1, 2, 3)</a:t>
            </a: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37474F"/>
                </a:solidFill>
              </a:rPr>
              <a:t>list.map { it * it }.map { it + 1 } </a:t>
            </a:r>
            <a:r>
              <a:rPr lang="en" sz="1400" dirty="0">
                <a:solidFill>
                  <a:srgbClr val="666666"/>
                </a:solidFill>
              </a:rPr>
              <a:t>// [2, 5, 10]</a:t>
            </a:r>
            <a:endParaRPr sz="14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400" dirty="0">
                <a:solidFill>
                  <a:srgbClr val="37474F"/>
                </a:solidFill>
              </a:rPr>
              <a:t>list.map { it * it + 1 } </a:t>
            </a:r>
            <a:r>
              <a:rPr lang="en" sz="1400" dirty="0">
                <a:solidFill>
                  <a:srgbClr val="666666"/>
                </a:solidFill>
              </a:rPr>
              <a:t>// [2, 5, 10]</a:t>
            </a:r>
            <a:endParaRPr sz="1400" dirty="0"/>
          </a:p>
        </p:txBody>
      </p:sp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292600" y="4359650"/>
            <a:ext cx="8326800" cy="4572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4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注意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：默认情况下，你可以使用序列来组合复杂函数，但请务必谨慎。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5EBD961-43CA-16CC-0003-4DDF90A45FB9}"/>
              </a:ext>
            </a:extLst>
          </p:cNvPr>
          <p:cNvGrpSpPr/>
          <p:nvPr/>
        </p:nvGrpSpPr>
        <p:grpSpPr>
          <a:xfrm>
            <a:off x="312560" y="3251061"/>
            <a:ext cx="5857350" cy="959987"/>
            <a:chOff x="312560" y="3251061"/>
            <a:chExt cx="5857350" cy="959987"/>
          </a:xfrm>
        </p:grpSpPr>
        <p:sp>
          <p:nvSpPr>
            <p:cNvPr id="110" name="Google Shape;110;p21"/>
            <p:cNvSpPr/>
            <p:nvPr/>
          </p:nvSpPr>
          <p:spPr>
            <a:xfrm>
              <a:off x="312560" y="3577805"/>
              <a:ext cx="924000" cy="30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8989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JetBrains Mono"/>
                  <a:ea typeface="JetBrains Mono"/>
                  <a:cs typeface="JetBrains Mono"/>
                  <a:sym typeface="JetBrains Mono"/>
                </a:rPr>
                <a:t>x</a:t>
              </a:r>
              <a:endParaRPr sz="1100"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11" name="Google Shape;111;p21"/>
            <p:cNvSpPr/>
            <p:nvPr/>
          </p:nvSpPr>
          <p:spPr>
            <a:xfrm>
              <a:off x="2024310" y="3251061"/>
              <a:ext cx="924000" cy="3081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x * x</a:t>
              </a:r>
              <a:endParaRPr sz="11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12" name="Google Shape;112;p21"/>
            <p:cNvSpPr/>
            <p:nvPr/>
          </p:nvSpPr>
          <p:spPr>
            <a:xfrm>
              <a:off x="3498748" y="3251061"/>
              <a:ext cx="924000" cy="3081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x + 1</a:t>
              </a:r>
              <a:endParaRPr sz="11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13" name="Google Shape;113;p21"/>
            <p:cNvSpPr/>
            <p:nvPr/>
          </p:nvSpPr>
          <p:spPr>
            <a:xfrm>
              <a:off x="2024310" y="3902948"/>
              <a:ext cx="2398500" cy="3081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lt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x * x and x + 1</a:t>
              </a:r>
              <a:endParaRPr sz="1100" dirty="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14" name="Google Shape;114;p21"/>
            <p:cNvSpPr/>
            <p:nvPr/>
          </p:nvSpPr>
          <p:spPr>
            <a:xfrm>
              <a:off x="4973210" y="3577805"/>
              <a:ext cx="1196700" cy="30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8989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JetBrains Mono"/>
                  <a:ea typeface="JetBrains Mono"/>
                  <a:cs typeface="JetBrains Mono"/>
                  <a:sym typeface="JetBrains Mono"/>
                </a:rPr>
                <a:t>x * x + 1</a:t>
              </a:r>
              <a:endParaRPr sz="1100"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cxnSp>
          <p:nvCxnSpPr>
            <p:cNvPr id="115" name="Google Shape;115;p21"/>
            <p:cNvCxnSpPr>
              <a:stCxn id="110" idx="0"/>
              <a:endCxn id="111" idx="1"/>
            </p:cNvCxnSpPr>
            <p:nvPr/>
          </p:nvCxnSpPr>
          <p:spPr>
            <a:xfrm rot="-5400000">
              <a:off x="1313060" y="2866505"/>
              <a:ext cx="172800" cy="12498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6" name="Google Shape;116;p21"/>
            <p:cNvCxnSpPr>
              <a:stCxn id="110" idx="2"/>
              <a:endCxn id="113" idx="1"/>
            </p:cNvCxnSpPr>
            <p:nvPr/>
          </p:nvCxnSpPr>
          <p:spPr>
            <a:xfrm rot="-5400000" flipH="1">
              <a:off x="1313960" y="3346505"/>
              <a:ext cx="171000" cy="12498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" name="Google Shape;117;p21"/>
            <p:cNvCxnSpPr>
              <a:stCxn id="111" idx="3"/>
              <a:endCxn id="112" idx="1"/>
            </p:cNvCxnSpPr>
            <p:nvPr/>
          </p:nvCxnSpPr>
          <p:spPr>
            <a:xfrm>
              <a:off x="2948310" y="3405111"/>
              <a:ext cx="550500" cy="600"/>
            </a:xfrm>
            <a:prstGeom prst="curvedConnector3">
              <a:avLst>
                <a:gd name="adj1" fmla="val 49994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8" name="Google Shape;118;p21"/>
            <p:cNvCxnSpPr>
              <a:stCxn id="112" idx="3"/>
              <a:endCxn id="114" idx="0"/>
            </p:cNvCxnSpPr>
            <p:nvPr/>
          </p:nvCxnSpPr>
          <p:spPr>
            <a:xfrm>
              <a:off x="4422748" y="3405111"/>
              <a:ext cx="1148700" cy="1728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9" name="Google Shape;119;p21"/>
            <p:cNvCxnSpPr>
              <a:stCxn id="113" idx="3"/>
              <a:endCxn id="114" idx="2"/>
            </p:cNvCxnSpPr>
            <p:nvPr/>
          </p:nvCxnSpPr>
          <p:spPr>
            <a:xfrm rot="10800000" flipH="1">
              <a:off x="4422810" y="3885998"/>
              <a:ext cx="1148700" cy="1710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37474F"/>
                </a:solidFill>
              </a:rPr>
              <a:t>filter</a:t>
            </a:r>
            <a:r>
              <a:rPr lang="e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返回一个仅包含符合给定谓词的元素的列表：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000080"/>
                </a:solidFill>
              </a:rPr>
              <a:t>val</a:t>
            </a:r>
            <a:r>
              <a:rPr lang="en" sz="1400" dirty="0">
                <a:solidFill>
                  <a:srgbClr val="37474F"/>
                </a:solidFill>
              </a:rPr>
              <a:t> list = listOf(1, 2, 3)</a:t>
            </a: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400" dirty="0">
                <a:solidFill>
                  <a:srgbClr val="37474F"/>
                </a:solidFill>
              </a:rPr>
              <a:t>list.filter { it % 2 == 0 } </a:t>
            </a:r>
            <a:r>
              <a:rPr lang="en" sz="1400" dirty="0">
                <a:solidFill>
                  <a:srgbClr val="666666"/>
                </a:solidFill>
              </a:rPr>
              <a:t>// [2]</a:t>
            </a:r>
            <a:endParaRPr sz="1400" dirty="0"/>
          </a:p>
        </p:txBody>
      </p:sp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我们的第三个重要函数 </a:t>
            </a:r>
            <a:r>
              <a:rPr lang="en-US" altLang="zh-CN" sz="1400" dirty="0">
                <a:solidFill>
                  <a:srgbClr val="37474F"/>
                </a:solidFill>
                <a:sym typeface="Open Sans"/>
              </a:rPr>
              <a:t>fold</a:t>
            </a: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会创建一个可变累加器，该累加器会在 </a:t>
            </a:r>
            <a:r>
              <a:rPr lang="en-US" altLang="zh-CN" sz="1400" dirty="0">
                <a:solidFill>
                  <a:srgbClr val="37474F"/>
                </a:solidFill>
                <a:sym typeface="Open Sans"/>
              </a:rPr>
              <a:t>for</a:t>
            </a: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循环的每一轮中更新，并返回一个值：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000080"/>
                </a:solidFill>
              </a:rPr>
              <a:t>val</a:t>
            </a:r>
            <a:r>
              <a:rPr lang="en" sz="1400" dirty="0">
                <a:solidFill>
                  <a:srgbClr val="37474F"/>
                </a:solidFill>
              </a:rPr>
              <a:t> list = listOf(1, 2, 3)</a:t>
            </a: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37474F"/>
                </a:solidFill>
              </a:rPr>
              <a:t>list.fold(0) { acc, x -&gt; acc + x } </a:t>
            </a:r>
            <a:r>
              <a:rPr lang="en" sz="1400" dirty="0">
                <a:solidFill>
                  <a:srgbClr val="666666"/>
                </a:solidFill>
              </a:rPr>
              <a:t>// 6</a:t>
            </a:r>
            <a:endParaRPr sz="14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你可以为任何类型实现 </a:t>
            </a:r>
            <a:r>
              <a:rPr lang="en-US" altLang="zh-CN" sz="1400" dirty="0">
                <a:solidFill>
                  <a:srgbClr val="37474F"/>
                </a:solidFill>
                <a:sym typeface="Open Sans"/>
              </a:rPr>
              <a:t>fold</a:t>
            </a: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函数，例如，你可以将一棵树折叠为字符串表示形式。</a:t>
            </a:r>
            <a:endParaRPr sz="1400" dirty="0"/>
          </a:p>
        </p:txBody>
      </p:sp>
      <p:sp>
        <p:nvSpPr>
          <p:cNvPr id="131" name="Google Shape;131;p23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此外还有右 </a:t>
            </a:r>
            <a:r>
              <a:rPr lang="en-US" altLang="zh-CN" sz="1100" dirty="0">
                <a:solidFill>
                  <a:srgbClr val="37474F"/>
                </a:solidFill>
                <a:sym typeface="Open Sans"/>
              </a:rPr>
              <a:t>fold</a:t>
            </a:r>
            <a:r>
              <a:rPr lang="en-US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和左 </a:t>
            </a:r>
            <a:r>
              <a:rPr lang="en-US" altLang="zh-CN" sz="1100" dirty="0">
                <a:solidFill>
                  <a:srgbClr val="37474F"/>
                </a:solidFill>
                <a:sym typeface="Open Sans"/>
              </a:rPr>
              <a:t>fold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。如果运算具有结合律：</a:t>
            </a:r>
            <a:r>
              <a:rPr lang="en-US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(a ○ b) ○ c = a ○ (b ○ c)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，则二者等价；但在其他情况下，它们会产生不同的结果。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list = </a:t>
            </a:r>
            <a:r>
              <a:rPr lang="en" sz="1100" i="1" dirty="0">
                <a:solidFill>
                  <a:srgbClr val="37474F"/>
                </a:solidFill>
              </a:rPr>
              <a:t>listOf</a:t>
            </a:r>
            <a:r>
              <a:rPr lang="en" sz="1100" dirty="0">
                <a:solidFill>
                  <a:srgbClr val="37474F"/>
                </a:solidFill>
              </a:rPr>
              <a:t>(1, 2, 3)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list.</a:t>
            </a:r>
            <a:r>
              <a:rPr lang="en" sz="1100" i="1" dirty="0">
                <a:solidFill>
                  <a:srgbClr val="37474F"/>
                </a:solidFill>
              </a:rPr>
              <a:t>fold</a:t>
            </a:r>
            <a:r>
              <a:rPr lang="en" sz="1100" dirty="0">
                <a:solidFill>
                  <a:srgbClr val="37474F"/>
                </a:solidFill>
              </a:rPr>
              <a:t>(0) { acc, x -&gt; acc + x } 	</a:t>
            </a:r>
            <a:r>
              <a:rPr lang="en" sz="1100" dirty="0">
                <a:solidFill>
                  <a:srgbClr val="666666"/>
                </a:solidFill>
              </a:rPr>
              <a:t>// (((0 + 1) + 2) + 3) = 6</a:t>
            </a:r>
            <a:endParaRPr sz="11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list.</a:t>
            </a:r>
            <a:r>
              <a:rPr lang="en" sz="1100" i="1" dirty="0">
                <a:solidFill>
                  <a:srgbClr val="37474F"/>
                </a:solidFill>
              </a:rPr>
              <a:t>foldRight</a:t>
            </a:r>
            <a:r>
              <a:rPr lang="en" sz="1100" dirty="0">
                <a:solidFill>
                  <a:srgbClr val="37474F"/>
                </a:solidFill>
              </a:rPr>
              <a:t>(0) { x, acc -&gt; acc + x } </a:t>
            </a:r>
            <a:r>
              <a:rPr lang="en" sz="1100" dirty="0">
                <a:solidFill>
                  <a:srgbClr val="666666"/>
                </a:solidFill>
              </a:rPr>
              <a:t>// (1 + (2 + (3 + 0))) = 6</a:t>
            </a:r>
            <a:endParaRPr sz="11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"PWND"</a:t>
            </a:r>
            <a:r>
              <a:rPr lang="en" sz="1100" dirty="0">
                <a:solidFill>
                  <a:srgbClr val="37474F"/>
                </a:solidFill>
              </a:rPr>
              <a:t>.</a:t>
            </a:r>
            <a:r>
              <a:rPr lang="en" sz="1100" i="1" dirty="0">
                <a:solidFill>
                  <a:srgbClr val="37474F"/>
                </a:solidFill>
              </a:rPr>
              <a:t>fold</a:t>
            </a:r>
            <a:r>
              <a:rPr lang="en" sz="1100" dirty="0">
                <a:solidFill>
                  <a:srgbClr val="37474F"/>
                </a:solidFill>
              </a:rPr>
              <a:t>(</a:t>
            </a:r>
            <a:r>
              <a:rPr lang="en" sz="1100" dirty="0">
                <a:solidFill>
                  <a:srgbClr val="008000"/>
                </a:solidFill>
              </a:rPr>
              <a:t>""</a:t>
            </a:r>
            <a:r>
              <a:rPr lang="en" sz="1100" dirty="0">
                <a:solidFill>
                  <a:srgbClr val="37474F"/>
                </a:solidFill>
              </a:rPr>
              <a:t>) { acc, x -&gt; </a:t>
            </a:r>
            <a:r>
              <a:rPr lang="en" sz="1100" dirty="0">
                <a:solidFill>
                  <a:srgbClr val="008000"/>
                </a:solidFill>
              </a:rPr>
              <a:t>"${acc}${acc}$x"</a:t>
            </a:r>
            <a:r>
              <a:rPr lang="en" sz="1100" dirty="0">
                <a:solidFill>
                  <a:srgbClr val="37474F"/>
                </a:solidFill>
              </a:rPr>
              <a:t> } 		</a:t>
            </a:r>
            <a:r>
              <a:rPr lang="en" sz="1100" dirty="0"/>
              <a:t>// PPWPPWNPPWPPWND</a:t>
            </a:r>
            <a:endParaRPr sz="1100" dirty="0"/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"PWND"</a:t>
            </a:r>
            <a:r>
              <a:rPr lang="en" sz="1100" dirty="0">
                <a:solidFill>
                  <a:srgbClr val="37474F"/>
                </a:solidFill>
              </a:rPr>
              <a:t>.</a:t>
            </a:r>
            <a:r>
              <a:rPr lang="en" sz="1100" i="1" dirty="0">
                <a:solidFill>
                  <a:srgbClr val="37474F"/>
                </a:solidFill>
              </a:rPr>
              <a:t>foldRight</a:t>
            </a:r>
            <a:r>
              <a:rPr lang="en" sz="1100" dirty="0">
                <a:solidFill>
                  <a:srgbClr val="37474F"/>
                </a:solidFill>
              </a:rPr>
              <a:t>(</a:t>
            </a:r>
            <a:r>
              <a:rPr lang="en" sz="1100" dirty="0">
                <a:solidFill>
                  <a:srgbClr val="008000"/>
                </a:solidFill>
              </a:rPr>
              <a:t>""</a:t>
            </a:r>
            <a:r>
              <a:rPr lang="en" sz="1100" dirty="0">
                <a:solidFill>
                  <a:srgbClr val="37474F"/>
                </a:solidFill>
              </a:rPr>
              <a:t>) { x, acc -&gt; </a:t>
            </a:r>
            <a:r>
              <a:rPr lang="en" sz="1100" dirty="0">
                <a:solidFill>
                  <a:srgbClr val="008000"/>
                </a:solidFill>
              </a:rPr>
              <a:t>"${acc}${acc}$x"</a:t>
            </a:r>
            <a:r>
              <a:rPr lang="en" sz="1100" dirty="0">
                <a:solidFill>
                  <a:srgbClr val="37474F"/>
                </a:solidFill>
              </a:rPr>
              <a:t> } 	</a:t>
            </a:r>
            <a:r>
              <a:rPr lang="en" sz="1100" dirty="0"/>
              <a:t>// DDNDDNWDDNDDNWP</a:t>
            </a:r>
            <a:endParaRPr sz="1100" dirty="0"/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请注意 </a:t>
            </a:r>
            <a:r>
              <a:rPr lang="en-US" altLang="zh-CN" sz="1100" dirty="0">
                <a:solidFill>
                  <a:srgbClr val="37474F"/>
                </a:solidFill>
                <a:sym typeface="Open Sans"/>
              </a:rPr>
              <a:t>lambda</a:t>
            </a:r>
            <a:r>
              <a:rPr lang="en-US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表达式中参数的顺序：</a:t>
            </a:r>
            <a:endParaRPr sz="11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list.</a:t>
            </a:r>
            <a:r>
              <a:rPr lang="en" sz="1100" i="1" dirty="0">
                <a:solidFill>
                  <a:srgbClr val="37474F"/>
                </a:solidFill>
              </a:rPr>
              <a:t>fold</a:t>
            </a:r>
            <a:r>
              <a:rPr lang="en" sz="1100" dirty="0">
                <a:solidFill>
                  <a:srgbClr val="37474F"/>
                </a:solidFill>
              </a:rPr>
              <a:t>(0) { acc, x -&gt; acc - x } </a:t>
            </a:r>
            <a:r>
              <a:rPr lang="en" sz="1100" dirty="0">
                <a:solidFill>
                  <a:srgbClr val="666666"/>
                </a:solidFill>
              </a:rPr>
              <a:t>// (((0 - 1) - 2) - 3) = -6</a:t>
            </a:r>
            <a:endParaRPr sz="11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list.</a:t>
            </a:r>
            <a:r>
              <a:rPr lang="en" sz="1100" i="1" dirty="0">
                <a:solidFill>
                  <a:srgbClr val="37474F"/>
                </a:solidFill>
              </a:rPr>
              <a:t>foldRight</a:t>
            </a:r>
            <a:r>
              <a:rPr lang="en" sz="1100" dirty="0">
                <a:solidFill>
                  <a:srgbClr val="37474F"/>
                </a:solidFill>
              </a:rPr>
              <a:t>(0) { x, acc -&gt; acc - x } </a:t>
            </a:r>
            <a:r>
              <a:rPr lang="en" sz="1100" dirty="0">
                <a:solidFill>
                  <a:srgbClr val="666666"/>
                </a:solidFill>
              </a:rPr>
              <a:t>// (-1 + (-2 + (0 - 3))) = -6</a:t>
            </a:r>
            <a:endParaRPr sz="1100" dirty="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990000"/>
                </a:solidFill>
              </a:rPr>
              <a:t>list.</a:t>
            </a:r>
            <a:r>
              <a:rPr lang="en" sz="1100" i="1" dirty="0">
                <a:solidFill>
                  <a:srgbClr val="990000"/>
                </a:solidFill>
              </a:rPr>
              <a:t>foldRight</a:t>
            </a:r>
            <a:r>
              <a:rPr lang="en" sz="1100" dirty="0">
                <a:solidFill>
                  <a:srgbClr val="990000"/>
                </a:solidFill>
              </a:rPr>
              <a:t>(0) { acc, x -&gt; acc - x } // (1 - (2 - (3 - 0))) = 2</a:t>
            </a:r>
            <a:endParaRPr sz="1100" dirty="0">
              <a:solidFill>
                <a:srgbClr val="99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100" dirty="0"/>
          </a:p>
        </p:txBody>
      </p:sp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string = </a:t>
            </a:r>
            <a:r>
              <a:rPr lang="en" sz="1100" dirty="0">
                <a:solidFill>
                  <a:srgbClr val="008000"/>
                </a:solidFill>
              </a:rPr>
              <a:t>"""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    One-one was a race horse.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    Two-two was one too.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    One-one won one race.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    Two-two won one too. 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"""</a:t>
            </a:r>
            <a:r>
              <a:rPr lang="en" sz="1100" dirty="0">
                <a:solidFill>
                  <a:srgbClr val="37474F"/>
                </a:solidFill>
              </a:rPr>
              <a:t>.trimIndent()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result = string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.split(</a:t>
            </a:r>
            <a:r>
              <a:rPr lang="en" sz="1100" dirty="0">
                <a:solidFill>
                  <a:srgbClr val="008000"/>
                </a:solidFill>
              </a:rPr>
              <a:t>" "</a:t>
            </a:r>
            <a:r>
              <a:rPr lang="en" sz="1100" dirty="0">
                <a:solidFill>
                  <a:srgbClr val="37474F"/>
                </a:solidFill>
              </a:rPr>
              <a:t>, </a:t>
            </a:r>
            <a:r>
              <a:rPr lang="en" sz="1100" dirty="0">
                <a:solidFill>
                  <a:srgbClr val="008000"/>
                </a:solidFill>
              </a:rPr>
              <a:t>"-"</a:t>
            </a:r>
            <a:r>
              <a:rPr lang="en" sz="1100" dirty="0">
                <a:solidFill>
                  <a:srgbClr val="37474F"/>
                </a:solidFill>
              </a:rPr>
              <a:t>, </a:t>
            </a:r>
            <a:r>
              <a:rPr lang="en" sz="1100" dirty="0">
                <a:solidFill>
                  <a:srgbClr val="008000"/>
                </a:solidFill>
              </a:rPr>
              <a:t>"."</a:t>
            </a:r>
            <a:r>
              <a:rPr lang="en" sz="1100" dirty="0">
                <a:solidFill>
                  <a:srgbClr val="37474F"/>
                </a:solidFill>
              </a:rPr>
              <a:t>, System.lineSeparator())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.filter { it.isNotEmpty()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.map { it.lowercase()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.groupingBy { it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.eachCount()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.toList()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.sortedBy { (_, count) -&gt; count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.reversed()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143" name="Google Shape;143;p25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8326800" cy="19311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0080"/>
                </a:solidFill>
              </a:rPr>
              <a:t>val</a:t>
            </a:r>
            <a:r>
              <a:rPr lang="en" sz="1100">
                <a:solidFill>
                  <a:srgbClr val="37474F"/>
                </a:solidFill>
              </a:rPr>
              <a:t> string = </a:t>
            </a:r>
            <a:r>
              <a:rPr lang="en" sz="1100">
                <a:solidFill>
                  <a:srgbClr val="008000"/>
                </a:solidFill>
              </a:rPr>
              <a:t>"""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8000"/>
                </a:solidFill>
              </a:rPr>
              <a:t>    One-one was a race horse.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8000"/>
                </a:solidFill>
              </a:rPr>
              <a:t>    Two-two was one too.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8000"/>
                </a:solidFill>
              </a:rPr>
              <a:t>    One-one won one race.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8000"/>
                </a:solidFill>
              </a:rPr>
              <a:t>    Two-two won one too. 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8000"/>
                </a:solidFill>
              </a:rPr>
              <a:t>"""</a:t>
            </a:r>
            <a:r>
              <a:rPr lang="en" sz="1100">
                <a:solidFill>
                  <a:srgbClr val="37474F"/>
                </a:solidFill>
              </a:rPr>
              <a:t>.trimIndent()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0080"/>
                </a:solidFill>
              </a:rPr>
              <a:t>val</a:t>
            </a:r>
            <a:r>
              <a:rPr lang="en" sz="1100">
                <a:solidFill>
                  <a:srgbClr val="37474F"/>
                </a:solidFill>
              </a:rPr>
              <a:t> result = string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    </a:t>
            </a:r>
            <a:r>
              <a:rPr lang="en" sz="1100">
                <a:solidFill>
                  <a:srgbClr val="37474F"/>
                </a:solidFill>
                <a:highlight>
                  <a:srgbClr val="B6D7A8"/>
                </a:highlight>
              </a:rPr>
              <a:t>.split(</a:t>
            </a:r>
            <a:r>
              <a:rPr lang="en" sz="1100">
                <a:solidFill>
                  <a:srgbClr val="008000"/>
                </a:solidFill>
                <a:highlight>
                  <a:srgbClr val="B6D7A8"/>
                </a:highlight>
              </a:rPr>
              <a:t>" "</a:t>
            </a:r>
            <a:r>
              <a:rPr lang="en" sz="1100">
                <a:solidFill>
                  <a:srgbClr val="37474F"/>
                </a:solidFill>
                <a:highlight>
                  <a:srgbClr val="B6D7A8"/>
                </a:highlight>
              </a:rPr>
              <a:t>, </a:t>
            </a:r>
            <a:r>
              <a:rPr lang="en" sz="1100">
                <a:solidFill>
                  <a:srgbClr val="008000"/>
                </a:solidFill>
                <a:highlight>
                  <a:srgbClr val="B6D7A8"/>
                </a:highlight>
              </a:rPr>
              <a:t>"-"</a:t>
            </a:r>
            <a:r>
              <a:rPr lang="en" sz="1100">
                <a:solidFill>
                  <a:srgbClr val="37474F"/>
                </a:solidFill>
                <a:highlight>
                  <a:srgbClr val="B6D7A8"/>
                </a:highlight>
              </a:rPr>
              <a:t>, </a:t>
            </a:r>
            <a:r>
              <a:rPr lang="en" sz="1100">
                <a:solidFill>
                  <a:srgbClr val="008000"/>
                </a:solidFill>
                <a:highlight>
                  <a:srgbClr val="B6D7A8"/>
                </a:highlight>
              </a:rPr>
              <a:t>"."</a:t>
            </a:r>
            <a:r>
              <a:rPr lang="en" sz="1100">
                <a:solidFill>
                  <a:srgbClr val="37474F"/>
                </a:solidFill>
                <a:highlight>
                  <a:srgbClr val="B6D7A8"/>
                </a:highlight>
              </a:rPr>
              <a:t>, System.lineSeparator())</a:t>
            </a:r>
            <a:r>
              <a:rPr lang="en" sz="1100">
                <a:solidFill>
                  <a:srgbClr val="37474F"/>
                </a:solidFill>
              </a:rPr>
              <a:t>  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1100"/>
          </a:p>
        </p:txBody>
      </p:sp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  <p:sp>
        <p:nvSpPr>
          <p:cNvPr id="150" name="Google Shape;150;p26"/>
          <p:cNvSpPr txBox="1">
            <a:spLocks noGrp="1"/>
          </p:cNvSpPr>
          <p:nvPr>
            <p:ph type="body" idx="1"/>
          </p:nvPr>
        </p:nvSpPr>
        <p:spPr>
          <a:xfrm>
            <a:off x="292600" y="3340875"/>
            <a:ext cx="7022700" cy="572400"/>
          </a:xfrm>
          <a:prstGeom prst="rect">
            <a:avLst/>
          </a:prstGeom>
        </p:spPr>
        <p:txBody>
          <a:bodyPr spcFirstLastPara="1" wrap="square" lIns="3200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7474F"/>
                </a:solidFill>
              </a:rPr>
              <a:t>[One, one, was, a, race, horse, , Two, two, was, one, too, , One, one, won, one, race, , Two, two, won, one, too, , ]</a:t>
            </a:r>
            <a:endParaRPr sz="1100" dirty="0">
              <a:solidFill>
                <a:srgbClr val="00008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/>
        </p:nvSpPr>
        <p:spPr>
          <a:xfrm>
            <a:off x="292600" y="3508575"/>
            <a:ext cx="664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00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[One, one, was, a, race, horse, Two, two, was, one, too, One, one, won, one, race, Two, two, won, one, too]</a:t>
            </a:r>
            <a:endParaRPr sz="1100" b="0" i="0" u="none" strike="noStrike" cap="none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56" name="Google Shape;156;p27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8326800" cy="1490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string = </a:t>
            </a:r>
            <a:r>
              <a:rPr lang="en" sz="1100" dirty="0">
                <a:solidFill>
                  <a:srgbClr val="008000"/>
                </a:solidFill>
              </a:rPr>
              <a:t>"""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    One-one was a race horse.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    Two-two was one too.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    One-one won one race.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    Two-two won one too. 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"""</a:t>
            </a:r>
            <a:r>
              <a:rPr lang="en" sz="1100" dirty="0">
                <a:solidFill>
                  <a:srgbClr val="37474F"/>
                </a:solidFill>
              </a:rPr>
              <a:t>.trimIndent()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result = string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.split(</a:t>
            </a:r>
            <a:r>
              <a:rPr lang="en" sz="1100" dirty="0">
                <a:solidFill>
                  <a:srgbClr val="008000"/>
                </a:solidFill>
              </a:rPr>
              <a:t>" "</a:t>
            </a:r>
            <a:r>
              <a:rPr lang="en" sz="1100" dirty="0">
                <a:solidFill>
                  <a:srgbClr val="37474F"/>
                </a:solidFill>
              </a:rPr>
              <a:t>, </a:t>
            </a:r>
            <a:r>
              <a:rPr lang="en" sz="1100" dirty="0">
                <a:solidFill>
                  <a:srgbClr val="008000"/>
                </a:solidFill>
              </a:rPr>
              <a:t>"-"</a:t>
            </a:r>
            <a:r>
              <a:rPr lang="en" sz="1100" dirty="0">
                <a:solidFill>
                  <a:srgbClr val="37474F"/>
                </a:solidFill>
              </a:rPr>
              <a:t>, </a:t>
            </a:r>
            <a:r>
              <a:rPr lang="en" sz="1100" dirty="0">
                <a:solidFill>
                  <a:srgbClr val="008000"/>
                </a:solidFill>
              </a:rPr>
              <a:t>"."</a:t>
            </a:r>
            <a:r>
              <a:rPr lang="en" sz="1100" dirty="0">
                <a:solidFill>
                  <a:srgbClr val="37474F"/>
                </a:solidFill>
              </a:rPr>
              <a:t>, System.lineSeparator())  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7474F"/>
                </a:solidFill>
                <a:highlight>
                  <a:srgbClr val="B6D7A8"/>
                </a:highlight>
              </a:rPr>
              <a:t>.filter { it.isNotEmpty() }</a:t>
            </a:r>
            <a:endParaRPr sz="1100" dirty="0">
              <a:solidFill>
                <a:srgbClr val="37474F"/>
              </a:solidFill>
              <a:highlight>
                <a:srgbClr val="B6D7A8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157" name="Google Shape;157;p27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/>
        </p:nvSpPr>
        <p:spPr>
          <a:xfrm>
            <a:off x="292600" y="3717700"/>
            <a:ext cx="6273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00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[one, one, was, a, race, horse, two, two, was, one, too, one, one, won, one, race, two, two, won, one, too]</a:t>
            </a:r>
            <a:endParaRPr sz="1100" b="0" i="0" u="none" strike="noStrike" cap="none" dirty="0">
              <a:solidFill>
                <a:srgbClr val="000000"/>
              </a:solidFill>
              <a:latin typeface="HONOR Sans CN" panose="02000500000000000000" pitchFamily="2" charset="-122"/>
              <a:ea typeface="HONOR Sans CN" panose="02000500000000000000" pitchFamily="2" charset="-122"/>
              <a:sym typeface="Arial"/>
            </a:endParaRPr>
          </a:p>
        </p:txBody>
      </p:sp>
      <p:sp>
        <p:nvSpPr>
          <p:cNvPr id="163" name="Google Shape;163;p28"/>
          <p:cNvSpPr txBox="1">
            <a:spLocks noGrp="1"/>
          </p:cNvSpPr>
          <p:nvPr>
            <p:ph type="body" idx="1"/>
          </p:nvPr>
        </p:nvSpPr>
        <p:spPr>
          <a:xfrm>
            <a:off x="292600" y="1335024"/>
            <a:ext cx="8326800" cy="12366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0080"/>
                </a:solidFill>
              </a:rPr>
              <a:t>val</a:t>
            </a:r>
            <a:r>
              <a:rPr lang="en" sz="1100">
                <a:solidFill>
                  <a:srgbClr val="37474F"/>
                </a:solidFill>
              </a:rPr>
              <a:t> string = </a:t>
            </a:r>
            <a:r>
              <a:rPr lang="en" sz="1100">
                <a:solidFill>
                  <a:srgbClr val="008000"/>
                </a:solidFill>
              </a:rPr>
              <a:t>"""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8000"/>
                </a:solidFill>
              </a:rPr>
              <a:t>    One-one was a race horse.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8000"/>
                </a:solidFill>
              </a:rPr>
              <a:t>    Two-two was one too.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8000"/>
                </a:solidFill>
              </a:rPr>
              <a:t>    One-one won one race.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8000"/>
                </a:solidFill>
              </a:rPr>
              <a:t>    Two-two won one too. 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8000"/>
                </a:solidFill>
              </a:rPr>
              <a:t>"""</a:t>
            </a:r>
            <a:r>
              <a:rPr lang="en" sz="1100">
                <a:solidFill>
                  <a:srgbClr val="37474F"/>
                </a:solidFill>
              </a:rPr>
              <a:t>.trimIndent()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0080"/>
                </a:solidFill>
              </a:rPr>
              <a:t>val</a:t>
            </a:r>
            <a:r>
              <a:rPr lang="en" sz="1100">
                <a:solidFill>
                  <a:srgbClr val="37474F"/>
                </a:solidFill>
              </a:rPr>
              <a:t> result = string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    .split(</a:t>
            </a:r>
            <a:r>
              <a:rPr lang="en" sz="1100">
                <a:solidFill>
                  <a:srgbClr val="008000"/>
                </a:solidFill>
              </a:rPr>
              <a:t>" "</a:t>
            </a:r>
            <a:r>
              <a:rPr lang="en" sz="1100">
                <a:solidFill>
                  <a:srgbClr val="37474F"/>
                </a:solidFill>
              </a:rPr>
              <a:t>, </a:t>
            </a:r>
            <a:r>
              <a:rPr lang="en" sz="1100">
                <a:solidFill>
                  <a:srgbClr val="008000"/>
                </a:solidFill>
              </a:rPr>
              <a:t>"-"</a:t>
            </a:r>
            <a:r>
              <a:rPr lang="en" sz="1100">
                <a:solidFill>
                  <a:srgbClr val="37474F"/>
                </a:solidFill>
              </a:rPr>
              <a:t>, </a:t>
            </a:r>
            <a:r>
              <a:rPr lang="en" sz="1100">
                <a:solidFill>
                  <a:srgbClr val="008000"/>
                </a:solidFill>
              </a:rPr>
              <a:t>"."</a:t>
            </a:r>
            <a:r>
              <a:rPr lang="en" sz="1100">
                <a:solidFill>
                  <a:srgbClr val="37474F"/>
                </a:solidFill>
              </a:rPr>
              <a:t>, System.lineSeparator())  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    .filter { it.isNotEmpty() }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    </a:t>
            </a:r>
            <a:r>
              <a:rPr lang="en" sz="1100">
                <a:solidFill>
                  <a:srgbClr val="37474F"/>
                </a:solidFill>
                <a:highlight>
                  <a:srgbClr val="B6D7A8"/>
                </a:highlight>
              </a:rPr>
              <a:t>.map { it.lowercase() }</a:t>
            </a:r>
            <a:endParaRPr sz="1100">
              <a:solidFill>
                <a:srgbClr val="37474F"/>
              </a:solidFill>
              <a:highlight>
                <a:srgbClr val="B6D7A8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1100"/>
          </a:p>
        </p:txBody>
      </p:sp>
      <p:sp>
        <p:nvSpPr>
          <p:cNvPr id="164" name="Google Shape;164;p28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/>
        </p:nvSpPr>
        <p:spPr>
          <a:xfrm>
            <a:off x="620400" y="4322875"/>
            <a:ext cx="6694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{one=7, was=2, a=1, race=2, horse=1, two=4, too=2, won=2}</a:t>
            </a:r>
            <a:endParaRPr sz="1100" i="0" u="none" strike="noStrike" cap="none" dirty="0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0" name="Google Shape;170;p29"/>
          <p:cNvSpPr txBox="1">
            <a:spLocks noGrp="1"/>
          </p:cNvSpPr>
          <p:nvPr>
            <p:ph type="body" idx="4294967295"/>
          </p:nvPr>
        </p:nvSpPr>
        <p:spPr>
          <a:xfrm>
            <a:off x="4713300" y="3101625"/>
            <a:ext cx="45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altLang="en-US" sz="1400" b="1" dirty="0">
                <a:latin typeface="HONOR Sans CN" panose="02000500000000000000" pitchFamily="2" charset="-122"/>
                <a:ea typeface="HONOR Sans CN" panose="02000500000000000000" pitchFamily="2" charset="-122"/>
              </a:rPr>
              <a:t>或</a:t>
            </a:r>
            <a:endParaRPr sz="1200" b="1" dirty="0">
              <a:solidFill>
                <a:srgbClr val="666666"/>
              </a:solidFill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 b="1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 b="1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 b="1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1" name="Google Shape;171;p29"/>
          <p:cNvSpPr txBox="1">
            <a:spLocks noGrp="1"/>
          </p:cNvSpPr>
          <p:nvPr>
            <p:ph type="body" idx="4294967295"/>
          </p:nvPr>
        </p:nvSpPr>
        <p:spPr>
          <a:xfrm>
            <a:off x="5289900" y="2660904"/>
            <a:ext cx="3854100" cy="14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.split(...)  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.filter { it.isNotEmpty() }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7474F"/>
                </a:solidFill>
                <a:highlight>
                  <a:srgbClr val="B6D7A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.groupBy({ it.lowercase() }, { it })</a:t>
            </a:r>
            <a:endParaRPr sz="1100" dirty="0">
              <a:solidFill>
                <a:srgbClr val="37474F"/>
              </a:solidFill>
              <a:highlight>
                <a:srgbClr val="B6D7A8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7474F"/>
                </a:solidFill>
                <a:highlight>
                  <a:srgbClr val="B6D7A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.mapValues { (key, value) -&gt;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7474F"/>
                </a:solidFill>
                <a:highlight>
                  <a:srgbClr val="B6D7A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value.size</a:t>
            </a:r>
            <a:endParaRPr sz="1100" dirty="0">
              <a:solidFill>
                <a:srgbClr val="37474F"/>
              </a:solidFill>
              <a:highlight>
                <a:srgbClr val="B6D7A8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1100" dirty="0">
                <a:solidFill>
                  <a:srgbClr val="37474F"/>
                </a:solidFill>
                <a:highlight>
                  <a:srgbClr val="B6D7A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dirty="0">
              <a:solidFill>
                <a:srgbClr val="37474F"/>
              </a:solidFill>
              <a:highlight>
                <a:srgbClr val="B6D7A8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1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2" name="Google Shape;172;p29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4509300" cy="29169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string = </a:t>
            </a:r>
            <a:r>
              <a:rPr lang="en" sz="1100" dirty="0">
                <a:solidFill>
                  <a:srgbClr val="008000"/>
                </a:solidFill>
              </a:rPr>
              <a:t>"""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    One-one was a race horse.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    Two-two was one too.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    One-one won one race.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    Two-two won one too. 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"""</a:t>
            </a:r>
            <a:r>
              <a:rPr lang="en" sz="1100" dirty="0">
                <a:solidFill>
                  <a:srgbClr val="37474F"/>
                </a:solidFill>
              </a:rPr>
              <a:t>.trimIndent()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result = string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.split(</a:t>
            </a:r>
            <a:r>
              <a:rPr lang="en" sz="1100" dirty="0">
                <a:solidFill>
                  <a:srgbClr val="008000"/>
                </a:solidFill>
              </a:rPr>
              <a:t>" "</a:t>
            </a:r>
            <a:r>
              <a:rPr lang="en" sz="1100" dirty="0">
                <a:solidFill>
                  <a:srgbClr val="37474F"/>
                </a:solidFill>
              </a:rPr>
              <a:t>, </a:t>
            </a:r>
            <a:r>
              <a:rPr lang="en" sz="1100" dirty="0">
                <a:solidFill>
                  <a:srgbClr val="008000"/>
                </a:solidFill>
              </a:rPr>
              <a:t>"-"</a:t>
            </a:r>
            <a:r>
              <a:rPr lang="en" sz="1100" dirty="0">
                <a:solidFill>
                  <a:srgbClr val="37474F"/>
                </a:solidFill>
              </a:rPr>
              <a:t>, </a:t>
            </a:r>
            <a:r>
              <a:rPr lang="en" sz="1100" dirty="0">
                <a:solidFill>
                  <a:srgbClr val="008000"/>
                </a:solidFill>
              </a:rPr>
              <a:t>"."</a:t>
            </a:r>
            <a:r>
              <a:rPr lang="en" sz="1100" dirty="0">
                <a:solidFill>
                  <a:srgbClr val="37474F"/>
                </a:solidFill>
              </a:rPr>
              <a:t>, System.lineSeparator())  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.filter { it.isNotEmpty()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.map { it.lowercase()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7474F"/>
                </a:solidFill>
                <a:highlight>
                  <a:srgbClr val="B6D7A8"/>
                </a:highlight>
              </a:rPr>
              <a:t>.groupingBy { it }</a:t>
            </a:r>
            <a:endParaRPr sz="1100" dirty="0">
              <a:solidFill>
                <a:srgbClr val="37474F"/>
              </a:solidFill>
              <a:highlight>
                <a:srgbClr val="B6D7A8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7474F"/>
                </a:solidFill>
                <a:highlight>
                  <a:srgbClr val="B6D7A8"/>
                </a:highlight>
              </a:rPr>
              <a:t>.eachCount()</a:t>
            </a:r>
            <a:endParaRPr sz="1100" dirty="0">
              <a:solidFill>
                <a:srgbClr val="37474F"/>
              </a:solidFill>
              <a:highlight>
                <a:srgbClr val="B6D7A8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1100" dirty="0"/>
          </a:p>
        </p:txBody>
      </p:sp>
      <p:sp>
        <p:nvSpPr>
          <p:cNvPr id="173" name="Google Shape;173;p29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/>
        </p:nvSpPr>
        <p:spPr>
          <a:xfrm>
            <a:off x="292600" y="4270325"/>
            <a:ext cx="575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00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[(one, 7), (was, 2), (a, 1), (race, 2), (horse, 1), (two, 4), (too, 2), (won, 2)]</a:t>
            </a:r>
            <a:endParaRPr sz="1100" i="0" u="none" strike="noStrike" cap="none" dirty="0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9" name="Google Shape;179;p30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8326800" cy="22038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0080"/>
                </a:solidFill>
              </a:rPr>
              <a:t>val</a:t>
            </a:r>
            <a:r>
              <a:rPr lang="en" sz="1100">
                <a:solidFill>
                  <a:srgbClr val="37474F"/>
                </a:solidFill>
              </a:rPr>
              <a:t> string = </a:t>
            </a:r>
            <a:r>
              <a:rPr lang="en" sz="1100">
                <a:solidFill>
                  <a:srgbClr val="008000"/>
                </a:solidFill>
              </a:rPr>
              <a:t>"""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8000"/>
                </a:solidFill>
              </a:rPr>
              <a:t>    One-one was a race horse.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8000"/>
                </a:solidFill>
              </a:rPr>
              <a:t>    Two-two was one too.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8000"/>
                </a:solidFill>
              </a:rPr>
              <a:t>    One-one won one race.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8000"/>
                </a:solidFill>
              </a:rPr>
              <a:t>    Two-two won one too. 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8000"/>
                </a:solidFill>
              </a:rPr>
              <a:t>"""</a:t>
            </a:r>
            <a:r>
              <a:rPr lang="en" sz="1100">
                <a:solidFill>
                  <a:srgbClr val="37474F"/>
                </a:solidFill>
              </a:rPr>
              <a:t>.trimIndent()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000080"/>
                </a:solidFill>
              </a:rPr>
              <a:t>val</a:t>
            </a:r>
            <a:r>
              <a:rPr lang="en" sz="1100">
                <a:solidFill>
                  <a:srgbClr val="37474F"/>
                </a:solidFill>
              </a:rPr>
              <a:t> result = string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    .split(</a:t>
            </a:r>
            <a:r>
              <a:rPr lang="en" sz="1100">
                <a:solidFill>
                  <a:srgbClr val="008000"/>
                </a:solidFill>
              </a:rPr>
              <a:t>" "</a:t>
            </a:r>
            <a:r>
              <a:rPr lang="en" sz="1100">
                <a:solidFill>
                  <a:srgbClr val="37474F"/>
                </a:solidFill>
              </a:rPr>
              <a:t>, </a:t>
            </a:r>
            <a:r>
              <a:rPr lang="en" sz="1100">
                <a:solidFill>
                  <a:srgbClr val="008000"/>
                </a:solidFill>
              </a:rPr>
              <a:t>"-"</a:t>
            </a:r>
            <a:r>
              <a:rPr lang="en" sz="1100">
                <a:solidFill>
                  <a:srgbClr val="37474F"/>
                </a:solidFill>
              </a:rPr>
              <a:t>, </a:t>
            </a:r>
            <a:r>
              <a:rPr lang="en" sz="1100">
                <a:solidFill>
                  <a:srgbClr val="008000"/>
                </a:solidFill>
              </a:rPr>
              <a:t>"."</a:t>
            </a:r>
            <a:r>
              <a:rPr lang="en" sz="1100">
                <a:solidFill>
                  <a:srgbClr val="37474F"/>
                </a:solidFill>
              </a:rPr>
              <a:t>, System.lineSeparator())  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    .filter { it.isNotEmpty() }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    .map { it.lowercase() }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    .groupingBy { it }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    .eachCount()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    </a:t>
            </a:r>
            <a:r>
              <a:rPr lang="en" sz="1100">
                <a:solidFill>
                  <a:srgbClr val="37474F"/>
                </a:solidFill>
                <a:highlight>
                  <a:srgbClr val="B6D7A8"/>
                </a:highlight>
              </a:rPr>
              <a:t>.toList()</a:t>
            </a:r>
            <a:endParaRPr sz="1100">
              <a:solidFill>
                <a:srgbClr val="37474F"/>
              </a:solidFill>
              <a:highlight>
                <a:srgbClr val="B6D7A8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1100"/>
          </a:p>
        </p:txBody>
      </p:sp>
      <p:sp>
        <p:nvSpPr>
          <p:cNvPr id="180" name="Google Shape;180;p30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/>
        </p:nvSpPr>
        <p:spPr>
          <a:xfrm>
            <a:off x="292600" y="4481775"/>
            <a:ext cx="7463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00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[(a, 1), (horse, 1), (was, 2), (race, 2), (too, 2), (won, 2), (two, 4), (one, 7)]</a:t>
            </a:r>
            <a:endParaRPr sz="1100" i="0" u="none" strike="noStrike" cap="none" dirty="0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6" name="Google Shape;186;p31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8326800" cy="22971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string = </a:t>
            </a:r>
            <a:r>
              <a:rPr lang="en" sz="1100" dirty="0">
                <a:solidFill>
                  <a:srgbClr val="008000"/>
                </a:solidFill>
              </a:rPr>
              <a:t>"""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    One-one was a race horse.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    Two-two was one too.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    One-one won one race.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    Two-two won one too. 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"""</a:t>
            </a:r>
            <a:r>
              <a:rPr lang="en" sz="1100" dirty="0">
                <a:solidFill>
                  <a:srgbClr val="37474F"/>
                </a:solidFill>
              </a:rPr>
              <a:t>.trimIndent()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result = string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.split(</a:t>
            </a:r>
            <a:r>
              <a:rPr lang="en" sz="1100" dirty="0">
                <a:solidFill>
                  <a:srgbClr val="008000"/>
                </a:solidFill>
              </a:rPr>
              <a:t>" "</a:t>
            </a:r>
            <a:r>
              <a:rPr lang="en" sz="1100" dirty="0">
                <a:solidFill>
                  <a:srgbClr val="37474F"/>
                </a:solidFill>
              </a:rPr>
              <a:t>, </a:t>
            </a:r>
            <a:r>
              <a:rPr lang="en" sz="1100" dirty="0">
                <a:solidFill>
                  <a:srgbClr val="008000"/>
                </a:solidFill>
              </a:rPr>
              <a:t>"-"</a:t>
            </a:r>
            <a:r>
              <a:rPr lang="en" sz="1100" dirty="0">
                <a:solidFill>
                  <a:srgbClr val="37474F"/>
                </a:solidFill>
              </a:rPr>
              <a:t>, </a:t>
            </a:r>
            <a:r>
              <a:rPr lang="en" sz="1100" dirty="0">
                <a:solidFill>
                  <a:srgbClr val="008000"/>
                </a:solidFill>
              </a:rPr>
              <a:t>"."</a:t>
            </a:r>
            <a:r>
              <a:rPr lang="en" sz="1100" dirty="0">
                <a:solidFill>
                  <a:srgbClr val="37474F"/>
                </a:solidFill>
              </a:rPr>
              <a:t>, System.lineSeparator())  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.filter { it.isNotEmpty()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.map { it.lowercase()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.groupingBy { it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.eachCount()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.toList()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7474F"/>
                </a:solidFill>
                <a:highlight>
                  <a:srgbClr val="B6D7A8"/>
                </a:highlight>
              </a:rPr>
              <a:t>.sortedBy { (_, count) -&gt; count }</a:t>
            </a:r>
            <a:endParaRPr sz="1100" dirty="0">
              <a:solidFill>
                <a:srgbClr val="37474F"/>
              </a:solidFill>
              <a:highlight>
                <a:srgbClr val="B6D7A8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1100" dirty="0"/>
          </a:p>
        </p:txBody>
      </p:sp>
      <p:sp>
        <p:nvSpPr>
          <p:cNvPr id="187" name="Google Shape;187;p31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/>
        </p:nvSpPr>
        <p:spPr>
          <a:xfrm>
            <a:off x="292600" y="4157475"/>
            <a:ext cx="33066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80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[(one, 7), (two, 4), (won, 2), (too, 2), (race, 2), (was, 2), (horse, 1), (a, 1)]</a:t>
            </a:r>
            <a:endParaRPr sz="800" i="0" u="none" strike="noStrike" cap="none" dirty="0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3" name="Google Shape;193;p32"/>
          <p:cNvSpPr txBox="1">
            <a:spLocks noGrp="1"/>
          </p:cNvSpPr>
          <p:nvPr>
            <p:ph type="body" idx="4294967295"/>
          </p:nvPr>
        </p:nvSpPr>
        <p:spPr>
          <a:xfrm>
            <a:off x="4075975" y="2279225"/>
            <a:ext cx="45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altLang="en-US" sz="1400" b="1" dirty="0">
                <a:latin typeface="HONOR Sans CN" panose="02000500000000000000" pitchFamily="2" charset="-122"/>
                <a:ea typeface="HONOR Sans CN" panose="02000500000000000000" pitchFamily="2" charset="-122"/>
              </a:rPr>
              <a:t>或</a:t>
            </a:r>
            <a:endParaRPr sz="1200" b="1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4" name="Google Shape;194;p32"/>
          <p:cNvSpPr txBox="1">
            <a:spLocks noGrp="1"/>
          </p:cNvSpPr>
          <p:nvPr>
            <p:ph type="body" idx="4294967295"/>
          </p:nvPr>
        </p:nvSpPr>
        <p:spPr>
          <a:xfrm>
            <a:off x="4075975" y="3525850"/>
            <a:ext cx="45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altLang="en-US" sz="1400" b="1" dirty="0">
                <a:latin typeface="HONOR Sans CN" panose="02000500000000000000" pitchFamily="2" charset="-122"/>
                <a:ea typeface="HONOR Sans CN" panose="02000500000000000000" pitchFamily="2" charset="-122"/>
              </a:rPr>
              <a:t>或</a:t>
            </a:r>
            <a:endParaRPr sz="1200" b="1" dirty="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5" name="Google Shape;195;p32"/>
          <p:cNvSpPr txBox="1">
            <a:spLocks noGrp="1"/>
          </p:cNvSpPr>
          <p:nvPr>
            <p:ph type="body" idx="4294967295"/>
          </p:nvPr>
        </p:nvSpPr>
        <p:spPr>
          <a:xfrm>
            <a:off x="4890025" y="1810775"/>
            <a:ext cx="2331300" cy="10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8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endParaRPr sz="8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8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.allFunnyFuncs(...)</a:t>
            </a:r>
            <a:endParaRPr sz="8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8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.toList()</a:t>
            </a:r>
            <a:endParaRPr sz="8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800" dirty="0">
                <a:solidFill>
                  <a:srgbClr val="37474F"/>
                </a:solidFill>
                <a:highlight>
                  <a:schemeClr val="lt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800" dirty="0">
                <a:solidFill>
                  <a:srgbClr val="37474F"/>
                </a:solidFill>
                <a:highlight>
                  <a:srgbClr val="B6D7A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.sortedWith { l, r -&gt; </a:t>
            </a:r>
            <a:endParaRPr sz="800" dirty="0">
              <a:solidFill>
                <a:srgbClr val="37474F"/>
              </a:solidFill>
              <a:highlight>
                <a:srgbClr val="B6D7A8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800" dirty="0">
                <a:solidFill>
                  <a:srgbClr val="37474F"/>
                </a:solidFill>
                <a:highlight>
                  <a:schemeClr val="lt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800" dirty="0">
                <a:solidFill>
                  <a:srgbClr val="37474F"/>
                </a:solidFill>
                <a:highlight>
                  <a:srgbClr val="B6D7A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r.second - l.second </a:t>
            </a:r>
            <a:endParaRPr sz="800" dirty="0">
              <a:solidFill>
                <a:srgbClr val="37474F"/>
              </a:solidFill>
              <a:highlight>
                <a:srgbClr val="B6D7A8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800" dirty="0">
                <a:solidFill>
                  <a:srgbClr val="37474F"/>
                </a:solidFill>
                <a:highlight>
                  <a:schemeClr val="lt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800" dirty="0">
                <a:solidFill>
                  <a:srgbClr val="37474F"/>
                </a:solidFill>
                <a:highlight>
                  <a:srgbClr val="B6D7A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800" dirty="0">
              <a:solidFill>
                <a:srgbClr val="37474F"/>
              </a:solidFill>
              <a:highlight>
                <a:srgbClr val="B6D7A8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SzPts val="1800"/>
              <a:buNone/>
            </a:pPr>
            <a:endParaRPr sz="8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6" name="Google Shape;196;p32"/>
          <p:cNvSpPr txBox="1">
            <a:spLocks noGrp="1"/>
          </p:cNvSpPr>
          <p:nvPr>
            <p:ph type="body" idx="4294967295"/>
          </p:nvPr>
        </p:nvSpPr>
        <p:spPr>
          <a:xfrm>
            <a:off x="4890025" y="3102284"/>
            <a:ext cx="2331300" cy="14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8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endParaRPr sz="8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8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.allFunnyFuncs(...)</a:t>
            </a:r>
            <a:endParaRPr sz="8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8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.toList()</a:t>
            </a:r>
            <a:endParaRPr sz="8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800" dirty="0">
                <a:solidFill>
                  <a:srgbClr val="37474F"/>
                </a:solidFill>
                <a:highlight>
                  <a:schemeClr val="lt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800" dirty="0">
                <a:solidFill>
                  <a:srgbClr val="37474F"/>
                </a:solidFill>
                <a:highlight>
                  <a:srgbClr val="B6D7A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.sortedByDescending { (_, c) -&gt; </a:t>
            </a:r>
            <a:endParaRPr sz="800" dirty="0">
              <a:solidFill>
                <a:srgbClr val="37474F"/>
              </a:solidFill>
              <a:highlight>
                <a:srgbClr val="B6D7A8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800" dirty="0">
                <a:solidFill>
                  <a:srgbClr val="37474F"/>
                </a:solidFill>
                <a:highlight>
                  <a:schemeClr val="lt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800" dirty="0">
                <a:solidFill>
                  <a:srgbClr val="37474F"/>
                </a:solidFill>
                <a:highlight>
                  <a:srgbClr val="B6D7A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c</a:t>
            </a:r>
            <a:endParaRPr sz="800" dirty="0">
              <a:solidFill>
                <a:srgbClr val="37474F"/>
              </a:solidFill>
              <a:highlight>
                <a:srgbClr val="B6D7A8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800" dirty="0">
                <a:solidFill>
                  <a:srgbClr val="37474F"/>
                </a:solidFill>
                <a:highlight>
                  <a:schemeClr val="lt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" sz="800" dirty="0">
                <a:solidFill>
                  <a:srgbClr val="37474F"/>
                </a:solidFill>
                <a:highlight>
                  <a:srgbClr val="B6D7A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800" dirty="0">
              <a:solidFill>
                <a:srgbClr val="37474F"/>
              </a:solidFill>
              <a:highlight>
                <a:srgbClr val="B6D7A8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endParaRPr sz="8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SzPts val="1800"/>
              <a:buNone/>
            </a:pPr>
            <a:endParaRPr sz="8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7" name="Google Shape;197;p32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3807900" cy="23289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000080"/>
                </a:solidFill>
              </a:rPr>
              <a:t>val</a:t>
            </a:r>
            <a:r>
              <a:rPr lang="en" dirty="0">
                <a:solidFill>
                  <a:srgbClr val="37474F"/>
                </a:solidFill>
              </a:rPr>
              <a:t> string = </a:t>
            </a:r>
            <a:r>
              <a:rPr lang="en" dirty="0">
                <a:solidFill>
                  <a:srgbClr val="008000"/>
                </a:solidFill>
              </a:rPr>
              <a:t>"""</a:t>
            </a:r>
            <a:endParaRPr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008000"/>
                </a:solidFill>
              </a:rPr>
              <a:t>    One-one was a race horse.</a:t>
            </a:r>
            <a:endParaRPr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008000"/>
                </a:solidFill>
              </a:rPr>
              <a:t>    Two-two was one too.</a:t>
            </a:r>
            <a:endParaRPr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008000"/>
                </a:solidFill>
              </a:rPr>
              <a:t>    One-one won one race.</a:t>
            </a:r>
            <a:endParaRPr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008000"/>
                </a:solidFill>
              </a:rPr>
              <a:t>    Two-two won one too. </a:t>
            </a:r>
            <a:endParaRPr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008000"/>
                </a:solidFill>
              </a:rPr>
              <a:t>"""</a:t>
            </a:r>
            <a:r>
              <a:rPr lang="en" dirty="0">
                <a:solidFill>
                  <a:srgbClr val="37474F"/>
                </a:solidFill>
              </a:rPr>
              <a:t>.trimIndent()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000080"/>
                </a:solidFill>
              </a:rPr>
              <a:t>val</a:t>
            </a:r>
            <a:r>
              <a:rPr lang="en" dirty="0">
                <a:solidFill>
                  <a:srgbClr val="37474F"/>
                </a:solidFill>
              </a:rPr>
              <a:t> result = string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.split(</a:t>
            </a:r>
            <a:r>
              <a:rPr lang="en" dirty="0">
                <a:solidFill>
                  <a:srgbClr val="008000"/>
                </a:solidFill>
              </a:rPr>
              <a:t>" "</a:t>
            </a:r>
            <a:r>
              <a:rPr lang="en" dirty="0">
                <a:solidFill>
                  <a:srgbClr val="37474F"/>
                </a:solidFill>
              </a:rPr>
              <a:t>, </a:t>
            </a:r>
            <a:r>
              <a:rPr lang="en" dirty="0">
                <a:solidFill>
                  <a:srgbClr val="008000"/>
                </a:solidFill>
              </a:rPr>
              <a:t>"-"</a:t>
            </a:r>
            <a:r>
              <a:rPr lang="en" dirty="0">
                <a:solidFill>
                  <a:srgbClr val="37474F"/>
                </a:solidFill>
              </a:rPr>
              <a:t>, </a:t>
            </a:r>
            <a:r>
              <a:rPr lang="en" dirty="0">
                <a:solidFill>
                  <a:srgbClr val="008000"/>
                </a:solidFill>
              </a:rPr>
              <a:t>"."</a:t>
            </a:r>
            <a:r>
              <a:rPr lang="en" dirty="0">
                <a:solidFill>
                  <a:srgbClr val="37474F"/>
                </a:solidFill>
              </a:rPr>
              <a:t>, System.lineSeparator())  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.filter { it.isNotEmpty() }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.map { it.lowercase() }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.groupingBy { it }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.eachCount()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.toList()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.sortedBy { (_, count) -&gt; count }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</a:t>
            </a:r>
            <a:r>
              <a:rPr lang="en" dirty="0">
                <a:solidFill>
                  <a:srgbClr val="37474F"/>
                </a:solidFill>
                <a:highlight>
                  <a:srgbClr val="B6D7A8"/>
                </a:highlight>
              </a:rPr>
              <a:t>.reversed()</a:t>
            </a:r>
            <a:endParaRPr dirty="0">
              <a:solidFill>
                <a:srgbClr val="37474F"/>
              </a:solidFill>
              <a:highlight>
                <a:srgbClr val="B6D7A8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endParaRPr dirty="0"/>
          </a:p>
        </p:txBody>
      </p:sp>
      <p:sp>
        <p:nvSpPr>
          <p:cNvPr id="198" name="Google Shape;198;p32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除了 </a:t>
            </a: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lambda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表达式外，已定义函数的引用也可以作为</a:t>
            </a:r>
            <a:r>
              <a:rPr lang="zh-CN" altLang="en-US" sz="1400" i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参数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传递给期望接收其他函数的函数：</a:t>
            </a:r>
            <a:br>
              <a:rPr lang="e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</a:b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3F51B5"/>
                </a:solidFill>
              </a:rPr>
              <a:t>fun</a:t>
            </a:r>
            <a:r>
              <a:rPr lang="en" sz="1400" dirty="0">
                <a:solidFill>
                  <a:srgbClr val="37474F"/>
                </a:solidFill>
              </a:rPr>
              <a:t> isEven(x: Int) = x % 2 == 0</a:t>
            </a: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 dirty="0">
                <a:solidFill>
                  <a:srgbClr val="3F51B5"/>
                </a:solidFill>
              </a:rPr>
              <a:t>val</a:t>
            </a:r>
            <a:r>
              <a:rPr lang="en" sz="1400" dirty="0">
                <a:solidFill>
                  <a:srgbClr val="37474F"/>
                </a:solidFill>
              </a:rPr>
              <a:t> isEvenLambda = { x: Int -&gt; x % 2 == 0 }</a:t>
            </a: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结果相同，调用方式不同：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7474F"/>
              </a:buClr>
              <a:buSzPts val="1400"/>
              <a:buChar char="●"/>
            </a:pPr>
            <a:r>
              <a:rPr lang="en" sz="1400" dirty="0">
                <a:solidFill>
                  <a:srgbClr val="37474F"/>
                </a:solidFill>
              </a:rPr>
              <a:t>list.partition { it % 2 == 0 }</a:t>
            </a:r>
            <a:endParaRPr sz="1400" dirty="0">
              <a:solidFill>
                <a:srgbClr val="37474F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</a:pPr>
            <a:r>
              <a:rPr lang="en" sz="1400" dirty="0">
                <a:solidFill>
                  <a:srgbClr val="37474F"/>
                </a:solidFill>
              </a:rPr>
              <a:t>list.partition(::isEven) </a:t>
            </a:r>
            <a:r>
              <a:rPr lang="en" sz="1400" dirty="0"/>
              <a:t>// </a:t>
            </a:r>
            <a:r>
              <a:rPr lang="zh-CN" altLang="en-US" sz="1400" dirty="0"/>
              <a:t>函数引用</a:t>
            </a:r>
            <a:endParaRPr sz="1400" dirty="0"/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ts val="1400"/>
              <a:buChar char="●"/>
            </a:pPr>
            <a:r>
              <a:rPr lang="en" sz="1400" dirty="0">
                <a:solidFill>
                  <a:srgbClr val="37474F"/>
                </a:solidFill>
              </a:rPr>
              <a:t>list.partition(isEvenLambda)  </a:t>
            </a:r>
            <a:r>
              <a:rPr lang="en" sz="1400" dirty="0"/>
              <a:t>// </a:t>
            </a:r>
            <a:r>
              <a:rPr lang="zh-CN" altLang="en-US" sz="1400" dirty="0"/>
              <a:t>按名称传递 </a:t>
            </a:r>
            <a:r>
              <a:rPr lang="en-US" sz="1400" dirty="0"/>
              <a:t>lambda</a:t>
            </a:r>
            <a:endParaRPr sz="1400" dirty="0"/>
          </a:p>
        </p:txBody>
      </p:sp>
      <p:sp>
        <p:nvSpPr>
          <p:cNvPr id="204" name="Google Shape;204;p33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高阶函数（</a:t>
            </a:r>
            <a:r>
              <a:rPr lang="en-US" altLang="zh-CN" dirty="0"/>
              <a:t>HOFs</a:t>
            </a:r>
            <a:r>
              <a:rPr lang="zh-CN" altLang="en-US" dirty="0"/>
              <a:t>）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懒计算</a:t>
            </a:r>
            <a:endParaRPr dirty="0"/>
          </a:p>
        </p:txBody>
      </p:sp>
      <p:sp>
        <p:nvSpPr>
          <p:cNvPr id="210" name="Google Shape;210;p34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请看以下代码：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fun </a:t>
            </a:r>
            <a:r>
              <a:rPr lang="en" sz="1100" dirty="0">
                <a:solidFill>
                  <a:srgbClr val="37474F"/>
                </a:solidFill>
              </a:rPr>
              <a:t>&lt;F&gt; withFunction(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number: Int, even: F, odd: F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): F = </a:t>
            </a:r>
            <a:r>
              <a:rPr lang="en" sz="1100" dirty="0">
                <a:solidFill>
                  <a:srgbClr val="000080"/>
                </a:solidFill>
              </a:rPr>
              <a:t>when</a:t>
            </a:r>
            <a:r>
              <a:rPr lang="en" sz="1100" dirty="0">
                <a:solidFill>
                  <a:srgbClr val="37474F"/>
                </a:solidFill>
              </a:rPr>
              <a:t> (number % 2)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0 -&gt; even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000080"/>
                </a:solidFill>
              </a:rPr>
              <a:t>else</a:t>
            </a:r>
            <a:r>
              <a:rPr lang="en" sz="1100" dirty="0">
                <a:solidFill>
                  <a:srgbClr val="37474F"/>
                </a:solidFill>
              </a:rPr>
              <a:t> -&gt; odd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withFunction(4, println(</a:t>
            </a:r>
            <a:r>
              <a:rPr lang="en" sz="1100" dirty="0">
                <a:solidFill>
                  <a:srgbClr val="008000"/>
                </a:solidFill>
              </a:rPr>
              <a:t>"even"</a:t>
            </a:r>
            <a:r>
              <a:rPr lang="en" sz="1100" dirty="0">
                <a:solidFill>
                  <a:srgbClr val="37474F"/>
                </a:solidFill>
              </a:rPr>
              <a:t>), println(</a:t>
            </a:r>
            <a:r>
              <a:rPr lang="en" sz="1100" dirty="0">
                <a:solidFill>
                  <a:srgbClr val="008000"/>
                </a:solidFill>
              </a:rPr>
              <a:t>"odd"</a:t>
            </a:r>
            <a:r>
              <a:rPr lang="en" sz="1100" dirty="0">
                <a:solidFill>
                  <a:srgbClr val="37474F"/>
                </a:solidFill>
              </a:rPr>
              <a:t>))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n-US"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控制台将输出什么？</a:t>
            </a: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/>
        </p:nvSpPr>
        <p:spPr>
          <a:xfrm>
            <a:off x="3169925" y="4262650"/>
            <a:ext cx="141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even</a:t>
            </a:r>
            <a:r>
              <a:rPr lang="en" sz="12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2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odd</a:t>
            </a:r>
            <a:endParaRPr sz="1200" b="0" i="0" u="none" strike="noStrike" cap="none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16" name="Google Shape;216;p35"/>
          <p:cNvSpPr txBox="1"/>
          <p:nvPr/>
        </p:nvSpPr>
        <p:spPr>
          <a:xfrm>
            <a:off x="4572000" y="1335025"/>
            <a:ext cx="3566400" cy="71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3150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altLang="zh-CN" dirty="0" err="1">
                <a:solidFill>
                  <a:srgbClr val="37474F"/>
                </a:solidFill>
                <a:latin typeface="JetBrains Mono"/>
                <a:cs typeface="JetBrains Mono"/>
                <a:sym typeface="Open Sans"/>
              </a:rPr>
              <a:t>withFunction</a:t>
            </a:r>
            <a:r>
              <a:rPr lang="en-US" altLang="zh-CN" i="0" u="none" strike="noStrike" cap="none" dirty="0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i="0" u="none" strike="noStrike" cap="none" dirty="0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函数的参数会在其函数体执行</a:t>
            </a:r>
            <a:r>
              <a:rPr lang="zh-CN" altLang="en-US" b="1" i="0" u="none" strike="noStrike" cap="none" dirty="0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之前</a:t>
            </a:r>
            <a:r>
              <a:rPr lang="zh-CN" altLang="en-US" i="0" u="none" strike="noStrike" cap="none" dirty="0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进行求值（急求值）。</a:t>
            </a:r>
            <a:endParaRPr i="0" u="none" strike="noStrike" cap="none" dirty="0">
              <a:solidFill>
                <a:srgbClr val="000000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217" name="Google Shape;217;p35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3748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请看以下代码：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fun </a:t>
            </a:r>
            <a:r>
              <a:rPr lang="en" sz="1100" dirty="0">
                <a:solidFill>
                  <a:srgbClr val="37474F"/>
                </a:solidFill>
              </a:rPr>
              <a:t>&lt;F&gt; withFunction(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number: Int, even: F, odd: F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): F = </a:t>
            </a:r>
            <a:r>
              <a:rPr lang="en" sz="1100" dirty="0">
                <a:solidFill>
                  <a:srgbClr val="000080"/>
                </a:solidFill>
              </a:rPr>
              <a:t>when</a:t>
            </a:r>
            <a:r>
              <a:rPr lang="en" sz="1100" dirty="0">
                <a:solidFill>
                  <a:srgbClr val="37474F"/>
                </a:solidFill>
              </a:rPr>
              <a:t> (number % 2)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0 -&gt; even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000080"/>
                </a:solidFill>
              </a:rPr>
              <a:t>else</a:t>
            </a:r>
            <a:r>
              <a:rPr lang="en" sz="1100" dirty="0">
                <a:solidFill>
                  <a:srgbClr val="37474F"/>
                </a:solidFill>
              </a:rPr>
              <a:t> -&gt; odd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withFunction(4, println(</a:t>
            </a:r>
            <a:r>
              <a:rPr lang="en" sz="1100" dirty="0">
                <a:solidFill>
                  <a:srgbClr val="008000"/>
                </a:solidFill>
              </a:rPr>
              <a:t>"even"</a:t>
            </a:r>
            <a:r>
              <a:rPr lang="en" sz="1100" dirty="0">
                <a:solidFill>
                  <a:srgbClr val="37474F"/>
                </a:solidFill>
              </a:rPr>
              <a:t>), println(</a:t>
            </a:r>
            <a:r>
              <a:rPr lang="en" sz="1100" dirty="0">
                <a:solidFill>
                  <a:srgbClr val="008000"/>
                </a:solidFill>
              </a:rPr>
              <a:t>"odd"</a:t>
            </a:r>
            <a:r>
              <a:rPr lang="en" sz="1100" dirty="0">
                <a:solidFill>
                  <a:srgbClr val="37474F"/>
                </a:solidFill>
              </a:rPr>
              <a:t>))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控制台将输出什么？</a:t>
            </a: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100" dirty="0"/>
          </a:p>
        </p:txBody>
      </p:sp>
      <p:sp>
        <p:nvSpPr>
          <p:cNvPr id="218" name="Google Shape;218;p35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懒计算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懒延迟计算</a:t>
            </a:r>
            <a:endParaRPr dirty="0"/>
          </a:p>
        </p:txBody>
      </p:sp>
      <p:sp>
        <p:nvSpPr>
          <p:cNvPr id="224" name="Google Shape;224;p36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请看以下代码：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fun </a:t>
            </a:r>
            <a:r>
              <a:rPr lang="en" sz="1100" dirty="0">
                <a:solidFill>
                  <a:srgbClr val="37474F"/>
                </a:solidFill>
              </a:rPr>
              <a:t>&lt;F&gt; withLambda(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number: Int, even: () -&gt; F, odd: () -&gt; F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): F = </a:t>
            </a:r>
            <a:r>
              <a:rPr lang="en" sz="1100" dirty="0">
                <a:solidFill>
                  <a:srgbClr val="000080"/>
                </a:solidFill>
              </a:rPr>
              <a:t>when</a:t>
            </a:r>
            <a:r>
              <a:rPr lang="en" sz="1100" dirty="0">
                <a:solidFill>
                  <a:srgbClr val="37474F"/>
                </a:solidFill>
              </a:rPr>
              <a:t> (number % 2)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0 -&gt; even()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000080"/>
                </a:solidFill>
              </a:rPr>
              <a:t>else</a:t>
            </a:r>
            <a:r>
              <a:rPr lang="en" sz="1100" dirty="0">
                <a:solidFill>
                  <a:srgbClr val="37474F"/>
                </a:solidFill>
              </a:rPr>
              <a:t> -&gt; odd()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withLambda(4, { println(</a:t>
            </a:r>
            <a:r>
              <a:rPr lang="en" sz="1100" dirty="0">
                <a:solidFill>
                  <a:srgbClr val="008000"/>
                </a:solidFill>
              </a:rPr>
              <a:t>"even"</a:t>
            </a:r>
            <a:r>
              <a:rPr lang="en" sz="1100" dirty="0">
                <a:solidFill>
                  <a:srgbClr val="37474F"/>
                </a:solidFill>
              </a:rPr>
              <a:t>) }, { println(</a:t>
            </a:r>
            <a:r>
              <a:rPr lang="en" sz="1100" dirty="0">
                <a:solidFill>
                  <a:srgbClr val="008000"/>
                </a:solidFill>
              </a:rPr>
              <a:t>"odd"</a:t>
            </a:r>
            <a:r>
              <a:rPr lang="en" sz="1100" dirty="0">
                <a:solidFill>
                  <a:srgbClr val="37474F"/>
                </a:solidFill>
              </a:rPr>
              <a:t>) })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由于采用了</a:t>
            </a:r>
            <a:r>
              <a:rPr lang="zh-CN" altLang="en-US" sz="1400" strike="sngStrike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懒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延迟计算，控制台只会输出 </a:t>
            </a:r>
            <a:r>
              <a:rPr lang="en-US" altLang="zh-CN" sz="1400" dirty="0">
                <a:solidFill>
                  <a:srgbClr val="37474F"/>
                </a:solidFill>
                <a:sym typeface="Open Sans"/>
              </a:rPr>
              <a:t>even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</a:t>
            </a: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运算符重载</a:t>
            </a:r>
            <a:endParaRPr dirty="0"/>
          </a:p>
        </p:txBody>
      </p:sp>
      <p:sp>
        <p:nvSpPr>
          <p:cNvPr id="230" name="Google Shape;230;p37"/>
          <p:cNvSpPr txBox="1"/>
          <p:nvPr/>
        </p:nvSpPr>
        <p:spPr>
          <a:xfrm>
            <a:off x="292608" y="4251975"/>
            <a:ext cx="78549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A&lt;T&gt;</a:t>
            </a:r>
            <a:endParaRPr sz="1100" b="0" i="0" u="none" strike="noStrike" cap="none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operator fun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&lt;T&gt; A&lt;T&gt;.iterator(): Iterator&lt;T&gt; = </a:t>
            </a:r>
            <a:r>
              <a:rPr lang="en" sz="1100" b="0" i="0" u="none" strike="noStrike" cap="none" dirty="0">
                <a:solidFill>
                  <a:srgbClr val="2099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TODO("Not yet implemented")</a:t>
            </a:r>
            <a:endParaRPr sz="1100" b="0" i="0" u="none" strike="noStrike" cap="none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31" name="Google Shape;231;p37"/>
          <p:cNvSpPr txBox="1"/>
          <p:nvPr/>
        </p:nvSpPr>
        <p:spPr>
          <a:xfrm>
            <a:off x="292608" y="3776675"/>
            <a:ext cx="7170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VS</a:t>
            </a:r>
            <a:endParaRPr sz="1800" b="1" i="0" u="none" strike="noStrike" cap="none" dirty="0">
              <a:solidFill>
                <a:srgbClr val="000000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232" name="Google Shape;232;p37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8326800" cy="21573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提供了扩展函数，你可以利用它们来重载运算符，例如 </a:t>
            </a:r>
            <a:r>
              <a:rPr lang="en-US" altLang="zh-CN" sz="1400" dirty="0">
                <a:sym typeface="Open Sans"/>
              </a:rPr>
              <a:t>iterator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。也就是说，你无需像在面向对象编程代码中那样，创建一个继承自 </a:t>
            </a:r>
            <a:r>
              <a:rPr lang="en-US" altLang="zh-CN" sz="1400" dirty="0" err="1">
                <a:sym typeface="Open Sans"/>
              </a:rPr>
              <a:t>Iterable</a:t>
            </a: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接口的新实体。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MyIterable&lt;T&gt; : Iterable&lt;T&gt; { </a:t>
            </a:r>
            <a:r>
              <a:rPr lang="en" sz="1100" dirty="0">
                <a:solidFill>
                  <a:srgbClr val="898989"/>
                </a:solidFill>
              </a:rPr>
              <a:t>// </a:t>
            </a:r>
            <a:r>
              <a:rPr lang="zh-CN" altLang="en-US" sz="1100" dirty="0">
                <a:solidFill>
                  <a:srgbClr val="898989"/>
                </a:solidFill>
              </a:rPr>
              <a:t>你需要访问 </a:t>
            </a:r>
            <a:r>
              <a:rPr lang="en-US" sz="1100" dirty="0" err="1">
                <a:solidFill>
                  <a:srgbClr val="898989"/>
                </a:solidFill>
              </a:rPr>
              <a:t>MyIterable</a:t>
            </a:r>
            <a:r>
              <a:rPr lang="en-US" sz="1100" dirty="0">
                <a:solidFill>
                  <a:srgbClr val="898989"/>
                </a:solidFill>
              </a:rPr>
              <a:t> </a:t>
            </a:r>
            <a:r>
              <a:rPr lang="zh-CN" altLang="en-US" sz="1100" dirty="0">
                <a:solidFill>
                  <a:srgbClr val="898989"/>
                </a:solidFill>
              </a:rPr>
              <a:t>的源代码</a:t>
            </a:r>
            <a:endParaRPr sz="1100" dirty="0">
              <a:solidFill>
                <a:srgbClr val="89898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000080"/>
                </a:solidFill>
              </a:rPr>
              <a:t>override</a:t>
            </a:r>
            <a:r>
              <a:rPr lang="en" sz="1100" dirty="0">
                <a:solidFill>
                  <a:srgbClr val="37474F"/>
                </a:solidFill>
              </a:rPr>
              <a:t> fun iterator(): Iterator&lt;T&gt;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 </a:t>
            </a:r>
            <a:r>
              <a:rPr lang="en" sz="1100" dirty="0">
                <a:solidFill>
                  <a:srgbClr val="20999D"/>
                </a:solidFill>
              </a:rPr>
              <a:t>TODO("Not yet implemented")</a:t>
            </a:r>
            <a:endParaRPr sz="1100" dirty="0">
              <a:solidFill>
                <a:srgbClr val="20999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还有一件事</a:t>
            </a:r>
            <a:r>
              <a:rPr lang="en-US" altLang="zh-CN" dirty="0"/>
              <a:t>……</a:t>
            </a:r>
            <a:endParaRPr dirty="0"/>
          </a:p>
        </p:txBody>
      </p:sp>
      <p:sp>
        <p:nvSpPr>
          <p:cNvPr id="238" name="Google Shape;238;p38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这段代码正确吗？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enum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Color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660E7A"/>
                </a:solidFill>
              </a:rPr>
              <a:t>WHITE</a:t>
            </a:r>
            <a:r>
              <a:rPr lang="en" sz="1100" dirty="0">
                <a:solidFill>
                  <a:srgbClr val="37474F"/>
                </a:solidFill>
              </a:rPr>
              <a:t>,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660E7A"/>
                </a:solidFill>
              </a:rPr>
              <a:t>AZURE</a:t>
            </a:r>
            <a:r>
              <a:rPr lang="en" sz="1100" dirty="0">
                <a:solidFill>
                  <a:srgbClr val="37474F"/>
                </a:solidFill>
              </a:rPr>
              <a:t>,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660E7A"/>
                </a:solidFill>
              </a:rPr>
              <a:t>HONEYDEW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Color.getRGB() = </a:t>
            </a:r>
            <a:r>
              <a:rPr lang="en" sz="1100" dirty="0">
                <a:solidFill>
                  <a:srgbClr val="000080"/>
                </a:solidFill>
              </a:rPr>
              <a:t>when</a:t>
            </a:r>
            <a:r>
              <a:rPr lang="en" sz="1100" dirty="0">
                <a:solidFill>
                  <a:srgbClr val="37474F"/>
                </a:solidFill>
              </a:rPr>
              <a:t> (</a:t>
            </a:r>
            <a:r>
              <a:rPr lang="en" sz="1100" dirty="0">
                <a:solidFill>
                  <a:srgbClr val="000080"/>
                </a:solidFill>
              </a:rPr>
              <a:t>this</a:t>
            </a:r>
            <a:r>
              <a:rPr lang="en" sz="1100" dirty="0">
                <a:solidFill>
                  <a:srgbClr val="37474F"/>
                </a:solidFill>
              </a:rPr>
              <a:t>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Color.</a:t>
            </a:r>
            <a:r>
              <a:rPr lang="en" sz="1100" dirty="0">
                <a:solidFill>
                  <a:srgbClr val="660E7A"/>
                </a:solidFill>
              </a:rPr>
              <a:t>WHITE</a:t>
            </a:r>
            <a:r>
              <a:rPr lang="en" sz="1100" dirty="0">
                <a:solidFill>
                  <a:srgbClr val="37474F"/>
                </a:solidFill>
              </a:rPr>
              <a:t> -&gt; </a:t>
            </a:r>
            <a:r>
              <a:rPr lang="en" sz="1100" dirty="0">
                <a:solidFill>
                  <a:srgbClr val="008000"/>
                </a:solidFill>
              </a:rPr>
              <a:t>"#FFFFFF"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Color.</a:t>
            </a:r>
            <a:r>
              <a:rPr lang="en" sz="1100" dirty="0">
                <a:solidFill>
                  <a:srgbClr val="660E7A"/>
                </a:solidFill>
              </a:rPr>
              <a:t>AZURE</a:t>
            </a:r>
            <a:r>
              <a:rPr lang="en" sz="1100" dirty="0">
                <a:solidFill>
                  <a:srgbClr val="37474F"/>
                </a:solidFill>
              </a:rPr>
              <a:t> -&gt; </a:t>
            </a:r>
            <a:r>
              <a:rPr lang="en" sz="1100" dirty="0">
                <a:solidFill>
                  <a:srgbClr val="008000"/>
                </a:solidFill>
              </a:rPr>
              <a:t>"#F0FFFF"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Color.</a:t>
            </a:r>
            <a:r>
              <a:rPr lang="en" sz="1100" dirty="0">
                <a:solidFill>
                  <a:srgbClr val="660E7A"/>
                </a:solidFill>
              </a:rPr>
              <a:t>HONEYDEW</a:t>
            </a:r>
            <a:r>
              <a:rPr lang="en" sz="1100" dirty="0">
                <a:solidFill>
                  <a:srgbClr val="37474F"/>
                </a:solidFill>
              </a:rPr>
              <a:t> -&gt; </a:t>
            </a:r>
            <a:r>
              <a:rPr lang="en" sz="1100" dirty="0">
                <a:solidFill>
                  <a:srgbClr val="008000"/>
                </a:solidFill>
              </a:rPr>
              <a:t>"F0FFF0"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这段代码正确吗？</a:t>
            </a:r>
            <a:r>
              <a:rPr lang="zh-CN" altLang="en-US" sz="14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是的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，因为编译器知道</a:t>
            </a:r>
            <a:r>
              <a:rPr lang="zh-CN" altLang="en-US" sz="14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所有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可能的值。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enum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Color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660E7A"/>
                </a:solidFill>
              </a:rPr>
              <a:t>WHITE</a:t>
            </a:r>
            <a:r>
              <a:rPr lang="en" sz="1100" dirty="0">
                <a:solidFill>
                  <a:srgbClr val="37474F"/>
                </a:solidFill>
              </a:rPr>
              <a:t>,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660E7A"/>
                </a:solidFill>
              </a:rPr>
              <a:t>AZURE</a:t>
            </a:r>
            <a:r>
              <a:rPr lang="en" sz="1100" dirty="0">
                <a:solidFill>
                  <a:srgbClr val="37474F"/>
                </a:solidFill>
              </a:rPr>
              <a:t>,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660E7A"/>
                </a:solidFill>
              </a:rPr>
              <a:t>HONEYDEW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Color.getRGB() = </a:t>
            </a:r>
            <a:r>
              <a:rPr lang="en" sz="1100" dirty="0">
                <a:solidFill>
                  <a:srgbClr val="000080"/>
                </a:solidFill>
              </a:rPr>
              <a:t>when</a:t>
            </a:r>
            <a:r>
              <a:rPr lang="en" sz="1100" dirty="0">
                <a:solidFill>
                  <a:srgbClr val="37474F"/>
                </a:solidFill>
              </a:rPr>
              <a:t> (</a:t>
            </a:r>
            <a:r>
              <a:rPr lang="en" sz="1100" dirty="0">
                <a:solidFill>
                  <a:srgbClr val="000080"/>
                </a:solidFill>
              </a:rPr>
              <a:t>this</a:t>
            </a:r>
            <a:r>
              <a:rPr lang="en" sz="1100" dirty="0">
                <a:solidFill>
                  <a:srgbClr val="37474F"/>
                </a:solidFill>
              </a:rPr>
              <a:t>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Color.</a:t>
            </a:r>
            <a:r>
              <a:rPr lang="en" sz="1100" dirty="0">
                <a:solidFill>
                  <a:srgbClr val="660E7A"/>
                </a:solidFill>
              </a:rPr>
              <a:t>WHITE</a:t>
            </a:r>
            <a:r>
              <a:rPr lang="en" sz="1100" dirty="0">
                <a:solidFill>
                  <a:srgbClr val="37474F"/>
                </a:solidFill>
              </a:rPr>
              <a:t> -&gt; </a:t>
            </a:r>
            <a:r>
              <a:rPr lang="en" sz="1100" dirty="0">
                <a:solidFill>
                  <a:srgbClr val="008000"/>
                </a:solidFill>
              </a:rPr>
              <a:t>"#FFFFFF"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Color.</a:t>
            </a:r>
            <a:r>
              <a:rPr lang="en" sz="1100" dirty="0">
                <a:solidFill>
                  <a:srgbClr val="660E7A"/>
                </a:solidFill>
              </a:rPr>
              <a:t>AZURE</a:t>
            </a:r>
            <a:r>
              <a:rPr lang="en" sz="1100" dirty="0">
                <a:solidFill>
                  <a:srgbClr val="37474F"/>
                </a:solidFill>
              </a:rPr>
              <a:t> -&gt; </a:t>
            </a:r>
            <a:r>
              <a:rPr lang="en" sz="1100" dirty="0">
                <a:solidFill>
                  <a:srgbClr val="008000"/>
                </a:solidFill>
              </a:rPr>
              <a:t>"#F0FFFF"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Color.</a:t>
            </a:r>
            <a:r>
              <a:rPr lang="en" sz="1100" dirty="0">
                <a:solidFill>
                  <a:srgbClr val="660E7A"/>
                </a:solidFill>
              </a:rPr>
              <a:t>HONEYDEW</a:t>
            </a:r>
            <a:r>
              <a:rPr lang="en" sz="1100" dirty="0">
                <a:solidFill>
                  <a:srgbClr val="37474F"/>
                </a:solidFill>
              </a:rPr>
              <a:t> -&gt; </a:t>
            </a:r>
            <a:r>
              <a:rPr lang="en" sz="1100" dirty="0">
                <a:solidFill>
                  <a:srgbClr val="008000"/>
                </a:solidFill>
              </a:rPr>
              <a:t>"F0FFF0"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/>
          </a:p>
        </p:txBody>
      </p:sp>
      <p:sp>
        <p:nvSpPr>
          <p:cNvPr id="244" name="Google Shape;244;p39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还有一件事</a:t>
            </a:r>
            <a:r>
              <a:rPr lang="en-US" altLang="zh-CN" dirty="0"/>
              <a:t>……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这个例子呢？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sealed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Color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WhiteColor: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AzureColor: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HoneydewColor: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Color.getRGB() = </a:t>
            </a:r>
            <a:r>
              <a:rPr lang="en" sz="1100" dirty="0">
                <a:solidFill>
                  <a:srgbClr val="000080"/>
                </a:solidFill>
              </a:rPr>
              <a:t>when</a:t>
            </a:r>
            <a:r>
              <a:rPr lang="en" sz="1100" dirty="0">
                <a:solidFill>
                  <a:srgbClr val="37474F"/>
                </a:solidFill>
              </a:rPr>
              <a:t> (</a:t>
            </a:r>
            <a:r>
              <a:rPr lang="en" sz="1100" dirty="0">
                <a:solidFill>
                  <a:srgbClr val="000080"/>
                </a:solidFill>
              </a:rPr>
              <a:t>this</a:t>
            </a:r>
            <a:r>
              <a:rPr lang="en" sz="1100" dirty="0">
                <a:solidFill>
                  <a:srgbClr val="37474F"/>
                </a:solidFill>
              </a:rPr>
              <a:t>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000080"/>
                </a:solidFill>
              </a:rPr>
              <a:t>is</a:t>
            </a:r>
            <a:r>
              <a:rPr lang="en" sz="1100" dirty="0">
                <a:solidFill>
                  <a:srgbClr val="37474F"/>
                </a:solidFill>
              </a:rPr>
              <a:t> WhiteColor -&gt; </a:t>
            </a:r>
            <a:r>
              <a:rPr lang="en" sz="1100" dirty="0">
                <a:solidFill>
                  <a:srgbClr val="008000"/>
                </a:solidFill>
              </a:rPr>
              <a:t>"#FFFFFF"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000080"/>
                </a:solidFill>
              </a:rPr>
              <a:t>is</a:t>
            </a:r>
            <a:r>
              <a:rPr lang="en" sz="1100" dirty="0">
                <a:solidFill>
                  <a:srgbClr val="37474F"/>
                </a:solidFill>
              </a:rPr>
              <a:t> AzureColor -&gt; </a:t>
            </a:r>
            <a:r>
              <a:rPr lang="en" sz="1100" dirty="0">
                <a:solidFill>
                  <a:srgbClr val="008000"/>
                </a:solidFill>
              </a:rPr>
              <a:t>"#F0FFFF"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000080"/>
                </a:solidFill>
              </a:rPr>
              <a:t>is</a:t>
            </a:r>
            <a:r>
              <a:rPr lang="en" sz="1100" dirty="0">
                <a:solidFill>
                  <a:srgbClr val="37474F"/>
                </a:solidFill>
              </a:rPr>
              <a:t> HoneydewColor -&gt; </a:t>
            </a:r>
            <a:r>
              <a:rPr lang="en" sz="1100" dirty="0">
                <a:solidFill>
                  <a:srgbClr val="008000"/>
                </a:solidFill>
              </a:rPr>
              <a:t>"F0FFF0"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/>
          </a:p>
        </p:txBody>
      </p:sp>
      <p:sp>
        <p:nvSpPr>
          <p:cNvPr id="250" name="Google Shape;250;p40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还有一件事</a:t>
            </a:r>
            <a:r>
              <a:rPr lang="en-US" altLang="zh-CN" dirty="0"/>
              <a:t>……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这个例子呢？答案依然是</a:t>
            </a:r>
            <a:r>
              <a:rPr lang="zh-CN" altLang="en-US" sz="14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肯定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的，因为编译器在编译阶段就已经知道 </a:t>
            </a:r>
            <a:r>
              <a:rPr lang="en-US" altLang="zh-CN" sz="1400" dirty="0">
                <a:sym typeface="Open Sans"/>
              </a:rPr>
              <a:t>Color</a:t>
            </a: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类的</a:t>
            </a:r>
            <a:r>
              <a:rPr lang="zh-CN" altLang="en-US" sz="14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所有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可能子类，且不会出现新的类。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sealed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Color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WhiteColor: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AzureColor: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HoneydewColor: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Color.getRGB() = </a:t>
            </a:r>
            <a:r>
              <a:rPr lang="en" sz="1100" dirty="0">
                <a:solidFill>
                  <a:srgbClr val="000080"/>
                </a:solidFill>
              </a:rPr>
              <a:t>when</a:t>
            </a:r>
            <a:r>
              <a:rPr lang="en" sz="1100" dirty="0">
                <a:solidFill>
                  <a:srgbClr val="37474F"/>
                </a:solidFill>
              </a:rPr>
              <a:t> (</a:t>
            </a:r>
            <a:r>
              <a:rPr lang="en" sz="1100" dirty="0">
                <a:solidFill>
                  <a:srgbClr val="000080"/>
                </a:solidFill>
              </a:rPr>
              <a:t>this</a:t>
            </a:r>
            <a:r>
              <a:rPr lang="en" sz="1100" dirty="0">
                <a:solidFill>
                  <a:srgbClr val="37474F"/>
                </a:solidFill>
              </a:rPr>
              <a:t>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000080"/>
                </a:solidFill>
              </a:rPr>
              <a:t>is</a:t>
            </a:r>
            <a:r>
              <a:rPr lang="en" sz="1100" dirty="0">
                <a:solidFill>
                  <a:srgbClr val="37474F"/>
                </a:solidFill>
              </a:rPr>
              <a:t> WhiteColor -&gt; </a:t>
            </a:r>
            <a:r>
              <a:rPr lang="en" sz="1100" dirty="0">
                <a:solidFill>
                  <a:srgbClr val="008000"/>
                </a:solidFill>
              </a:rPr>
              <a:t>"#FFFFFF"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000080"/>
                </a:solidFill>
              </a:rPr>
              <a:t>is</a:t>
            </a:r>
            <a:r>
              <a:rPr lang="en" sz="1100" dirty="0">
                <a:solidFill>
                  <a:srgbClr val="37474F"/>
                </a:solidFill>
              </a:rPr>
              <a:t> AzureColor -&gt; </a:t>
            </a:r>
            <a:r>
              <a:rPr lang="en" sz="1100" dirty="0">
                <a:solidFill>
                  <a:srgbClr val="008000"/>
                </a:solidFill>
              </a:rPr>
              <a:t>"#F0FFFF"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000080"/>
                </a:solidFill>
              </a:rPr>
              <a:t>is</a:t>
            </a:r>
            <a:r>
              <a:rPr lang="en" sz="1100" dirty="0">
                <a:solidFill>
                  <a:srgbClr val="37474F"/>
                </a:solidFill>
              </a:rPr>
              <a:t> HoneydewColor -&gt; </a:t>
            </a:r>
            <a:r>
              <a:rPr lang="en" sz="1100" dirty="0">
                <a:solidFill>
                  <a:srgbClr val="008000"/>
                </a:solidFill>
              </a:rPr>
              <a:t>"F0FFF0"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/>
          </a:p>
        </p:txBody>
      </p:sp>
      <p:sp>
        <p:nvSpPr>
          <p:cNvPr id="256" name="Google Shape;256;p41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还有一件事</a:t>
            </a:r>
            <a:r>
              <a:rPr lang="en-US" altLang="zh-CN" dirty="0"/>
              <a:t>……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/>
          <p:nvPr/>
        </p:nvSpPr>
        <p:spPr>
          <a:xfrm>
            <a:off x="4770100" y="1750550"/>
            <a:ext cx="44355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ONOR Sans CN" panose="02000500000000000000" pitchFamily="2" charset="-122"/>
              <a:ea typeface="HONOR Sans CN" panose="02000500000000000000" pitchFamily="2" charset="-122"/>
              <a:sym typeface="Arial"/>
            </a:endParaRPr>
          </a:p>
        </p:txBody>
      </p:sp>
      <p:sp>
        <p:nvSpPr>
          <p:cNvPr id="262" name="Google Shape;262;p42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请看以下代码：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sealed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Color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WhiteColor(</a:t>
            </a: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660E7A"/>
                </a:solidFill>
              </a:rPr>
              <a:t>name</a:t>
            </a:r>
            <a:r>
              <a:rPr lang="en" sz="1100" dirty="0">
                <a:solidFill>
                  <a:srgbClr val="37474F"/>
                </a:solidFill>
              </a:rPr>
              <a:t>: String):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AzureColor(</a:t>
            </a:r>
            <a:r>
              <a:rPr lang="en" sz="1100" dirty="0">
                <a:solidFill>
                  <a:srgbClr val="000080"/>
                </a:solidFill>
              </a:rPr>
              <a:t>val </a:t>
            </a:r>
            <a:r>
              <a:rPr lang="en" sz="1100" dirty="0">
                <a:solidFill>
                  <a:srgbClr val="660E7A"/>
                </a:solidFill>
              </a:rPr>
              <a:t>name</a:t>
            </a:r>
            <a:r>
              <a:rPr lang="en" sz="1100" dirty="0">
                <a:solidFill>
                  <a:srgbClr val="37474F"/>
                </a:solidFill>
              </a:rPr>
              <a:t>: String):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HoneydewColor(</a:t>
            </a:r>
            <a:r>
              <a:rPr lang="en" sz="1100" dirty="0">
                <a:solidFill>
                  <a:srgbClr val="000080"/>
                </a:solidFill>
              </a:rPr>
              <a:t>val </a:t>
            </a:r>
            <a:r>
              <a:rPr lang="en" sz="1100" dirty="0">
                <a:solidFill>
                  <a:srgbClr val="660E7A"/>
                </a:solidFill>
              </a:rPr>
              <a:t>name</a:t>
            </a:r>
            <a:r>
              <a:rPr lang="en" sz="1100" dirty="0">
                <a:solidFill>
                  <a:srgbClr val="37474F"/>
                </a:solidFill>
              </a:rPr>
              <a:t>: String):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这些类</a:t>
            </a:r>
            <a:r>
              <a:rPr lang="zh-CN" altLang="en-US" sz="14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都有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共同的部分，而且我们知道这些是</a:t>
            </a:r>
            <a:r>
              <a:rPr lang="zh-CN" altLang="en-US" sz="14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唯一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可能的子类。让我们将这段代码移到基类中。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263" name="Google Shape;263;p42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还有一件事</a:t>
            </a:r>
            <a:r>
              <a:rPr lang="en-US" altLang="zh-CN" dirty="0"/>
              <a:t>……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/>
          <p:nvPr/>
        </p:nvSpPr>
        <p:spPr>
          <a:xfrm>
            <a:off x="4770100" y="1750550"/>
            <a:ext cx="44355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ONOR Sans CN" panose="02000500000000000000" pitchFamily="2" charset="-122"/>
              <a:ea typeface="HONOR Sans CN" panose="02000500000000000000" pitchFamily="2" charset="-122"/>
              <a:sym typeface="Arial"/>
            </a:endParaRPr>
          </a:p>
        </p:txBody>
      </p:sp>
      <p:sp>
        <p:nvSpPr>
          <p:cNvPr id="269" name="Google Shape;269;p43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sealed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Color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WhiteColor(</a:t>
            </a: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660E7A"/>
                </a:solidFill>
              </a:rPr>
              <a:t>name</a:t>
            </a:r>
            <a:r>
              <a:rPr lang="en" sz="1100" dirty="0">
                <a:solidFill>
                  <a:srgbClr val="37474F"/>
                </a:solidFill>
              </a:rPr>
              <a:t>: String):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AzureColor(</a:t>
            </a:r>
            <a:r>
              <a:rPr lang="en" sz="1100" dirty="0">
                <a:solidFill>
                  <a:srgbClr val="000080"/>
                </a:solidFill>
              </a:rPr>
              <a:t>val </a:t>
            </a:r>
            <a:r>
              <a:rPr lang="en" sz="1100" dirty="0">
                <a:solidFill>
                  <a:srgbClr val="660E7A"/>
                </a:solidFill>
              </a:rPr>
              <a:t>name</a:t>
            </a:r>
            <a:r>
              <a:rPr lang="en" sz="1100" dirty="0">
                <a:solidFill>
                  <a:srgbClr val="37474F"/>
                </a:solidFill>
              </a:rPr>
              <a:t>: String):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HoneydewColor(</a:t>
            </a:r>
            <a:r>
              <a:rPr lang="en" sz="1100" dirty="0">
                <a:solidFill>
                  <a:srgbClr val="000080"/>
                </a:solidFill>
              </a:rPr>
              <a:t>val </a:t>
            </a:r>
            <a:r>
              <a:rPr lang="en" sz="1100" dirty="0">
                <a:solidFill>
                  <a:srgbClr val="660E7A"/>
                </a:solidFill>
              </a:rPr>
              <a:t>name</a:t>
            </a:r>
            <a:r>
              <a:rPr lang="en" sz="1100" dirty="0">
                <a:solidFill>
                  <a:srgbClr val="37474F"/>
                </a:solidFill>
              </a:rPr>
              <a:t>: String):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sealed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NewColor(</a:t>
            </a: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660E7A"/>
                </a:solidFill>
              </a:rPr>
              <a:t>name</a:t>
            </a:r>
            <a:r>
              <a:rPr lang="en" sz="1100" dirty="0">
                <a:solidFill>
                  <a:srgbClr val="37474F"/>
                </a:solidFill>
              </a:rPr>
              <a:t>: String)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WhiteColor(name: String): NewColor(name)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AzureColor(name: String): NewColor(name)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HoneydewColor(name: String): NewColor(name)</a:t>
            </a:r>
            <a:endParaRPr sz="13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2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实际上，这些类是</a:t>
            </a:r>
            <a:r>
              <a:rPr lang="zh-CN" altLang="en-US" sz="14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等价的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，即第一个版本中的</a:t>
            </a:r>
            <a:r>
              <a:rPr lang="zh-CN" altLang="en-US" sz="1400" i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每个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函数都可以重写为</a:t>
            </a:r>
            <a:r>
              <a:rPr lang="zh-CN" altLang="en-US" sz="1400" i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第二个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版本的形式。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dirty="0"/>
          </a:p>
        </p:txBody>
      </p:sp>
      <p:sp>
        <p:nvSpPr>
          <p:cNvPr id="270" name="Google Shape;270;p43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还有一件事</a:t>
            </a:r>
            <a:r>
              <a:rPr lang="en-US" altLang="zh-CN" dirty="0"/>
              <a:t>……</a:t>
            </a:r>
            <a:endParaRPr dirty="0"/>
          </a:p>
        </p:txBody>
      </p:sp>
      <p:cxnSp>
        <p:nvCxnSpPr>
          <p:cNvPr id="271" name="Google Shape;271;p43"/>
          <p:cNvCxnSpPr/>
          <p:nvPr/>
        </p:nvCxnSpPr>
        <p:spPr>
          <a:xfrm rot="10800000">
            <a:off x="1697400" y="2432232"/>
            <a:ext cx="0" cy="354300"/>
          </a:xfrm>
          <a:prstGeom prst="straightConnector1">
            <a:avLst/>
          </a:prstGeom>
          <a:noFill/>
          <a:ln w="19050" cap="flat" cmpd="sng">
            <a:solidFill>
              <a:srgbClr val="685CE5"/>
            </a:solidFill>
            <a:prstDash val="solid"/>
            <a:round/>
            <a:headEnd type="triangle" w="med" len="med"/>
            <a:tailEnd type="none" w="sm" len="sm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4"/>
          <p:cNvSpPr txBox="1"/>
          <p:nvPr/>
        </p:nvSpPr>
        <p:spPr>
          <a:xfrm>
            <a:off x="4770100" y="1750550"/>
            <a:ext cx="44355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ONOR Sans CN" panose="02000500000000000000" pitchFamily="2" charset="-122"/>
              <a:ea typeface="HONOR Sans CN" panose="02000500000000000000" pitchFamily="2" charset="-122"/>
              <a:sym typeface="Arial"/>
            </a:endParaRPr>
          </a:p>
        </p:txBody>
      </p:sp>
      <p:sp>
        <p:nvSpPr>
          <p:cNvPr id="277" name="Google Shape;277;p44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4188000" cy="26172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sealed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Color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WhiteColor(</a:t>
            </a: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660E7A"/>
                </a:solidFill>
              </a:rPr>
              <a:t>name</a:t>
            </a:r>
            <a:r>
              <a:rPr lang="en" sz="1100" dirty="0">
                <a:solidFill>
                  <a:srgbClr val="37474F"/>
                </a:solidFill>
              </a:rPr>
              <a:t>: String):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AzureColor(</a:t>
            </a:r>
            <a:r>
              <a:rPr lang="en" sz="1100" dirty="0">
                <a:solidFill>
                  <a:srgbClr val="000080"/>
                </a:solidFill>
              </a:rPr>
              <a:t>val </a:t>
            </a:r>
            <a:r>
              <a:rPr lang="en" sz="1100" dirty="0">
                <a:solidFill>
                  <a:srgbClr val="660E7A"/>
                </a:solidFill>
              </a:rPr>
              <a:t>name</a:t>
            </a:r>
            <a:r>
              <a:rPr lang="en" sz="1100" dirty="0">
                <a:solidFill>
                  <a:srgbClr val="37474F"/>
                </a:solidFill>
              </a:rPr>
              <a:t>: String):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HoneydewColor(</a:t>
            </a:r>
            <a:r>
              <a:rPr lang="en" sz="1100" dirty="0">
                <a:solidFill>
                  <a:srgbClr val="000080"/>
                </a:solidFill>
              </a:rPr>
              <a:t>val </a:t>
            </a:r>
            <a:r>
              <a:rPr lang="en" sz="1100" dirty="0">
                <a:solidFill>
                  <a:srgbClr val="660E7A"/>
                </a:solidFill>
              </a:rPr>
              <a:t>name</a:t>
            </a:r>
            <a:r>
              <a:rPr lang="en" sz="1100" dirty="0">
                <a:solidFill>
                  <a:srgbClr val="37474F"/>
                </a:solidFill>
              </a:rPr>
              <a:t>: String):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sealed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NewColor(</a:t>
            </a: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660E7A"/>
                </a:solidFill>
              </a:rPr>
              <a:t>name</a:t>
            </a:r>
            <a:r>
              <a:rPr lang="en" sz="1100" dirty="0">
                <a:solidFill>
                  <a:srgbClr val="37474F"/>
                </a:solidFill>
              </a:rPr>
              <a:t>: String)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WhiteColor(name: String): NewColor(name)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AzureColor(name: String): NewColor(name)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HoneydewColor(name: String): NewColor(name)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dirty="0"/>
          </a:p>
        </p:txBody>
      </p:sp>
      <p:sp>
        <p:nvSpPr>
          <p:cNvPr id="278" name="Google Shape;278;p44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还有一件事</a:t>
            </a:r>
            <a:r>
              <a:rPr lang="en-US" altLang="zh-CN" dirty="0"/>
              <a:t>……</a:t>
            </a:r>
            <a:endParaRPr dirty="0"/>
          </a:p>
        </p:txBody>
      </p:sp>
      <p:sp>
        <p:nvSpPr>
          <p:cNvPr id="279" name="Google Shape;279;p44"/>
          <p:cNvSpPr txBox="1">
            <a:spLocks noGrp="1"/>
          </p:cNvSpPr>
          <p:nvPr>
            <p:ph type="body" idx="1"/>
          </p:nvPr>
        </p:nvSpPr>
        <p:spPr>
          <a:xfrm>
            <a:off x="292600" y="4297680"/>
            <a:ext cx="8439900" cy="5748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在第一个函数中，我们使用了智能类型转换，但在第二个函数中则没有。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280" name="Google Shape;280;p44"/>
          <p:cNvSpPr txBox="1">
            <a:spLocks noGrp="1"/>
          </p:cNvSpPr>
          <p:nvPr>
            <p:ph type="body" idx="1"/>
          </p:nvPr>
        </p:nvSpPr>
        <p:spPr>
          <a:xfrm>
            <a:off x="4801975" y="1335025"/>
            <a:ext cx="4262700" cy="26172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Color.getUserRGB() = </a:t>
            </a:r>
            <a:r>
              <a:rPr lang="en" sz="1100" dirty="0">
                <a:solidFill>
                  <a:srgbClr val="000080"/>
                </a:solidFill>
              </a:rPr>
              <a:t>when</a:t>
            </a:r>
            <a:r>
              <a:rPr lang="en" sz="1100" dirty="0">
                <a:solidFill>
                  <a:srgbClr val="37474F"/>
                </a:solidFill>
              </a:rPr>
              <a:t> (</a:t>
            </a:r>
            <a:r>
              <a:rPr lang="en" sz="1100" dirty="0">
                <a:solidFill>
                  <a:srgbClr val="000080"/>
                </a:solidFill>
              </a:rPr>
              <a:t>this</a:t>
            </a:r>
            <a:r>
              <a:rPr lang="en" sz="1100" dirty="0">
                <a:solidFill>
                  <a:srgbClr val="37474F"/>
                </a:solidFill>
              </a:rPr>
              <a:t>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000080"/>
                </a:solidFill>
              </a:rPr>
              <a:t>is</a:t>
            </a:r>
            <a:r>
              <a:rPr lang="en" sz="1100" dirty="0">
                <a:solidFill>
                  <a:srgbClr val="37474F"/>
                </a:solidFill>
              </a:rPr>
              <a:t> WhiteColor -&gt; </a:t>
            </a:r>
            <a:r>
              <a:rPr lang="en" sz="1100" dirty="0">
                <a:solidFill>
                  <a:srgbClr val="008000"/>
                </a:solidFill>
              </a:rPr>
              <a:t>"</a:t>
            </a:r>
            <a:r>
              <a:rPr lang="en" sz="1100" dirty="0">
                <a:solidFill>
                  <a:srgbClr val="37474F"/>
                </a:solidFill>
              </a:rPr>
              <a:t>${</a:t>
            </a:r>
            <a:r>
              <a:rPr lang="en" sz="1100" dirty="0">
                <a:solidFill>
                  <a:srgbClr val="37474F"/>
                </a:solidFill>
                <a:highlight>
                  <a:srgbClr val="B6D7A8"/>
                </a:highlight>
              </a:rPr>
              <a:t>this</a:t>
            </a:r>
            <a:r>
              <a:rPr lang="en" sz="1100" dirty="0">
                <a:solidFill>
                  <a:srgbClr val="37474F"/>
                </a:solidFill>
              </a:rPr>
              <a:t>.name}</a:t>
            </a:r>
            <a:r>
              <a:rPr lang="en" sz="1100" dirty="0">
                <a:solidFill>
                  <a:srgbClr val="008000"/>
                </a:solidFill>
              </a:rPr>
              <a:t>: #FFFFFF"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000080"/>
                </a:solidFill>
              </a:rPr>
              <a:t>is</a:t>
            </a:r>
            <a:r>
              <a:rPr lang="en" sz="1100" dirty="0">
                <a:solidFill>
                  <a:srgbClr val="37474F"/>
                </a:solidFill>
              </a:rPr>
              <a:t> AzureColor -&gt; </a:t>
            </a:r>
            <a:r>
              <a:rPr lang="en" sz="1100" dirty="0">
                <a:solidFill>
                  <a:srgbClr val="008000"/>
                </a:solidFill>
              </a:rPr>
              <a:t>"</a:t>
            </a:r>
            <a:r>
              <a:rPr lang="en" sz="1100" dirty="0">
                <a:solidFill>
                  <a:srgbClr val="37474F"/>
                </a:solidFill>
              </a:rPr>
              <a:t>${</a:t>
            </a:r>
            <a:r>
              <a:rPr lang="en" sz="1100" dirty="0">
                <a:solidFill>
                  <a:srgbClr val="37474F"/>
                </a:solidFill>
                <a:highlight>
                  <a:srgbClr val="B6D7A8"/>
                </a:highlight>
              </a:rPr>
              <a:t>this</a:t>
            </a:r>
            <a:r>
              <a:rPr lang="en" sz="1100" dirty="0">
                <a:solidFill>
                  <a:srgbClr val="37474F"/>
                </a:solidFill>
              </a:rPr>
              <a:t>.name}: </a:t>
            </a:r>
            <a:r>
              <a:rPr lang="en" sz="1100" dirty="0">
                <a:solidFill>
                  <a:srgbClr val="008000"/>
                </a:solidFill>
              </a:rPr>
              <a:t>#F0FFFF"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000080"/>
                </a:solidFill>
              </a:rPr>
              <a:t>is</a:t>
            </a:r>
            <a:r>
              <a:rPr lang="en" sz="1100" dirty="0">
                <a:solidFill>
                  <a:srgbClr val="37474F"/>
                </a:solidFill>
              </a:rPr>
              <a:t> HoneydewColor -&gt; </a:t>
            </a:r>
            <a:r>
              <a:rPr lang="en" sz="1100" dirty="0">
                <a:solidFill>
                  <a:srgbClr val="008000"/>
                </a:solidFill>
              </a:rPr>
              <a:t>"</a:t>
            </a:r>
            <a:r>
              <a:rPr lang="en" sz="1100" dirty="0">
                <a:solidFill>
                  <a:srgbClr val="37474F"/>
                </a:solidFill>
              </a:rPr>
              <a:t>${</a:t>
            </a:r>
            <a:r>
              <a:rPr lang="en" sz="1100" dirty="0">
                <a:solidFill>
                  <a:srgbClr val="37474F"/>
                </a:solidFill>
                <a:highlight>
                  <a:srgbClr val="B6D7A8"/>
                </a:highlight>
              </a:rPr>
              <a:t>this</a:t>
            </a:r>
            <a:r>
              <a:rPr lang="en" sz="1100" dirty="0">
                <a:solidFill>
                  <a:srgbClr val="37474F"/>
                </a:solidFill>
              </a:rPr>
              <a:t>.name}: </a:t>
            </a:r>
            <a:r>
              <a:rPr lang="en" sz="1100" dirty="0">
                <a:solidFill>
                  <a:srgbClr val="008000"/>
                </a:solidFill>
              </a:rPr>
              <a:t>F0FFF0"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NewColor.getUserRGB() = </a:t>
            </a:r>
            <a:r>
              <a:rPr lang="en" sz="1100" dirty="0">
                <a:solidFill>
                  <a:srgbClr val="000080"/>
                </a:solidFill>
              </a:rPr>
              <a:t>when</a:t>
            </a:r>
            <a:r>
              <a:rPr lang="en" sz="1100" dirty="0">
                <a:solidFill>
                  <a:srgbClr val="37474F"/>
                </a:solidFill>
              </a:rPr>
              <a:t> (</a:t>
            </a:r>
            <a:r>
              <a:rPr lang="en" sz="1100" dirty="0">
                <a:solidFill>
                  <a:srgbClr val="000080"/>
                </a:solidFill>
              </a:rPr>
              <a:t>this</a:t>
            </a:r>
            <a:r>
              <a:rPr lang="en" sz="1100" dirty="0">
                <a:solidFill>
                  <a:srgbClr val="37474F"/>
                </a:solidFill>
              </a:rPr>
              <a:t>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000080"/>
                </a:solidFill>
              </a:rPr>
              <a:t>is</a:t>
            </a:r>
            <a:r>
              <a:rPr lang="en" sz="1100" dirty="0">
                <a:solidFill>
                  <a:srgbClr val="37474F"/>
                </a:solidFill>
              </a:rPr>
              <a:t> WhiteColor -&gt; </a:t>
            </a:r>
            <a:r>
              <a:rPr lang="en" sz="1100" dirty="0">
                <a:solidFill>
                  <a:srgbClr val="008000"/>
                </a:solidFill>
              </a:rPr>
              <a:t>"</a:t>
            </a:r>
            <a:r>
              <a:rPr lang="en" sz="1100" dirty="0">
                <a:solidFill>
                  <a:srgbClr val="37474F"/>
                </a:solidFill>
              </a:rPr>
              <a:t>${this.name}</a:t>
            </a:r>
            <a:r>
              <a:rPr lang="en" sz="1100" dirty="0">
                <a:solidFill>
                  <a:srgbClr val="008000"/>
                </a:solidFill>
              </a:rPr>
              <a:t>: #FFFFFF"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000080"/>
                </a:solidFill>
              </a:rPr>
              <a:t>is</a:t>
            </a:r>
            <a:r>
              <a:rPr lang="en" sz="1100" dirty="0">
                <a:solidFill>
                  <a:srgbClr val="37474F"/>
                </a:solidFill>
              </a:rPr>
              <a:t> AzureColor -&gt; </a:t>
            </a:r>
            <a:r>
              <a:rPr lang="en" sz="1100" dirty="0">
                <a:solidFill>
                  <a:srgbClr val="008000"/>
                </a:solidFill>
              </a:rPr>
              <a:t>"</a:t>
            </a:r>
            <a:r>
              <a:rPr lang="en" sz="1100" dirty="0">
                <a:solidFill>
                  <a:srgbClr val="37474F"/>
                </a:solidFill>
              </a:rPr>
              <a:t>${this.name}: </a:t>
            </a:r>
            <a:r>
              <a:rPr lang="en" sz="1100" dirty="0">
                <a:solidFill>
                  <a:srgbClr val="008000"/>
                </a:solidFill>
              </a:rPr>
              <a:t>#F0FFFF"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000080"/>
                </a:solidFill>
              </a:rPr>
              <a:t>is</a:t>
            </a:r>
            <a:r>
              <a:rPr lang="en" sz="1100" dirty="0">
                <a:solidFill>
                  <a:srgbClr val="37474F"/>
                </a:solidFill>
              </a:rPr>
              <a:t> HoneydewColor -&gt; </a:t>
            </a:r>
            <a:r>
              <a:rPr lang="en" sz="1100" dirty="0">
                <a:solidFill>
                  <a:srgbClr val="008000"/>
                </a:solidFill>
              </a:rPr>
              <a:t>"</a:t>
            </a:r>
            <a:r>
              <a:rPr lang="en" sz="1100" dirty="0">
                <a:solidFill>
                  <a:srgbClr val="37474F"/>
                </a:solidFill>
              </a:rPr>
              <a:t>${this.name}: </a:t>
            </a:r>
            <a:r>
              <a:rPr lang="en" sz="1100" dirty="0">
                <a:solidFill>
                  <a:srgbClr val="008000"/>
                </a:solidFill>
              </a:rPr>
              <a:t>F0FFF0"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000080"/>
              </a:solidFill>
            </a:endParaRPr>
          </a:p>
        </p:txBody>
      </p:sp>
      <p:cxnSp>
        <p:nvCxnSpPr>
          <p:cNvPr id="281" name="Google Shape;281;p44"/>
          <p:cNvCxnSpPr/>
          <p:nvPr/>
        </p:nvCxnSpPr>
        <p:spPr>
          <a:xfrm rot="10800000">
            <a:off x="1697400" y="2432232"/>
            <a:ext cx="0" cy="354300"/>
          </a:xfrm>
          <a:prstGeom prst="straightConnector1">
            <a:avLst/>
          </a:prstGeom>
          <a:noFill/>
          <a:ln w="19050" cap="flat" cmpd="sng">
            <a:solidFill>
              <a:srgbClr val="685CE5"/>
            </a:solidFill>
            <a:prstDash val="solid"/>
            <a:round/>
            <a:headEnd type="triangle" w="med" len="med"/>
            <a:tailEnd type="none" w="sm" len="sm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>
            <a:spLocks noGrp="1"/>
          </p:cNvSpPr>
          <p:nvPr>
            <p:ph type="body" idx="4294967295"/>
          </p:nvPr>
        </p:nvSpPr>
        <p:spPr>
          <a:xfrm>
            <a:off x="292608" y="4297680"/>
            <a:ext cx="85206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altLang="en-US" b="1" dirty="0">
                <a:latin typeface="HONOR Sans CN" panose="02000500000000000000" pitchFamily="2" charset="-122"/>
                <a:ea typeface="HONOR Sans CN" panose="02000500000000000000" pitchFamily="2" charset="-122"/>
              </a:rPr>
              <a:t>数学时间！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</a:rPr>
              <a:t>我们其实可以用数学术语来重写这个表达式：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 dirty="0">
                <a:latin typeface="HONOR Sans CN" panose="02000500000000000000" pitchFamily="2" charset="-122"/>
                <a:ea typeface="HONOR Sans CN" panose="02000500000000000000" pitchFamily="2" charset="-122"/>
              </a:rPr>
              <a:t> 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WhiteColor</a:t>
            </a:r>
            <a:r>
              <a:rPr lang="en" sz="1400" dirty="0">
                <a:latin typeface="HONOR Sans CN" panose="02000500000000000000" pitchFamily="2" charset="-122"/>
                <a:ea typeface="HONOR Sans CN" panose="02000500000000000000" pitchFamily="2" charset="-122"/>
              </a:rPr>
              <a:t> * 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sz="1400" dirty="0">
                <a:latin typeface="HONOR Sans CN" panose="02000500000000000000" pitchFamily="2" charset="-122"/>
                <a:ea typeface="HONOR Sans CN" panose="02000500000000000000" pitchFamily="2" charset="-122"/>
              </a:rPr>
              <a:t> + … + 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HoneydewColor</a:t>
            </a:r>
            <a:r>
              <a:rPr lang="en" sz="1400" dirty="0">
                <a:latin typeface="HONOR Sans CN" panose="02000500000000000000" pitchFamily="2" charset="-122"/>
                <a:ea typeface="HONOR Sans CN" panose="02000500000000000000" pitchFamily="2" charset="-122"/>
              </a:rPr>
              <a:t> * 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≃ String </a:t>
            </a:r>
            <a:r>
              <a:rPr lang="en" sz="1400" dirty="0">
                <a:latin typeface="HONOR Sans CN" panose="02000500000000000000" pitchFamily="2" charset="-122"/>
                <a:ea typeface="HONOR Sans CN" panose="02000500000000000000" pitchFamily="2" charset="-122"/>
              </a:rPr>
              <a:t>* (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WhiteColor</a:t>
            </a:r>
            <a:r>
              <a:rPr lang="en" sz="1400" dirty="0">
                <a:latin typeface="HONOR Sans CN" panose="02000500000000000000" pitchFamily="2" charset="-122"/>
                <a:ea typeface="HONOR Sans CN" panose="02000500000000000000" pitchFamily="2" charset="-122"/>
              </a:rPr>
              <a:t> + … + </a:t>
            </a:r>
            <a:r>
              <a:rPr lang="en" sz="11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HoneydewColor</a:t>
            </a:r>
            <a:r>
              <a:rPr lang="en" sz="1400" dirty="0">
                <a:latin typeface="HONOR Sans CN" panose="02000500000000000000" pitchFamily="2" charset="-122"/>
                <a:ea typeface="HONOR Sans CN" panose="02000500000000000000" pitchFamily="2" charset="-122"/>
              </a:rPr>
              <a:t>)</a:t>
            </a:r>
            <a:endParaRPr sz="12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7" name="Google Shape;287;p45"/>
          <p:cNvSpPr txBox="1"/>
          <p:nvPr/>
        </p:nvSpPr>
        <p:spPr>
          <a:xfrm>
            <a:off x="4770100" y="1750550"/>
            <a:ext cx="44355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ONOR Sans CN" panose="02000500000000000000" pitchFamily="2" charset="-122"/>
              <a:ea typeface="HONOR Sans CN" panose="02000500000000000000" pitchFamily="2" charset="-122"/>
              <a:sym typeface="Arial"/>
            </a:endParaRPr>
          </a:p>
        </p:txBody>
      </p:sp>
      <p:sp>
        <p:nvSpPr>
          <p:cNvPr id="288" name="Google Shape;288;p45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41430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sealed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Color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WhiteColor(</a:t>
            </a: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660E7A"/>
                </a:solidFill>
              </a:rPr>
              <a:t>name</a:t>
            </a:r>
            <a:r>
              <a:rPr lang="en" sz="1100" dirty="0">
                <a:solidFill>
                  <a:srgbClr val="37474F"/>
                </a:solidFill>
              </a:rPr>
              <a:t>: String):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AzureColor(</a:t>
            </a:r>
            <a:r>
              <a:rPr lang="en" sz="1100" dirty="0">
                <a:solidFill>
                  <a:srgbClr val="000080"/>
                </a:solidFill>
              </a:rPr>
              <a:t>val </a:t>
            </a:r>
            <a:r>
              <a:rPr lang="en" sz="1100" dirty="0">
                <a:solidFill>
                  <a:srgbClr val="660E7A"/>
                </a:solidFill>
              </a:rPr>
              <a:t>name</a:t>
            </a:r>
            <a:r>
              <a:rPr lang="en" sz="1100" dirty="0">
                <a:solidFill>
                  <a:srgbClr val="37474F"/>
                </a:solidFill>
              </a:rPr>
              <a:t>: String):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HoneydewColor(</a:t>
            </a:r>
            <a:r>
              <a:rPr lang="en" sz="1100" dirty="0">
                <a:solidFill>
                  <a:srgbClr val="000080"/>
                </a:solidFill>
              </a:rPr>
              <a:t>val </a:t>
            </a:r>
            <a:r>
              <a:rPr lang="en" sz="1100" dirty="0">
                <a:solidFill>
                  <a:srgbClr val="660E7A"/>
                </a:solidFill>
              </a:rPr>
              <a:t>name</a:t>
            </a:r>
            <a:r>
              <a:rPr lang="en" sz="1100" dirty="0">
                <a:solidFill>
                  <a:srgbClr val="37474F"/>
                </a:solidFill>
              </a:rPr>
              <a:t>: String): Color()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sealed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NewColor(</a:t>
            </a:r>
            <a:r>
              <a:rPr lang="en" sz="1100" dirty="0">
                <a:solidFill>
                  <a:srgbClr val="000080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660E7A"/>
                </a:solidFill>
              </a:rPr>
              <a:t>name</a:t>
            </a:r>
            <a:r>
              <a:rPr lang="en" sz="1100" dirty="0">
                <a:solidFill>
                  <a:srgbClr val="37474F"/>
                </a:solidFill>
              </a:rPr>
              <a:t>: String)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WhiteColor(name: String): NewColor(name)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AzureColor(name: String): NewColor(name)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000080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HoneydewColor(name: String): NewColor(name)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dirty="0"/>
          </a:p>
        </p:txBody>
      </p:sp>
      <p:sp>
        <p:nvSpPr>
          <p:cNvPr id="289" name="Google Shape;289;p45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还有一件事</a:t>
            </a:r>
            <a:r>
              <a:rPr lang="en-US" altLang="zh-CN" dirty="0"/>
              <a:t>……</a:t>
            </a:r>
            <a:endParaRPr dirty="0"/>
          </a:p>
        </p:txBody>
      </p:sp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4800600" y="1335025"/>
            <a:ext cx="41430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0080"/>
                </a:solidFill>
              </a:rPr>
              <a:t>fun</a:t>
            </a:r>
            <a:r>
              <a:rPr lang="en" sz="1100">
                <a:solidFill>
                  <a:srgbClr val="37474F"/>
                </a:solidFill>
              </a:rPr>
              <a:t> Color.getUserRGB() = </a:t>
            </a:r>
            <a:r>
              <a:rPr lang="en" sz="1100">
                <a:solidFill>
                  <a:srgbClr val="000080"/>
                </a:solidFill>
              </a:rPr>
              <a:t>when</a:t>
            </a:r>
            <a:r>
              <a:rPr lang="en" sz="1100">
                <a:solidFill>
                  <a:srgbClr val="37474F"/>
                </a:solidFill>
              </a:rPr>
              <a:t> (</a:t>
            </a:r>
            <a:r>
              <a:rPr lang="en" sz="1100">
                <a:solidFill>
                  <a:srgbClr val="000080"/>
                </a:solidFill>
              </a:rPr>
              <a:t>this</a:t>
            </a:r>
            <a:r>
              <a:rPr lang="en" sz="1100">
                <a:solidFill>
                  <a:srgbClr val="37474F"/>
                </a:solidFill>
              </a:rPr>
              <a:t>) {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   </a:t>
            </a:r>
            <a:r>
              <a:rPr lang="en" sz="1100">
                <a:solidFill>
                  <a:srgbClr val="000080"/>
                </a:solidFill>
              </a:rPr>
              <a:t>is</a:t>
            </a:r>
            <a:r>
              <a:rPr lang="en" sz="1100">
                <a:solidFill>
                  <a:srgbClr val="37474F"/>
                </a:solidFill>
              </a:rPr>
              <a:t> WhiteColor -&gt; </a:t>
            </a:r>
            <a:r>
              <a:rPr lang="en" sz="1100">
                <a:solidFill>
                  <a:srgbClr val="008000"/>
                </a:solidFill>
              </a:rPr>
              <a:t>"</a:t>
            </a:r>
            <a:r>
              <a:rPr lang="en" sz="1100">
                <a:solidFill>
                  <a:srgbClr val="37474F"/>
                </a:solidFill>
              </a:rPr>
              <a:t>${</a:t>
            </a:r>
            <a:r>
              <a:rPr lang="en" sz="1100">
                <a:solidFill>
                  <a:srgbClr val="37474F"/>
                </a:solidFill>
                <a:highlight>
                  <a:srgbClr val="B6D7A8"/>
                </a:highlight>
              </a:rPr>
              <a:t>this</a:t>
            </a:r>
            <a:r>
              <a:rPr lang="en" sz="1100">
                <a:solidFill>
                  <a:srgbClr val="37474F"/>
                </a:solidFill>
              </a:rPr>
              <a:t>.name}</a:t>
            </a:r>
            <a:r>
              <a:rPr lang="en" sz="1100">
                <a:solidFill>
                  <a:srgbClr val="008000"/>
                </a:solidFill>
              </a:rPr>
              <a:t>: #FFFFFF"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   </a:t>
            </a:r>
            <a:r>
              <a:rPr lang="en" sz="1100">
                <a:solidFill>
                  <a:srgbClr val="000080"/>
                </a:solidFill>
              </a:rPr>
              <a:t>is</a:t>
            </a:r>
            <a:r>
              <a:rPr lang="en" sz="1100">
                <a:solidFill>
                  <a:srgbClr val="37474F"/>
                </a:solidFill>
              </a:rPr>
              <a:t> AzureColor -&gt; </a:t>
            </a:r>
            <a:r>
              <a:rPr lang="en" sz="1100">
                <a:solidFill>
                  <a:srgbClr val="008000"/>
                </a:solidFill>
              </a:rPr>
              <a:t>"</a:t>
            </a:r>
            <a:r>
              <a:rPr lang="en" sz="1100">
                <a:solidFill>
                  <a:srgbClr val="37474F"/>
                </a:solidFill>
              </a:rPr>
              <a:t>${</a:t>
            </a:r>
            <a:r>
              <a:rPr lang="en" sz="1100">
                <a:solidFill>
                  <a:srgbClr val="37474F"/>
                </a:solidFill>
                <a:highlight>
                  <a:srgbClr val="B6D7A8"/>
                </a:highlight>
              </a:rPr>
              <a:t>this</a:t>
            </a:r>
            <a:r>
              <a:rPr lang="en" sz="1100">
                <a:solidFill>
                  <a:srgbClr val="37474F"/>
                </a:solidFill>
              </a:rPr>
              <a:t>.name}: </a:t>
            </a:r>
            <a:r>
              <a:rPr lang="en" sz="1100">
                <a:solidFill>
                  <a:srgbClr val="008000"/>
                </a:solidFill>
              </a:rPr>
              <a:t>#F0FFFF"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   </a:t>
            </a:r>
            <a:r>
              <a:rPr lang="en" sz="1100">
                <a:solidFill>
                  <a:srgbClr val="000080"/>
                </a:solidFill>
              </a:rPr>
              <a:t>is</a:t>
            </a:r>
            <a:r>
              <a:rPr lang="en" sz="1100">
                <a:solidFill>
                  <a:srgbClr val="37474F"/>
                </a:solidFill>
              </a:rPr>
              <a:t> HoneydewColor -&gt; </a:t>
            </a:r>
            <a:r>
              <a:rPr lang="en" sz="1100">
                <a:solidFill>
                  <a:srgbClr val="008000"/>
                </a:solidFill>
              </a:rPr>
              <a:t>"</a:t>
            </a:r>
            <a:r>
              <a:rPr lang="en" sz="1100">
                <a:solidFill>
                  <a:srgbClr val="37474F"/>
                </a:solidFill>
              </a:rPr>
              <a:t>${</a:t>
            </a:r>
            <a:r>
              <a:rPr lang="en" sz="1100">
                <a:solidFill>
                  <a:srgbClr val="37474F"/>
                </a:solidFill>
                <a:highlight>
                  <a:srgbClr val="B6D7A8"/>
                </a:highlight>
              </a:rPr>
              <a:t>this</a:t>
            </a:r>
            <a:r>
              <a:rPr lang="en" sz="1100">
                <a:solidFill>
                  <a:srgbClr val="37474F"/>
                </a:solidFill>
              </a:rPr>
              <a:t>.name}: </a:t>
            </a:r>
            <a:r>
              <a:rPr lang="en" sz="1100">
                <a:solidFill>
                  <a:srgbClr val="008000"/>
                </a:solidFill>
              </a:rPr>
              <a:t>F0FFF0"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}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0080"/>
                </a:solidFill>
              </a:rPr>
              <a:t>fun</a:t>
            </a:r>
            <a:r>
              <a:rPr lang="en" sz="1100">
                <a:solidFill>
                  <a:srgbClr val="37474F"/>
                </a:solidFill>
              </a:rPr>
              <a:t> NewColor.getUserRGB() = </a:t>
            </a:r>
            <a:r>
              <a:rPr lang="en" sz="1100">
                <a:solidFill>
                  <a:srgbClr val="000080"/>
                </a:solidFill>
              </a:rPr>
              <a:t>when</a:t>
            </a:r>
            <a:r>
              <a:rPr lang="en" sz="1100">
                <a:solidFill>
                  <a:srgbClr val="37474F"/>
                </a:solidFill>
              </a:rPr>
              <a:t> (</a:t>
            </a:r>
            <a:r>
              <a:rPr lang="en" sz="1100">
                <a:solidFill>
                  <a:srgbClr val="000080"/>
                </a:solidFill>
              </a:rPr>
              <a:t>this</a:t>
            </a:r>
            <a:r>
              <a:rPr lang="en" sz="1100">
                <a:solidFill>
                  <a:srgbClr val="37474F"/>
                </a:solidFill>
              </a:rPr>
              <a:t>) {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   </a:t>
            </a:r>
            <a:r>
              <a:rPr lang="en" sz="1100">
                <a:solidFill>
                  <a:srgbClr val="000080"/>
                </a:solidFill>
              </a:rPr>
              <a:t>is</a:t>
            </a:r>
            <a:r>
              <a:rPr lang="en" sz="1100">
                <a:solidFill>
                  <a:srgbClr val="37474F"/>
                </a:solidFill>
              </a:rPr>
              <a:t> WhiteColor -&gt; </a:t>
            </a:r>
            <a:r>
              <a:rPr lang="en" sz="1100">
                <a:solidFill>
                  <a:srgbClr val="008000"/>
                </a:solidFill>
              </a:rPr>
              <a:t>"</a:t>
            </a:r>
            <a:r>
              <a:rPr lang="en" sz="1100">
                <a:solidFill>
                  <a:srgbClr val="37474F"/>
                </a:solidFill>
              </a:rPr>
              <a:t>${this.name}</a:t>
            </a:r>
            <a:r>
              <a:rPr lang="en" sz="1100">
                <a:solidFill>
                  <a:srgbClr val="008000"/>
                </a:solidFill>
              </a:rPr>
              <a:t>: #FFFFFF"</a:t>
            </a:r>
            <a:endParaRPr sz="110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   </a:t>
            </a:r>
            <a:r>
              <a:rPr lang="en" sz="1100">
                <a:solidFill>
                  <a:srgbClr val="000080"/>
                </a:solidFill>
              </a:rPr>
              <a:t>is</a:t>
            </a:r>
            <a:r>
              <a:rPr lang="en" sz="1100">
                <a:solidFill>
                  <a:srgbClr val="37474F"/>
                </a:solidFill>
              </a:rPr>
              <a:t> AzureColor -&gt; </a:t>
            </a:r>
            <a:r>
              <a:rPr lang="en" sz="1100">
                <a:solidFill>
                  <a:srgbClr val="008000"/>
                </a:solidFill>
              </a:rPr>
              <a:t>"</a:t>
            </a:r>
            <a:r>
              <a:rPr lang="en" sz="1100">
                <a:solidFill>
                  <a:srgbClr val="37474F"/>
                </a:solidFill>
              </a:rPr>
              <a:t>${this.name}: </a:t>
            </a:r>
            <a:r>
              <a:rPr lang="en" sz="1100">
                <a:solidFill>
                  <a:srgbClr val="008000"/>
                </a:solidFill>
              </a:rPr>
              <a:t>#F0FFFF"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   </a:t>
            </a:r>
            <a:r>
              <a:rPr lang="en" sz="1100">
                <a:solidFill>
                  <a:srgbClr val="000080"/>
                </a:solidFill>
              </a:rPr>
              <a:t>is</a:t>
            </a:r>
            <a:r>
              <a:rPr lang="en" sz="1100">
                <a:solidFill>
                  <a:srgbClr val="37474F"/>
                </a:solidFill>
              </a:rPr>
              <a:t> HoneydewColor -&gt; </a:t>
            </a:r>
            <a:r>
              <a:rPr lang="en" sz="1100">
                <a:solidFill>
                  <a:srgbClr val="008000"/>
                </a:solidFill>
              </a:rPr>
              <a:t>"</a:t>
            </a:r>
            <a:r>
              <a:rPr lang="en" sz="1100">
                <a:solidFill>
                  <a:srgbClr val="37474F"/>
                </a:solidFill>
              </a:rPr>
              <a:t>${this.name}: </a:t>
            </a:r>
            <a:r>
              <a:rPr lang="en" sz="1100">
                <a:solidFill>
                  <a:srgbClr val="008000"/>
                </a:solidFill>
              </a:rPr>
              <a:t>F0FFF0"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7474F"/>
                </a:solidFill>
              </a:rPr>
              <a:t>}</a:t>
            </a:r>
            <a:endParaRPr sz="110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100">
              <a:solidFill>
                <a:srgbClr val="000080"/>
              </a:solidFill>
            </a:endParaRPr>
          </a:p>
        </p:txBody>
      </p:sp>
      <p:cxnSp>
        <p:nvCxnSpPr>
          <p:cNvPr id="291" name="Google Shape;291;p45"/>
          <p:cNvCxnSpPr/>
          <p:nvPr/>
        </p:nvCxnSpPr>
        <p:spPr>
          <a:xfrm rot="10800000">
            <a:off x="1697400" y="2432232"/>
            <a:ext cx="0" cy="354300"/>
          </a:xfrm>
          <a:prstGeom prst="straightConnector1">
            <a:avLst/>
          </a:prstGeom>
          <a:noFill/>
          <a:ln w="19050" cap="flat" cmpd="sng">
            <a:solidFill>
              <a:srgbClr val="685CE5"/>
            </a:solidFill>
            <a:prstDash val="solid"/>
            <a:round/>
            <a:headEnd type="triangle" w="med" len="med"/>
            <a:tailEnd type="none" w="sm" len="sm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4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数学时间！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我们其实可以用数学术语来重写这个表达式：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sz="1100" dirty="0">
                <a:solidFill>
                  <a:srgbClr val="37474F"/>
                </a:solidFill>
              </a:rPr>
              <a:t>WhiteColor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* </a:t>
            </a:r>
            <a:r>
              <a:rPr lang="en" sz="1100" dirty="0">
                <a:solidFill>
                  <a:srgbClr val="37474F"/>
                </a:solidFill>
              </a:rPr>
              <a:t>String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+ … + </a:t>
            </a:r>
            <a:r>
              <a:rPr lang="en" sz="1100" dirty="0">
                <a:solidFill>
                  <a:srgbClr val="37474F"/>
                </a:solidFill>
              </a:rPr>
              <a:t>HoneydewColor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* </a:t>
            </a:r>
            <a:r>
              <a:rPr lang="en" sz="1100" dirty="0">
                <a:solidFill>
                  <a:srgbClr val="37474F"/>
                </a:solidFill>
              </a:rPr>
              <a:t>String ≃ String 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* (</a:t>
            </a:r>
            <a:r>
              <a:rPr lang="en" sz="1100" dirty="0">
                <a:solidFill>
                  <a:srgbClr val="37474F"/>
                </a:solidFill>
              </a:rPr>
              <a:t>WhiteColor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+ … + </a:t>
            </a:r>
            <a:r>
              <a:rPr lang="en" sz="1100" dirty="0">
                <a:solidFill>
                  <a:srgbClr val="37474F"/>
                </a:solidFill>
              </a:rPr>
              <a:t>HoneydewColor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)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之所以能这样做，是因为我们实际上是在处理</a:t>
            </a:r>
            <a:r>
              <a:rPr lang="zh-CN" altLang="en-US" sz="14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代数数据类型</a:t>
            </a:r>
            <a:r>
              <a:rPr lang="en-US" altLang="zh-CN" sz="14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*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，因此可以利用它们的特性。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dirty="0">
              <a:solidFill>
                <a:srgbClr val="00008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400" i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*</a:t>
            </a:r>
            <a:r>
              <a:rPr lang="zh-CN" altLang="en-US" sz="1400" i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这并非完全准确，但在涉及密封类的绝大多数情况下，这种写法是成立的。</a:t>
            </a:r>
            <a:endParaRPr sz="1400" i="1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297" name="Google Shape;297;p46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还有一件事</a:t>
            </a:r>
            <a:r>
              <a:rPr lang="en-US" altLang="zh-CN" dirty="0"/>
              <a:t>……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7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altLang="en-US" dirty="0"/>
              <a:t>最后思考</a:t>
            </a:r>
            <a:endParaRPr dirty="0"/>
          </a:p>
        </p:txBody>
      </p:sp>
      <p:sp>
        <p:nvSpPr>
          <p:cNvPr id="303" name="Google Shape;303;p47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中的函数式编程并不会取代面向对象编程。这两种编程范式各有优缺点，关键在于将它们结合起来，从而编写出简洁、易读且易于理解的代码！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如果您对 </a:t>
            </a:r>
            <a:r>
              <a:rPr lang="en-US" altLang="zh-CN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sz="14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中的函数式编程感兴趣，并希望进行更深入的研究，请访问此链接：</a:t>
            </a:r>
            <a:r>
              <a:rPr lang="en" sz="1400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3"/>
              </a:rPr>
              <a:t>https://arrow-kt.io/</a:t>
            </a: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4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8"/>
          <p:cNvSpPr txBox="1"/>
          <p:nvPr/>
        </p:nvSpPr>
        <p:spPr>
          <a:xfrm>
            <a:off x="276225" y="285750"/>
            <a:ext cx="7153200" cy="19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 dirty="0">
                <a:solidFill>
                  <a:schemeClr val="lt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Thanks!</a:t>
            </a:r>
            <a:endParaRPr sz="48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309" name="Google Shape;309;p48">
            <a:hlinkClick r:id="rId3"/>
          </p:cNvPr>
          <p:cNvSpPr txBox="1"/>
          <p:nvPr/>
        </p:nvSpPr>
        <p:spPr>
          <a:xfrm>
            <a:off x="238875" y="4469150"/>
            <a:ext cx="216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@kotlin</a:t>
            </a:r>
            <a:endParaRPr sz="17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310" name="Google Shape;310;p48"/>
          <p:cNvSpPr txBox="1"/>
          <p:nvPr/>
        </p:nvSpPr>
        <p:spPr>
          <a:xfrm>
            <a:off x="1079350" y="4469150"/>
            <a:ext cx="39678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|  Developed by JetBrains </a:t>
            </a:r>
            <a:endParaRPr sz="17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 White Theme">
  <a:themeElements>
    <a:clrScheme name="Simple Light">
      <a:dk1>
        <a:srgbClr val="000000"/>
      </a:dk1>
      <a:lt1>
        <a:srgbClr val="FFFFFF"/>
      </a:lt1>
      <a:dk2>
        <a:srgbClr val="27282C"/>
      </a:dk2>
      <a:lt2>
        <a:srgbClr val="000000"/>
      </a:lt2>
      <a:accent1>
        <a:srgbClr val="28B8A0"/>
      </a:accent1>
      <a:accent2>
        <a:srgbClr val="FC801D"/>
      </a:accent2>
      <a:accent3>
        <a:srgbClr val="FF318C"/>
      </a:accent3>
      <a:accent4>
        <a:srgbClr val="6B57FF"/>
      </a:accent4>
      <a:accent5>
        <a:srgbClr val="087CFA"/>
      </a:accent5>
      <a:accent6>
        <a:srgbClr val="000000"/>
      </a:accent6>
      <a:hlink>
        <a:srgbClr val="FF31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5216</Words>
  <PresentationFormat>全屏显示(16:9)</PresentationFormat>
  <Paragraphs>518</Paragraphs>
  <Slides>37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4" baseType="lpstr">
      <vt:lpstr>JetBrains Mono</vt:lpstr>
      <vt:lpstr>Open Sans</vt:lpstr>
      <vt:lpstr>HONOR Sans CN</vt:lpstr>
      <vt:lpstr>Arial</vt:lpstr>
      <vt:lpstr>Inter</vt:lpstr>
      <vt:lpstr>Raleway</vt:lpstr>
      <vt:lpstr>Standard White Theme</vt:lpstr>
      <vt:lpstr>PowerPoint 演示文稿</vt:lpstr>
      <vt:lpstr>这是什么？</vt:lpstr>
      <vt:lpstr>我们的方法</vt:lpstr>
      <vt:lpstr>我们已经知道……</vt:lpstr>
      <vt:lpstr>我们已经知道……</vt:lpstr>
      <vt:lpstr>高阶函数（HOFs）</vt:lpstr>
      <vt:lpstr>高阶函数（HOFs）</vt:lpstr>
      <vt:lpstr>高阶函数（HOFs）</vt:lpstr>
      <vt:lpstr>高阶函数（HOFs）</vt:lpstr>
      <vt:lpstr>高阶函数（HOFs）</vt:lpstr>
      <vt:lpstr>高阶函数（HOFs）</vt:lpstr>
      <vt:lpstr>高阶函数（HOFs）</vt:lpstr>
      <vt:lpstr>高阶函数（HOFs）</vt:lpstr>
      <vt:lpstr>高阶函数（HOFs）</vt:lpstr>
      <vt:lpstr>高阶函数（HOFs）</vt:lpstr>
      <vt:lpstr>高阶函数（HOFs）</vt:lpstr>
      <vt:lpstr>高阶函数（HOFs）</vt:lpstr>
      <vt:lpstr>高阶函数（HOFs）</vt:lpstr>
      <vt:lpstr>高阶函数（HOFs）</vt:lpstr>
      <vt:lpstr>高阶函数（HOFs）</vt:lpstr>
      <vt:lpstr>高阶函数（HOFs）</vt:lpstr>
      <vt:lpstr>高阶函数（HOFs）</vt:lpstr>
      <vt:lpstr>懒计算</vt:lpstr>
      <vt:lpstr>懒计算</vt:lpstr>
      <vt:lpstr>懒延迟计算</vt:lpstr>
      <vt:lpstr>运算符重载</vt:lpstr>
      <vt:lpstr>还有一件事……</vt:lpstr>
      <vt:lpstr>还有一件事……</vt:lpstr>
      <vt:lpstr>还有一件事……</vt:lpstr>
      <vt:lpstr>还有一件事……</vt:lpstr>
      <vt:lpstr>还有一件事……</vt:lpstr>
      <vt:lpstr>还有一件事……</vt:lpstr>
      <vt:lpstr>还有一件事……</vt:lpstr>
      <vt:lpstr>还有一件事……</vt:lpstr>
      <vt:lpstr>还有一件事……</vt:lpstr>
      <vt:lpstr>最后思考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modified xsi:type="dcterms:W3CDTF">2026-05-11T06:53:03Z</dcterms:modified>
</cp:coreProperties>
</file>