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HONOR Sans CN" panose="02000500000000000000" pitchFamily="2" charset="-122"/>
      <p:regular r:id="rId12"/>
      <p:bold r:id="rId13"/>
    </p:embeddedFon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JetBrains Mono" panose="020B0604020202020204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Raleway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21" autoAdjust="0"/>
  </p:normalViewPr>
  <p:slideViewPr>
    <p:cSldViewPr snapToGrid="0">
      <p:cViewPr varScale="1">
        <p:scale>
          <a:sx n="148" d="100"/>
          <a:sy n="148" d="100"/>
        </p:scale>
        <p:origin x="78" y="9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HONOR Sans CN" panose="02000500000000000000" pitchFamily="2" charset="-122"/>
        <a:ea typeface="HONOR Sans CN" panose="02000500000000000000" pitchFamily="2" charset="-122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exceptions.html" TargetMode="External"/><Relationship Id="rId7" Type="http://schemas.openxmlformats.org/officeDocument/2006/relationships/hyperlink" Target="https://en.wikipedia.org/wiki/Principle_of_least_astonishment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iki.c2.com/?DontUseExceptionsForFlowControl" TargetMode="External"/><Relationship Id="rId5" Type="http://schemas.openxmlformats.org/officeDocument/2006/relationships/hyperlink" Target="https://web.mit.edu/java_v1.0.2/www/tutorial/java/exceptions/definition.html" TargetMode="External"/><Relationship Id="rId4" Type="http://schemas.openxmlformats.org/officeDocument/2006/relationships/hyperlink" Target="https://elizarov.medium.com/kotlin-and-exceptions-8062f589d07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exceptions.html#checked-exceptions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adio-weblogs.com/0122027/stories/2003/04/01/JavasCheckedExceptionsWereAMistake.html" TargetMode="External"/><Relationship Id="rId4" Type="http://schemas.openxmlformats.org/officeDocument/2006/relationships/hyperlink" Target="https://blog.joda.org/2010/09/checked-exceptions-bijava_9688.html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exceptions.html#exception-classes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rack.jetbrains.com/issue/KT-7128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stackoverflow.com/questions/36760489/how-to-catch-many-exceptions-at-the-same-time-in-kotlin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reference/exceptions.html#checked-exception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exceptions.html#exception-classes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kotlinlang.org/api/latest/jvm/stdlib/kotlin/require.html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lvl="0" indent="0" algn="l" rtl="0">
              <a:lnSpc>
                <a:spcPct val="15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今天我们将讨论异常。</a:t>
            </a:r>
          </a:p>
          <a:p>
            <a:pPr marL="635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635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异常是指在程序执行过程中发生的、会中断程序指令流的事件。可能出现各种类型的错误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例如尝试打开不存在的文件、算术运算错误（除以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0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）等等。还可能出现系统错误，例如应用程序内存不足，这种情况下就会触发相应的异常，如“内存不足错误”。</a:t>
            </a:r>
          </a:p>
          <a:p>
            <a:pPr marL="635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635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为什么我们要使用异常？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635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将错误处理分离出来。一个很好的例子是用于打开、读取和关闭文件的简单代码片段。可能会发生多种错误，如“文件未找到”、“内存不足”、“磁盘空间不足”、“无法关闭文件”等。通过使用不同的异常类型，你可以利用异常处理语言特性分别处理这些错误。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传播错误。假设你有一个包含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10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个函数的调用栈。假设第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1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个函数是我们的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`main()`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，它调用第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2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个函数，而第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10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个函数尝试打开文件时触发了“文件未找到”异常。借助异常，你可以在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`main()`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函数内处理此错误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异常将通过调用栈向上传播。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请注意，在处理异步代码时，异常传播可能会比较棘手。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提供了一种基于结构化并发原则的出色协程实现，但关于使用协程时的异常处理和传播，我们将在后面讨论。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对错误类型进行分组。异常实际上是类。就像基本类型层次结构一样，错误类型也有一个层次结构。初始的异常层次结构（例如我们之前提到的与文件相关的异常）在标准库中已实现，但可以进行扩展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你可以使用类继承并引入自己的异常类。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将异常用于控制流控制可能被视为反模式。异常专用于处理任何异常错误情况。异常与非局部 </a:t>
            </a:r>
            <a:r>
              <a:rPr lang="en-US" altLang="zh-CN" i="1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Goto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语句非常相似，因此将其用于控制流可能会违反“最小惊讶原则”，并导致代码难以阅读和理解。</a:t>
            </a: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Documentation: Exceptions -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 https://kotlinlang.org/docs/exceptions.html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“Kotlin and Exceptions”, Roman Elizarov -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4"/>
              </a:rPr>
              <a:t>https://elizarov.medium.com/kotlin-and-exceptions-8062f589d07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“What’s an Exception and Why Do I Care”, MIT -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5"/>
              </a:rPr>
              <a:t>https://web.mit.edu/java_v1.0.2/www/tutorial/java/exceptions/definition.html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“Don’t Use Exceptions For Flow Control” -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6"/>
              </a:rPr>
              <a:t>http://wiki.c2.com/?DontUseExceptionsForFlowControl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Principle of Least Astonishment (or “No Surprise Principle”) -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7"/>
              </a:rPr>
              <a:t>https://en.wikipedia.org/wiki/Principle_of_least_astonishment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“Effective Java”, Item 69, Use Exceptions only for exceptional conditions. Joshua Bloch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异常机制是从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Java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引入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的。总体概念非常相似，但仍存在一些显著差异。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让我们来看一段抛出异常的简单代码。要“手动”（或显式）抛出异常，我们可以使用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`throw`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关键字和任意异常类型，例如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`Exception`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不支持受检查异常。换句话说，所有异常都是未检查的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无需显式处理任何异常。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编译器不会强制要求你用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`try-catch`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包裹任何调用，也不会强制“重新抛出”任何异常。请尝试编译第一个代码片段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你会发现不会出现任何编译时错误。此外，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中也没有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`throws`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关键字。但如果没有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`throws`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关键字，我们如何判断某个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函数是否可能抛出异常？你可以使用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KDoc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`@throws`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`@exception`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块注解：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/**</a:t>
            </a:r>
            <a:endParaRPr i="1" dirty="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* @throws </a:t>
            </a:r>
            <a:r>
              <a:rPr lang="en" i="1" dirty="0">
                <a:solidFill>
                  <a:srgbClr val="3D3D3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Exception</a:t>
            </a:r>
            <a:endParaRPr i="1" dirty="0">
              <a:solidFill>
                <a:srgbClr val="3D3D3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*/</a:t>
            </a:r>
            <a:endParaRPr i="1" dirty="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foo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throw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Exception()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为了与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Java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兼容，也可以使用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`@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Throws`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注解：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</a:t>
            </a:r>
            <a:r>
              <a:rPr lang="en" dirty="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Throws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Exception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::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foo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throw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Exception()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</a:b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你还记得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的空安全原则吗？即使使用了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`!!`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运算符，在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中我们仍然可能会遇到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NullPointerException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`。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请看第二个代码示例。</a:t>
            </a: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9497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Documentation: Checked exceptions -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https://kotlinlang.org/docs/exceptions.html#checked-exceptions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94970" lvl="0" indent="-243205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“Checked Exceptions”, Stephen Colebourne -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4"/>
              </a:rPr>
              <a:t>https://blog.joda.org/2010/09/checked-exceptions-bijava_9688.html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94970" lvl="0" indent="-243205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”Java’s checked exceptions were a mistake”, Rod Waldhoff -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5"/>
              </a:rPr>
              <a:t> https://radio-weblogs.com/0122027/stories/2003/04/01/JavasCheckedExceptionsWereAMistake.html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如何在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中处理异常？</a:t>
            </a:r>
          </a:p>
          <a:p>
            <a:pPr marL="0" marR="4309745" lvl="0" indent="0" algn="l" rtl="0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4309745" lvl="0" indent="0" algn="l" rtl="0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如果某些代码可能会抛出异常，我们可以使用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`try-catch`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语句将其包裹起来并处理异常。</a:t>
            </a:r>
          </a:p>
          <a:p>
            <a:pPr marL="0" marR="4309745" lvl="0" indent="0" algn="l" rtl="0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4309745" lvl="0" indent="0" algn="l" rtl="0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请注意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`catch`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语句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右侧显式指定了异常类型。我们之前讨论过异常层次结构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`Exception`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替换为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RuntimeException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会怎样？试着运行这段代码。你会发现异常并未被捕获。这就是原则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3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：“分组并区分错误类型”。在异常层次结构中，只有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`catch`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子句中指定的类型及其子类才会被捕获。</a:t>
            </a:r>
          </a:p>
          <a:p>
            <a:pPr marL="0" marR="4309745" lvl="0" indent="0" algn="l" rtl="0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4309745" lvl="0" indent="0" algn="l" rtl="0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最后，本例中的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`finally`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代码块是可选的，可以省略。即使捕获了异常，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`finally`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代码块仍会执行。</a:t>
            </a:r>
          </a:p>
          <a:p>
            <a:pPr marL="0" marR="4309745" lvl="0" indent="0" algn="l" rtl="0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4309745" lvl="0" indent="0" algn="l" rtl="0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你可能会注意到，在这个代码示例中，我们将消息和原因都作为参数传递了。实际上，每个异常都可以拥有可选的消息和原因。在处理异常时，你可以获取这两个值。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4309745" lvl="0" indent="0" algn="l" rtl="0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4309745" lvl="0" indent="0" algn="l" rtl="0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References: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9497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Documentation: Exception classes -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https://kotlinlang.org/docs/exceptions.html#exception-classes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8303260" lvl="0" indent="0" algn="l" rtl="0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一个函数可能会抛出不同类型的异常（再次涉及原则 </a:t>
            </a:r>
            <a:r>
              <a:rPr lang="en-US" altLang="zh-CN" dirty="0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3“</a:t>
            </a:r>
            <a:r>
              <a:rPr lang="zh-CN" altLang="en-US" dirty="0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分组并区分错误类型”）。试着创建一个 </a:t>
            </a:r>
            <a:r>
              <a:rPr lang="en-US" altLang="zh-CN" dirty="0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`Person` </a:t>
            </a:r>
            <a:r>
              <a:rPr lang="zh-CN" altLang="en-US" dirty="0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对象，例如：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rgbClr val="37474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 err="1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altLang="zh-CN" dirty="0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person = Person(“Alex”, “”, -1)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rgbClr val="37474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rgbClr val="37474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正如你可能注意到的，年龄和姓氏都指定错误了。但如果你运行这样的代码，只会得到一个 </a:t>
            </a:r>
            <a:r>
              <a:rPr lang="en-US" altLang="zh-CN" dirty="0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IllegalStateException</a:t>
            </a:r>
            <a:r>
              <a:rPr lang="en-US" altLang="zh-CN" dirty="0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zh-CN" altLang="en-US" dirty="0">
                <a:solidFill>
                  <a:srgbClr val="37474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。如前所述，该异常将中断正常的代码流程，并传播错误。</a:t>
            </a:r>
            <a:endParaRPr dirty="0">
              <a:solidFill>
                <a:srgbClr val="37474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: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现在我们来看一个稍微复杂一点的例子。如果我们需要处理不同类型的异常该怎么办？此时可以编写多个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`catch`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代码块。同样地，这里的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`finally`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代码块是可选的，即使省略它也不会影响异常处理。</a:t>
            </a:r>
          </a:p>
          <a:p>
            <a:pPr marL="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最后，你可能会想：如果我们需要为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IllegalStateException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IllegalArgumentException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编写类似的异常处理程序该怎么办？例如，在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Java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中我们可以这样写：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foo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throws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IllegalStateException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IllegalArgumentException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//...</a:t>
            </a:r>
            <a:endParaRPr i="1" dirty="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try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i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foo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}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catch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IllegalStateException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|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IllegalArgumentException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e) {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处理异常</a:t>
            </a:r>
            <a:endParaRPr i="1" dirty="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rgbClr val="CC7832"/>
              </a:solidFill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37474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18478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如何在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中实现类似的功能？问题在于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并不提供多重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`catch`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块（参见相关的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YouTrack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问题）。但你可以利用极其灵活的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`lambda`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表达式和相应的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惯例来获得类似的解决方案。例如，请看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Roman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Elizarov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2022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年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5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月提出的建议：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inline fun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dirty="0">
                <a:solidFill>
                  <a:srgbClr val="007E8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dirty="0">
                <a:solidFill>
                  <a:srgbClr val="007E8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 Result&lt;T&gt;.</a:t>
            </a:r>
            <a:r>
              <a:rPr lang="en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vararg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exceptionClasses: KClass&lt;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out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E&gt;, action: (exception: E) -&gt; Unit) =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onFailure </a:t>
            </a: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exception </a:t>
            </a: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-&gt;</a:t>
            </a:r>
            <a:endParaRPr b="1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if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(exceptionClasses.any </a:t>
            </a: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it.isInstance(exception) </a:t>
            </a: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action(exception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E)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runCatching </a:t>
            </a: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做一些糟糕的事情</a:t>
            </a:r>
            <a:r>
              <a:rPr lang="en-US" altLang="zh-CN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  <a:endParaRPr i="1" dirty="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i="1" dirty="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.on(IllegalArgumentException::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IllegalStateException::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i="1" dirty="0">
                <a:solidFill>
                  <a:srgbClr val="8C8C8C"/>
                </a:solidFill>
                <a:highlight>
                  <a:schemeClr val="lt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kotlin.io.println(</a:t>
            </a:r>
            <a:r>
              <a:rPr lang="en" dirty="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"Something went terribly wrong </a:t>
            </a:r>
            <a:r>
              <a:rPr lang="en" dirty="0">
                <a:solidFill>
                  <a:srgbClr val="0037A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${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it.message</a:t>
            </a:r>
            <a:r>
              <a:rPr lang="en" dirty="0">
                <a:solidFill>
                  <a:srgbClr val="0037A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r>
              <a:rPr lang="en" dirty="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b="1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37474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看起来非常相似，对吧？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</a:rPr>
              <a:t>References: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394970" lvl="0" indent="-2432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“Multi-Catch Block”, Kotlin YouTrack -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https://youtrack.jetbrains.com/issue/KT-7128</a:t>
            </a:r>
            <a:endParaRPr dirty="0">
              <a:solidFill>
                <a:srgbClr val="37474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94970" lvl="0" indent="-243205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7474F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“How to catch many exceptions?”, Stackoverflow -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4"/>
              </a:rPr>
              <a:t>https://stackoverflow.com/questions/36760489/how-to-catch-many-exceptions-at-the-same-time-in-kotlin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184785" lvl="0" indent="0" algn="l" rtl="0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再谈谈异常层次结构。如前所述，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的异常继承自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Java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，并沿用了相应的异常层次结构。请看幻灯片上的层次结构。当然，这并非完整列表，但您可能会注意到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`Exception`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及其子类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RuntimeException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。这是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Java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中的一个非常重要的部分，因为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RuntimeException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及其子类属于未检查异常。但需要再次强调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 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中不存在受检查异常。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您可能还会注意到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`Throwable`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`message`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`cause`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字段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正如我们之前讨论的那样，每个异常都有两个可选值。请记住，异常是一个类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因此您可以使用继承来引入特定的异常，例如：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CustomException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Exception()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并像之前展示的那样抛出和捕获它。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请记住原则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3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：“分组并区分错误类型”，但应尽可能复用标准异常。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94970" lvl="0" indent="-2432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Documentation: Checked Exceptions -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 https://kotlinlang.org/docs/reference/exceptions.html#checked-exceptions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94970" lvl="0" indent="-243205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“Effective Java”, Item 72, Favor the use of standard exceptions. Joshua Bloch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653859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中几乎所有其他语言特性一样，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`try`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也是一个表达式。在这种情况下，返回值将是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`try`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`catch`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代码块中的最后一个表达式。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的标准库中还提供了一些用于处理异常的额外函数，例如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`require`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。让我们来看看它的实现：</a:t>
            </a:r>
          </a:p>
          <a:p>
            <a:pPr marL="0" marR="653859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@kotlin.internal.InlineOnly</a:t>
            </a:r>
            <a:endParaRPr dirty="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inline fun </a:t>
            </a:r>
            <a:r>
              <a:rPr lang="en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require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(value: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Boolean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lazyMessage: () -&gt;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Any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):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Unit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i="1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contract </a:t>
            </a: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returns() implies value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if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(!value) {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message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lazyMessage()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throw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IllegalArgumentException(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message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.toString())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你可以看到，当传入的值为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false`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时，该函数会抛出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IllegalArgumentException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现在，让我们尝试使用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require`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来实现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Person`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数据类，而不是显式抛出异常：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data class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Person(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surname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age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init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require(</a:t>
            </a:r>
            <a:r>
              <a:rPr lang="en" dirty="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age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 </a:t>
            </a:r>
            <a:r>
              <a:rPr lang="en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 </a:t>
            </a: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dirty="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"Age cannot be negative or zero" </a:t>
            </a: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相当简洁，你觉得呢？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94970" lvl="0" indent="-243205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Documentation: Exception classes -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https://kotlinlang.org/docs/exceptions.html#exception-classes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94970" lvl="0" indent="-243205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Library: require() -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4"/>
              </a:rPr>
              <a:t>https://kotlinlang.org/api/latest/jvm/stdlib/kotlin/require.html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cb338a5d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4cb338a5da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Code">
  <p:cSld name="CUSTOM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914400" lvl="1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371600" lvl="2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1828800" lvl="3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2286000" lvl="4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2743200" lvl="5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3200400" lvl="6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3657600" lvl="7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4114800" lvl="8" indent="-317500" rtl="0">
              <a:spcBef>
                <a:spcPts val="600"/>
              </a:spcBef>
              <a:spcAft>
                <a:spcPts val="60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 Lots of code">
  <p:cSld name="CUSTOM_4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14630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914400" lvl="1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371600" lvl="2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1828800" lvl="3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2286000" lvl="4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2743200" lvl="5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3200400" lvl="6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3657600" lvl="7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4114800" lvl="8" indent="-279400" rtl="0">
              <a:spcBef>
                <a:spcPts val="600"/>
              </a:spcBef>
              <a:spcAft>
                <a:spcPts val="60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Main point">
  <p:cSld name="CUSTOM_5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411475" y="1626682"/>
            <a:ext cx="8321100" cy="16644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Text slide">
  <p:cSld name="CUSTOM_7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292600" y="292598"/>
            <a:ext cx="8328900" cy="44859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marL="914400" lvl="1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0000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21" name="Google Shape;21;p6"/>
          <p:cNvPicPr preferRelativeResize="0"/>
          <p:nvPr/>
        </p:nvPicPr>
        <p:blipFill rotWithShape="1">
          <a:blip r:embed="rId2">
            <a:alphaModFix/>
          </a:blip>
          <a:srcRect l="25105" t="18583" r="1078" b="20590"/>
          <a:stretch/>
        </p:blipFill>
        <p:spPr>
          <a:xfrm rot="-720009">
            <a:off x="4471046" y="-44961"/>
            <a:ext cx="5499357" cy="453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Text and header 1">
  <p:cSld name="CUSTOM_7_2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958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marL="914400" lvl="1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183880" y="41148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ONOR Sans CN" panose="02000500000000000000" pitchFamily="2" charset="-122"/>
          <a:ea typeface="HONOR Sans CN" panose="02000500000000000000" pitchFamily="2" charset="-122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ONOR Sans CN" panose="02000500000000000000" pitchFamily="2" charset="-122"/>
          <a:ea typeface="HONOR Sans CN" panose="02000500000000000000" pitchFamily="2" charset="-122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EA4335"/>
          </p15:clr>
        </p15:guide>
        <p15:guide id="2" pos="259">
          <p15:clr>
            <a:srgbClr val="EA4335"/>
          </p15:clr>
        </p15:guide>
        <p15:guide id="3" pos="1037">
          <p15:clr>
            <a:srgbClr val="EA4335"/>
          </p15:clr>
        </p15:guide>
        <p15:guide id="4" pos="1152">
          <p15:clr>
            <a:srgbClr val="EA4335"/>
          </p15:clr>
        </p15:guide>
        <p15:guide id="5" pos="1930">
          <p15:clr>
            <a:srgbClr val="EA4335"/>
          </p15:clr>
        </p15:guide>
        <p15:guide id="6" pos="2045">
          <p15:clr>
            <a:srgbClr val="EA4335"/>
          </p15:clr>
        </p15:guide>
        <p15:guide id="7" pos="2822">
          <p15:clr>
            <a:srgbClr val="EA4335"/>
          </p15:clr>
        </p15:guide>
        <p15:guide id="8" pos="2938">
          <p15:clr>
            <a:srgbClr val="EA4335"/>
          </p15:clr>
        </p15:guide>
        <p15:guide id="9" pos="3715">
          <p15:clr>
            <a:srgbClr val="EA4335"/>
          </p15:clr>
        </p15:guide>
        <p15:guide id="10" pos="3830">
          <p15:clr>
            <a:srgbClr val="EA4335"/>
          </p15:clr>
        </p15:guide>
        <p15:guide id="11" pos="4608">
          <p15:clr>
            <a:srgbClr val="EA4335"/>
          </p15:clr>
        </p15:guide>
        <p15:guide id="12" pos="4723">
          <p15:clr>
            <a:srgbClr val="EA4335"/>
          </p15:clr>
        </p15:guide>
        <p15:guide id="13" pos="5501">
          <p15:clr>
            <a:srgbClr val="EA4335"/>
          </p15:clr>
        </p15:guide>
        <p15:guide id="14" orient="horz" pos="582">
          <p15:clr>
            <a:srgbClr val="EA4335"/>
          </p15:clr>
        </p15:guide>
        <p15:guide id="15" orient="horz" pos="732">
          <p15:clr>
            <a:srgbClr val="EA4335"/>
          </p15:clr>
        </p15:guide>
        <p15:guide id="16" orient="horz" pos="881">
          <p15:clr>
            <a:srgbClr val="EA4335"/>
          </p15:clr>
        </p15:guide>
        <p15:guide id="17" orient="horz" pos="1031">
          <p15:clr>
            <a:srgbClr val="EA4335"/>
          </p15:clr>
        </p15:guide>
        <p15:guide id="18" orient="horz" pos="1181">
          <p15:clr>
            <a:srgbClr val="EA4335"/>
          </p15:clr>
        </p15:guide>
        <p15:guide id="19" orient="horz" pos="1331">
          <p15:clr>
            <a:srgbClr val="EA4335"/>
          </p15:clr>
        </p15:guide>
        <p15:guide id="20" orient="horz" pos="1480">
          <p15:clr>
            <a:srgbClr val="EA4335"/>
          </p15:clr>
        </p15:guide>
        <p15:guide id="21" orient="horz" pos="1630">
          <p15:clr>
            <a:srgbClr val="EA4335"/>
          </p15:clr>
        </p15:guide>
        <p15:guide id="22" orient="horz" pos="1780">
          <p15:clr>
            <a:srgbClr val="EA4335"/>
          </p15:clr>
        </p15:guide>
        <p15:guide id="23" orient="horz" pos="1930">
          <p15:clr>
            <a:srgbClr val="EA4335"/>
          </p15:clr>
        </p15:guide>
        <p15:guide id="24" orient="horz" pos="2079">
          <p15:clr>
            <a:srgbClr val="EA4335"/>
          </p15:clr>
        </p15:guide>
        <p15:guide id="25" orient="horz" pos="2229">
          <p15:clr>
            <a:srgbClr val="EA4335"/>
          </p15:clr>
        </p15:guide>
        <p15:guide id="26" orient="horz" pos="2379">
          <p15:clr>
            <a:srgbClr val="EA4335"/>
          </p15:clr>
        </p15:guide>
        <p15:guide id="27" orient="horz" pos="2529">
          <p15:clr>
            <a:srgbClr val="EA4335"/>
          </p15:clr>
        </p15:guide>
        <p15:guide id="28" orient="horz" pos="26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twitter.com/kotl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mojipedia.org/eye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kotli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/>
        </p:nvSpPr>
        <p:spPr>
          <a:xfrm>
            <a:off x="886558" y="1003425"/>
            <a:ext cx="7275000" cy="19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48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异常</a:t>
            </a:r>
            <a:endParaRPr sz="48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pic>
        <p:nvPicPr>
          <p:cNvPr id="38" name="Google Shape;3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075" y="332279"/>
            <a:ext cx="596400" cy="2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0"/>
          <p:cNvSpPr txBox="1"/>
          <p:nvPr/>
        </p:nvSpPr>
        <p:spPr>
          <a:xfrm>
            <a:off x="923472" y="257347"/>
            <a:ext cx="25638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Kotlin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40" name="Google Shape;40;p10">
            <a:hlinkClick r:id="rId4"/>
          </p:cNvPr>
          <p:cNvSpPr txBox="1"/>
          <p:nvPr/>
        </p:nvSpPr>
        <p:spPr>
          <a:xfrm>
            <a:off x="238875" y="4469150"/>
            <a:ext cx="216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B7B7B7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@kotlin</a:t>
            </a:r>
            <a:endParaRPr sz="1700" dirty="0">
              <a:solidFill>
                <a:srgbClr val="B7B7B7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41" name="Google Shape;41;p10"/>
          <p:cNvSpPr txBox="1"/>
          <p:nvPr/>
        </p:nvSpPr>
        <p:spPr>
          <a:xfrm>
            <a:off x="1079350" y="4469150"/>
            <a:ext cx="39678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B7B7B7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|  Developed by JetBrains </a:t>
            </a:r>
            <a:endParaRPr sz="1700" dirty="0">
              <a:solidFill>
                <a:srgbClr val="B7B7B7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What? Why?</a:t>
            </a: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异常表示发生了</a:t>
            </a:r>
            <a:r>
              <a:rPr lang="zh-CN" altLang="en-US" sz="1100" i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严重的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错误。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开发错误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由（程序外部）资源引发的错误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系统错误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为何使用异常：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将错误处理代码与常规代码分离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将错误向上传播至调用堆栈 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或许有人知道如何处理该错误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对错误类型进行分类和区分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切勿将异常用于：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控制流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可控错误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How?</a:t>
            </a:r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main()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throw</a:t>
            </a:r>
            <a:r>
              <a:rPr lang="en" sz="1100" dirty="0">
                <a:solidFill>
                  <a:srgbClr val="37474F"/>
                </a:solidFill>
              </a:rPr>
              <a:t> Exception(</a:t>
            </a:r>
            <a:r>
              <a:rPr lang="en" sz="1100" dirty="0">
                <a:solidFill>
                  <a:srgbClr val="008000"/>
                </a:solidFill>
              </a:rPr>
              <a:t>"Hello, world!"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0088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或者更好的是：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main()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nullableString: String? = </a:t>
            </a:r>
            <a:r>
              <a:rPr lang="en" sz="1100" dirty="0">
                <a:solidFill>
                  <a:srgbClr val="3F51B5"/>
                </a:solidFill>
              </a:rPr>
              <a:t>null</a:t>
            </a:r>
            <a:endParaRPr sz="11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println(</a:t>
            </a:r>
            <a:r>
              <a:rPr lang="en" sz="1100" dirty="0">
                <a:solidFill>
                  <a:srgbClr val="008000"/>
                </a:solidFill>
              </a:rPr>
              <a:t>"Hello, NPE! ${</a:t>
            </a:r>
            <a:r>
              <a:rPr lang="en" sz="1100" dirty="0">
                <a:solidFill>
                  <a:srgbClr val="37474F"/>
                </a:solidFill>
              </a:rPr>
              <a:t>nullableString</a:t>
            </a:r>
            <a:r>
              <a:rPr lang="en" sz="1100" dirty="0">
                <a:solidFill>
                  <a:srgbClr val="008000"/>
                </a:solidFill>
              </a:rPr>
              <a:t>!!}"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0088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3"/>
                </a:solidFill>
              </a:rPr>
              <a:t>Exception in thread "main" java.lang.NullPointerException</a:t>
            </a:r>
            <a:endParaRPr sz="1100" dirty="0">
              <a:solidFill>
                <a:schemeClr val="accent3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示例</a:t>
            </a:r>
            <a:endParaRPr dirty="0"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4294967295"/>
          </p:nvPr>
        </p:nvSpPr>
        <p:spPr>
          <a:xfrm>
            <a:off x="5661350" y="3478150"/>
            <a:ext cx="3171000" cy="16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0230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Message: An exception</a:t>
            </a:r>
            <a:br>
              <a:rPr lang="en" sz="800" dirty="0">
                <a:solidFill>
                  <a:srgbClr val="02303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" sz="800" dirty="0">
                <a:solidFill>
                  <a:srgbClr val="0230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Cause: java.lang.RuntimeException: A cause</a:t>
            </a:r>
            <a:br>
              <a:rPr lang="en" sz="800" dirty="0">
                <a:solidFill>
                  <a:srgbClr val="02303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" sz="800" dirty="0">
                <a:solidFill>
                  <a:srgbClr val="0230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Exception: java.lang.Exception: An exception</a:t>
            </a:r>
            <a:br>
              <a:rPr lang="en" sz="800" dirty="0">
                <a:solidFill>
                  <a:srgbClr val="02303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" sz="800" dirty="0">
                <a:solidFill>
                  <a:srgbClr val="0230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Finally always executes</a:t>
            </a:r>
            <a:br>
              <a:rPr lang="en" sz="800" dirty="0">
                <a:solidFill>
                  <a:srgbClr val="02303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" sz="800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java.lang.Exception: An exception</a:t>
            </a:r>
            <a:br>
              <a:rPr lang="en" sz="800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" sz="800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	at MainKt.main(Main.kt:3)</a:t>
            </a:r>
            <a:br>
              <a:rPr lang="en" sz="800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" sz="800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at MainKt.main(Main.kt)</a:t>
            </a:r>
            <a:br>
              <a:rPr lang="en" sz="800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" sz="800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Caused by: java.lang.RuntimeException: A cause</a:t>
            </a:r>
            <a:br>
              <a:rPr lang="en" sz="800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" sz="800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... 2 more</a:t>
            </a:r>
            <a:endParaRPr sz="800" dirty="0">
              <a:solidFill>
                <a:srgbClr val="C5392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800" dirty="0">
              <a:solidFill>
                <a:srgbClr val="02303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main() {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try</a:t>
            </a:r>
            <a:r>
              <a:rPr lang="en" sz="1100" dirty="0">
                <a:solidFill>
                  <a:srgbClr val="37474F"/>
                </a:solidFill>
              </a:rPr>
              <a:t> {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throw</a:t>
            </a:r>
            <a:r>
              <a:rPr lang="en" sz="1100" dirty="0">
                <a:solidFill>
                  <a:srgbClr val="37474F"/>
                </a:solidFill>
              </a:rPr>
              <a:t> Exception(</a:t>
            </a:r>
            <a:r>
              <a:rPr lang="en" sz="1100" dirty="0">
                <a:solidFill>
                  <a:srgbClr val="008000"/>
                </a:solidFill>
              </a:rPr>
              <a:t>"An exception"</a:t>
            </a:r>
            <a:r>
              <a:rPr lang="en" sz="1100" dirty="0">
                <a:solidFill>
                  <a:srgbClr val="37474F"/>
                </a:solidFill>
              </a:rPr>
              <a:t>, RuntimeException(</a:t>
            </a:r>
            <a:r>
              <a:rPr lang="en" sz="1100" dirty="0">
                <a:solidFill>
                  <a:srgbClr val="008000"/>
                </a:solidFill>
              </a:rPr>
              <a:t>"A cause"</a:t>
            </a:r>
            <a:r>
              <a:rPr lang="en" sz="1100" dirty="0">
                <a:solidFill>
                  <a:srgbClr val="37474F"/>
                </a:solidFill>
              </a:rPr>
              <a:t>))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 </a:t>
            </a:r>
            <a:r>
              <a:rPr lang="en" sz="1100" dirty="0">
                <a:solidFill>
                  <a:srgbClr val="3F51B5"/>
                </a:solidFill>
              </a:rPr>
              <a:t>catch</a:t>
            </a:r>
            <a:r>
              <a:rPr lang="en" sz="1100" dirty="0">
                <a:solidFill>
                  <a:srgbClr val="37474F"/>
                </a:solidFill>
              </a:rPr>
              <a:t> (e: Exception) {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i="1" dirty="0">
                <a:solidFill>
                  <a:srgbClr val="37474F"/>
                </a:solidFill>
              </a:rPr>
              <a:t>println</a:t>
            </a:r>
            <a:r>
              <a:rPr lang="en" sz="1100" dirty="0">
                <a:solidFill>
                  <a:srgbClr val="37474F"/>
                </a:solidFill>
              </a:rPr>
              <a:t>(</a:t>
            </a:r>
            <a:r>
              <a:rPr lang="en" sz="1100" dirty="0">
                <a:solidFill>
                  <a:srgbClr val="008000"/>
                </a:solidFill>
              </a:rPr>
              <a:t>"Message: ${e.message}"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i="1" dirty="0">
                <a:solidFill>
                  <a:srgbClr val="37474F"/>
                </a:solidFill>
              </a:rPr>
              <a:t>println</a:t>
            </a:r>
            <a:r>
              <a:rPr lang="en" sz="1100" dirty="0">
                <a:solidFill>
                  <a:srgbClr val="37474F"/>
                </a:solidFill>
              </a:rPr>
              <a:t>(</a:t>
            </a:r>
            <a:r>
              <a:rPr lang="en" sz="1100" dirty="0">
                <a:solidFill>
                  <a:srgbClr val="008000"/>
                </a:solidFill>
              </a:rPr>
              <a:t>"Cause: ${e.cause}"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i="1" dirty="0">
                <a:solidFill>
                  <a:srgbClr val="37474F"/>
                </a:solidFill>
              </a:rPr>
              <a:t>println</a:t>
            </a:r>
            <a:r>
              <a:rPr lang="en" sz="1100" dirty="0">
                <a:solidFill>
                  <a:srgbClr val="37474F"/>
                </a:solidFill>
              </a:rPr>
              <a:t>(</a:t>
            </a:r>
            <a:r>
              <a:rPr lang="en" sz="1100" dirty="0">
                <a:solidFill>
                  <a:srgbClr val="008000"/>
                </a:solidFill>
              </a:rPr>
              <a:t>“Exception: $e”</a:t>
            </a:r>
            <a:r>
              <a:rPr lang="en" sz="1100" dirty="0">
                <a:solidFill>
                  <a:srgbClr val="37474F"/>
                </a:solidFill>
              </a:rPr>
              <a:t>) // </a:t>
            </a:r>
            <a:r>
              <a:rPr lang="zh-CN" altLang="en-US" sz="1100" dirty="0">
                <a:solidFill>
                  <a:srgbClr val="37474F"/>
                </a:solidFill>
              </a:rPr>
              <a:t>底层会调用 </a:t>
            </a:r>
            <a:r>
              <a:rPr lang="en" sz="1100" dirty="0">
                <a:solidFill>
                  <a:srgbClr val="37474F"/>
                </a:solidFill>
              </a:rPr>
              <a:t>toString()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e.</a:t>
            </a:r>
            <a:r>
              <a:rPr lang="en" sz="1100" i="1" dirty="0">
                <a:solidFill>
                  <a:srgbClr val="37474F"/>
                </a:solidFill>
              </a:rPr>
              <a:t>printStackTrace</a:t>
            </a:r>
            <a:r>
              <a:rPr lang="en" sz="1100" dirty="0">
                <a:solidFill>
                  <a:srgbClr val="37474F"/>
                </a:solidFill>
              </a:rPr>
              <a:t>()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 </a:t>
            </a:r>
            <a:r>
              <a:rPr lang="en" sz="1100" dirty="0">
                <a:solidFill>
                  <a:srgbClr val="3F51B5"/>
                </a:solidFill>
              </a:rPr>
              <a:t>finally</a:t>
            </a:r>
            <a:r>
              <a:rPr lang="en" sz="1100" dirty="0">
                <a:solidFill>
                  <a:srgbClr val="37474F"/>
                </a:solidFill>
              </a:rPr>
              <a:t> {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i="1" dirty="0">
                <a:solidFill>
                  <a:srgbClr val="37474F"/>
                </a:solidFill>
              </a:rPr>
              <a:t>println</a:t>
            </a:r>
            <a:r>
              <a:rPr lang="en" sz="1100" dirty="0">
                <a:solidFill>
                  <a:srgbClr val="37474F"/>
                </a:solidFill>
              </a:rPr>
              <a:t>(</a:t>
            </a:r>
            <a:r>
              <a:rPr lang="en" sz="1100" dirty="0">
                <a:solidFill>
                  <a:srgbClr val="008000"/>
                </a:solidFill>
              </a:rPr>
              <a:t>"Finally always executes"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另一个有意义的例子</a:t>
            </a:r>
            <a:endParaRPr dirty="0"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F51B5"/>
                </a:solidFill>
              </a:rPr>
              <a:t>data</a:t>
            </a:r>
            <a:r>
              <a:rPr lang="en" dirty="0">
                <a:solidFill>
                  <a:srgbClr val="37474F"/>
                </a:solidFill>
              </a:rPr>
              <a:t> </a:t>
            </a:r>
            <a:r>
              <a:rPr lang="en" dirty="0">
                <a:solidFill>
                  <a:srgbClr val="3F51B5"/>
                </a:solidFill>
              </a:rPr>
              <a:t>class</a:t>
            </a:r>
            <a:r>
              <a:rPr lang="en" dirty="0">
                <a:solidFill>
                  <a:srgbClr val="37474F"/>
                </a:solidFill>
              </a:rPr>
              <a:t> Person(</a:t>
            </a:r>
            <a:r>
              <a:rPr lang="en" dirty="0">
                <a:solidFill>
                  <a:srgbClr val="3F51B5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</a:t>
            </a:r>
            <a:r>
              <a:rPr lang="en" dirty="0">
                <a:solidFill>
                  <a:srgbClr val="660E7A"/>
                </a:solidFill>
              </a:rPr>
              <a:t>name</a:t>
            </a:r>
            <a:r>
              <a:rPr lang="en" dirty="0">
                <a:solidFill>
                  <a:srgbClr val="37474F"/>
                </a:solidFill>
              </a:rPr>
              <a:t>: String, </a:t>
            </a:r>
            <a:r>
              <a:rPr lang="en" dirty="0">
                <a:solidFill>
                  <a:srgbClr val="3F51B5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</a:t>
            </a:r>
            <a:r>
              <a:rPr lang="en" dirty="0">
                <a:solidFill>
                  <a:srgbClr val="660E7A"/>
                </a:solidFill>
              </a:rPr>
              <a:t>surname</a:t>
            </a:r>
            <a:r>
              <a:rPr lang="en" dirty="0">
                <a:solidFill>
                  <a:srgbClr val="37474F"/>
                </a:solidFill>
              </a:rPr>
              <a:t>: String, </a:t>
            </a:r>
            <a:r>
              <a:rPr lang="en" dirty="0">
                <a:solidFill>
                  <a:srgbClr val="3F51B5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age</a:t>
            </a:r>
            <a:r>
              <a:rPr lang="en" dirty="0">
                <a:solidFill>
                  <a:srgbClr val="660E7A"/>
                </a:solidFill>
              </a:rPr>
              <a:t>:</a:t>
            </a:r>
            <a:r>
              <a:rPr lang="en" dirty="0">
                <a:solidFill>
                  <a:srgbClr val="37474F"/>
                </a:solidFill>
              </a:rPr>
              <a:t> Int) {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</a:t>
            </a:r>
            <a:r>
              <a:rPr lang="en" dirty="0">
                <a:solidFill>
                  <a:srgbClr val="3F51B5"/>
                </a:solidFill>
              </a:rPr>
              <a:t>init</a:t>
            </a:r>
            <a:r>
              <a:rPr lang="en" dirty="0">
                <a:solidFill>
                  <a:srgbClr val="37474F"/>
                </a:solidFill>
              </a:rPr>
              <a:t> {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   </a:t>
            </a:r>
            <a:r>
              <a:rPr lang="en" dirty="0">
                <a:solidFill>
                  <a:srgbClr val="3F51B5"/>
                </a:solidFill>
              </a:rPr>
              <a:t>if</a:t>
            </a:r>
            <a:r>
              <a:rPr lang="en" dirty="0">
                <a:solidFill>
                  <a:srgbClr val="37474F"/>
                </a:solidFill>
              </a:rPr>
              <a:t> (</a:t>
            </a:r>
            <a:r>
              <a:rPr lang="en" dirty="0">
                <a:solidFill>
                  <a:srgbClr val="660E7A"/>
                </a:solidFill>
              </a:rPr>
              <a:t>age</a:t>
            </a:r>
            <a:r>
              <a:rPr lang="en" dirty="0">
                <a:solidFill>
                  <a:srgbClr val="37474F"/>
                </a:solidFill>
              </a:rPr>
              <a:t> &lt; 0) {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       </a:t>
            </a:r>
            <a:r>
              <a:rPr lang="en" dirty="0">
                <a:solidFill>
                  <a:srgbClr val="3F51B5"/>
                </a:solidFill>
              </a:rPr>
              <a:t>throw</a:t>
            </a:r>
            <a:r>
              <a:rPr lang="en" dirty="0">
                <a:solidFill>
                  <a:srgbClr val="37474F"/>
                </a:solidFill>
              </a:rPr>
              <a:t> IllegalStateException(</a:t>
            </a:r>
            <a:r>
              <a:rPr lang="en" dirty="0">
                <a:solidFill>
                  <a:srgbClr val="008000"/>
                </a:solidFill>
              </a:rPr>
              <a:t>"Age cannot be negative"</a:t>
            </a:r>
            <a:r>
              <a:rPr lang="en" dirty="0">
                <a:solidFill>
                  <a:srgbClr val="37474F"/>
                </a:solidFill>
              </a:rPr>
              <a:t>)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   }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   </a:t>
            </a:r>
            <a:r>
              <a:rPr lang="en" dirty="0">
                <a:solidFill>
                  <a:srgbClr val="3F51B5"/>
                </a:solidFill>
              </a:rPr>
              <a:t>if</a:t>
            </a:r>
            <a:r>
              <a:rPr lang="en" dirty="0">
                <a:solidFill>
                  <a:srgbClr val="37474F"/>
                </a:solidFill>
              </a:rPr>
              <a:t> (</a:t>
            </a:r>
            <a:r>
              <a:rPr lang="en" dirty="0">
                <a:solidFill>
                  <a:srgbClr val="660E7A"/>
                </a:solidFill>
              </a:rPr>
              <a:t>name</a:t>
            </a:r>
            <a:r>
              <a:rPr lang="en" dirty="0">
                <a:solidFill>
                  <a:srgbClr val="37474F"/>
                </a:solidFill>
              </a:rPr>
              <a:t>.isEmpty() || </a:t>
            </a:r>
            <a:r>
              <a:rPr lang="en" dirty="0">
                <a:solidFill>
                  <a:srgbClr val="660E7A"/>
                </a:solidFill>
              </a:rPr>
              <a:t>surname</a:t>
            </a:r>
            <a:r>
              <a:rPr lang="en" dirty="0">
                <a:solidFill>
                  <a:srgbClr val="37474F"/>
                </a:solidFill>
              </a:rPr>
              <a:t>.isEmpty()) {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       </a:t>
            </a:r>
            <a:r>
              <a:rPr lang="en" dirty="0">
                <a:solidFill>
                  <a:srgbClr val="3F51B5"/>
                </a:solidFill>
              </a:rPr>
              <a:t>throw</a:t>
            </a:r>
            <a:r>
              <a:rPr lang="en" dirty="0">
                <a:solidFill>
                  <a:srgbClr val="37474F"/>
                </a:solidFill>
              </a:rPr>
              <a:t> IllegalArgumentException(</a:t>
            </a:r>
            <a:r>
              <a:rPr lang="en" dirty="0">
                <a:solidFill>
                  <a:srgbClr val="008000"/>
                </a:solidFill>
              </a:rPr>
              <a:t>"For blank names/surnames use -"</a:t>
            </a:r>
            <a:r>
              <a:rPr lang="en" dirty="0">
                <a:solidFill>
                  <a:srgbClr val="37474F"/>
                </a:solidFill>
              </a:rPr>
              <a:t>)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   }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}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}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处理异常</a:t>
            </a:r>
            <a:endParaRPr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4294967295"/>
          </p:nvPr>
        </p:nvSpPr>
        <p:spPr>
          <a:xfrm>
            <a:off x="5015575" y="2138400"/>
            <a:ext cx="3563400" cy="20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</a:rPr>
              <a:t>你可以：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</a:rPr>
              <a:t>正确处理错误并继续执行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Char char="●"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</a:rPr>
              <a:t>在你这边进行处理，然后重新抛出异常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292604" y="1335025"/>
            <a:ext cx="38172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F51B5"/>
                </a:solidFill>
              </a:rPr>
              <a:t>try</a:t>
            </a:r>
            <a:r>
              <a:rPr lang="en" sz="800" dirty="0">
                <a:solidFill>
                  <a:srgbClr val="37474F"/>
                </a:solidFill>
              </a:rPr>
              <a:t>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val</a:t>
            </a:r>
            <a:r>
              <a:rPr lang="en" sz="800" dirty="0">
                <a:solidFill>
                  <a:srgbClr val="37474F"/>
                </a:solidFill>
              </a:rPr>
              <a:t> (n, s, a) = </a:t>
            </a:r>
            <a:r>
              <a:rPr lang="en" sz="800" i="1" dirty="0">
                <a:solidFill>
                  <a:srgbClr val="37474F"/>
                </a:solidFill>
              </a:rPr>
              <a:t>readLine</a:t>
            </a:r>
            <a:r>
              <a:rPr lang="en" sz="800" dirty="0">
                <a:solidFill>
                  <a:srgbClr val="37474F"/>
                </a:solidFill>
              </a:rPr>
              <a:t>()!!.</a:t>
            </a:r>
            <a:r>
              <a:rPr lang="en" sz="800" i="1" dirty="0">
                <a:solidFill>
                  <a:srgbClr val="CC7832"/>
                </a:solidFill>
              </a:rPr>
              <a:t>split</a:t>
            </a:r>
            <a:r>
              <a:rPr lang="en" sz="800" dirty="0">
                <a:solidFill>
                  <a:srgbClr val="37474F"/>
                </a:solidFill>
              </a:rPr>
              <a:t>(</a:t>
            </a:r>
            <a:r>
              <a:rPr lang="en" sz="800" dirty="0">
                <a:solidFill>
                  <a:srgbClr val="008000"/>
                </a:solidFill>
              </a:rPr>
              <a:t>'/'</a:t>
            </a:r>
            <a:r>
              <a:rPr lang="en" sz="800" dirty="0">
                <a:solidFill>
                  <a:srgbClr val="37474F"/>
                </a:solidFill>
              </a:rPr>
              <a:t>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val</a:t>
            </a:r>
            <a:r>
              <a:rPr lang="en" sz="800" dirty="0">
                <a:solidFill>
                  <a:srgbClr val="37474F"/>
                </a:solidFill>
              </a:rPr>
              <a:t> person = Person(n, s, a.</a:t>
            </a:r>
            <a:r>
              <a:rPr lang="en" sz="800" i="1" dirty="0">
                <a:solidFill>
                  <a:srgbClr val="CC7832"/>
                </a:solidFill>
              </a:rPr>
              <a:t>toInt</a:t>
            </a:r>
            <a:r>
              <a:rPr lang="en" sz="800" dirty="0">
                <a:solidFill>
                  <a:srgbClr val="37474F"/>
                </a:solidFill>
              </a:rPr>
              <a:t>())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i="1" dirty="0">
                <a:solidFill>
                  <a:srgbClr val="37474F"/>
                </a:solidFill>
              </a:rPr>
              <a:t>addToDataBase</a:t>
            </a:r>
            <a:r>
              <a:rPr lang="en" sz="800" dirty="0">
                <a:solidFill>
                  <a:srgbClr val="37474F"/>
                </a:solidFill>
              </a:rPr>
              <a:t>(person)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 </a:t>
            </a:r>
            <a:r>
              <a:rPr lang="en" sz="800" dirty="0">
                <a:solidFill>
                  <a:srgbClr val="3F51B5"/>
                </a:solidFill>
              </a:rPr>
              <a:t>catch</a:t>
            </a:r>
            <a:r>
              <a:rPr lang="en" sz="800" dirty="0">
                <a:solidFill>
                  <a:srgbClr val="37474F"/>
                </a:solidFill>
              </a:rPr>
              <a:t> (e: IllegalStateException)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i="1" dirty="0">
                <a:solidFill>
                  <a:srgbClr val="37474F"/>
                </a:solidFill>
              </a:rPr>
              <a:t>println</a:t>
            </a:r>
            <a:r>
              <a:rPr lang="en" sz="800" dirty="0">
                <a:solidFill>
                  <a:srgbClr val="37474F"/>
                </a:solidFill>
              </a:rPr>
              <a:t>(</a:t>
            </a:r>
            <a:r>
              <a:rPr lang="en" sz="800" dirty="0">
                <a:solidFill>
                  <a:srgbClr val="008000"/>
                </a:solidFill>
              </a:rPr>
              <a:t>"You've entered a negative age! Why?"</a:t>
            </a:r>
            <a:r>
              <a:rPr lang="en" sz="800" dirty="0">
                <a:solidFill>
                  <a:srgbClr val="37474F"/>
                </a:solidFill>
              </a:rPr>
              <a:t>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 </a:t>
            </a:r>
            <a:r>
              <a:rPr lang="en" sz="800" dirty="0">
                <a:solidFill>
                  <a:srgbClr val="3F51B5"/>
                </a:solidFill>
              </a:rPr>
              <a:t>catch</a:t>
            </a:r>
            <a:r>
              <a:rPr lang="en" sz="800" dirty="0">
                <a:solidFill>
                  <a:srgbClr val="37474F"/>
                </a:solidFill>
              </a:rPr>
              <a:t> (e: IllegalArgumentException)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i="1" dirty="0">
                <a:solidFill>
                  <a:srgbClr val="37474F"/>
                </a:solidFill>
              </a:rPr>
              <a:t>println</a:t>
            </a:r>
            <a:r>
              <a:rPr lang="en" sz="800" dirty="0">
                <a:solidFill>
                  <a:srgbClr val="37474F"/>
                </a:solidFill>
              </a:rPr>
              <a:t>(e.message)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 </a:t>
            </a:r>
            <a:r>
              <a:rPr lang="en" sz="800" dirty="0">
                <a:solidFill>
                  <a:srgbClr val="3F51B5"/>
                </a:solidFill>
              </a:rPr>
              <a:t>catch</a:t>
            </a:r>
            <a:r>
              <a:rPr lang="en" sz="800" dirty="0">
                <a:solidFill>
                  <a:srgbClr val="37474F"/>
                </a:solidFill>
              </a:rPr>
              <a:t> (e: NullPointerException)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i="1" dirty="0">
                <a:solidFill>
                  <a:srgbClr val="37474F"/>
                </a:solidFill>
              </a:rPr>
              <a:t>println</a:t>
            </a:r>
            <a:r>
              <a:rPr lang="en" sz="800" dirty="0">
                <a:solidFill>
                  <a:srgbClr val="37474F"/>
                </a:solidFill>
              </a:rPr>
              <a:t>(</a:t>
            </a:r>
            <a:r>
              <a:rPr lang="en" sz="800" dirty="0">
                <a:solidFill>
                  <a:srgbClr val="008000"/>
                </a:solidFill>
              </a:rPr>
              <a:t>"NPE ;^)"</a:t>
            </a:r>
            <a:r>
              <a:rPr lang="en" sz="800" dirty="0">
                <a:solidFill>
                  <a:srgbClr val="37474F"/>
                </a:solidFill>
              </a:rPr>
              <a:t>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 </a:t>
            </a:r>
            <a:r>
              <a:rPr lang="en" sz="800" dirty="0">
                <a:solidFill>
                  <a:srgbClr val="3F51B5"/>
                </a:solidFill>
              </a:rPr>
              <a:t>catch</a:t>
            </a:r>
            <a:r>
              <a:rPr lang="en" sz="800" dirty="0">
                <a:solidFill>
                  <a:srgbClr val="37474F"/>
                </a:solidFill>
              </a:rPr>
              <a:t> (e: Exception)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i="1" dirty="0">
                <a:solidFill>
                  <a:srgbClr val="37474F"/>
                </a:solidFill>
              </a:rPr>
              <a:t>println</a:t>
            </a:r>
            <a:r>
              <a:rPr lang="en" sz="800" dirty="0">
                <a:solidFill>
                  <a:srgbClr val="37474F"/>
                </a:solidFill>
              </a:rPr>
              <a:t>(</a:t>
            </a:r>
            <a:r>
              <a:rPr lang="en" sz="800" dirty="0">
                <a:solidFill>
                  <a:srgbClr val="008000"/>
                </a:solidFill>
              </a:rPr>
              <a:t>"Something else went wrong"</a:t>
            </a:r>
            <a:r>
              <a:rPr lang="en" sz="800" dirty="0">
                <a:solidFill>
                  <a:srgbClr val="37474F"/>
                </a:solidFill>
              </a:rPr>
              <a:t>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throw</a:t>
            </a:r>
            <a:r>
              <a:rPr lang="en" sz="800" dirty="0">
                <a:solidFill>
                  <a:srgbClr val="37474F"/>
                </a:solidFill>
              </a:rPr>
              <a:t> Exception(</a:t>
            </a:r>
            <a:r>
              <a:rPr lang="en" sz="800" dirty="0">
                <a:solidFill>
                  <a:srgbClr val="008000"/>
                </a:solidFill>
              </a:rPr>
              <a:t>"Failed to add to the database"</a:t>
            </a:r>
            <a:r>
              <a:rPr lang="en" sz="800" dirty="0">
                <a:solidFill>
                  <a:srgbClr val="37474F"/>
                </a:solidFill>
              </a:rPr>
              <a:t>, e)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 </a:t>
            </a:r>
            <a:r>
              <a:rPr lang="en" sz="800" dirty="0">
                <a:solidFill>
                  <a:srgbClr val="3F51B5"/>
                </a:solidFill>
              </a:rPr>
              <a:t>finally</a:t>
            </a:r>
            <a:r>
              <a:rPr lang="en" sz="800" dirty="0">
                <a:solidFill>
                  <a:srgbClr val="37474F"/>
                </a:solidFill>
              </a:rPr>
              <a:t>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i="1" dirty="0">
                <a:solidFill>
                  <a:srgbClr val="37474F"/>
                </a:solidFill>
              </a:rPr>
              <a:t>println</a:t>
            </a:r>
            <a:r>
              <a:rPr lang="en" sz="800" dirty="0">
                <a:solidFill>
                  <a:srgbClr val="37474F"/>
                </a:solidFill>
              </a:rPr>
              <a:t>(</a:t>
            </a:r>
            <a:r>
              <a:rPr lang="en" sz="800" dirty="0">
                <a:solidFill>
                  <a:srgbClr val="008000"/>
                </a:solidFill>
              </a:rPr>
              <a:t>"See you in the next episodes!"</a:t>
            </a:r>
            <a:r>
              <a:rPr lang="en" sz="800" dirty="0">
                <a:solidFill>
                  <a:srgbClr val="37474F"/>
                </a:solidFill>
              </a:rPr>
              <a:t>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</a:t>
            </a:r>
            <a:endParaRPr sz="800" dirty="0"/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👀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549" y="0"/>
            <a:ext cx="841365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>
            <a:spLocks noGrp="1"/>
          </p:cNvSpPr>
          <p:nvPr>
            <p:ph type="body" idx="4294967295"/>
          </p:nvPr>
        </p:nvSpPr>
        <p:spPr>
          <a:xfrm>
            <a:off x="292608" y="4493050"/>
            <a:ext cx="24864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</a:rPr>
              <a:t>以及在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</a:rPr>
              <a:t> </a:t>
            </a:r>
            <a:r>
              <a:rPr lang="en" sz="14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java.util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sym typeface="JetBrains Mono"/>
              </a:rPr>
              <a:t>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sym typeface="JetBrains Mono"/>
              </a:rPr>
              <a:t>中还有很多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Kotlin </a:t>
            </a:r>
            <a:r>
              <a:rPr lang="zh-CN" altLang="en-US" dirty="0"/>
              <a:t>语法糖</a:t>
            </a:r>
            <a:endParaRPr dirty="0"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F51B5"/>
                </a:solidFill>
              </a:rPr>
              <a:t>try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是一个表达式：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F51B5"/>
                </a:solidFill>
              </a:rPr>
              <a:t>val </a:t>
            </a:r>
            <a:r>
              <a:rPr lang="en" dirty="0">
                <a:solidFill>
                  <a:srgbClr val="37474F"/>
                </a:solidFill>
              </a:rPr>
              <a:t>a: Int? = </a:t>
            </a:r>
            <a:r>
              <a:rPr lang="en" dirty="0">
                <a:solidFill>
                  <a:srgbClr val="3F51B5"/>
                </a:solidFill>
              </a:rPr>
              <a:t>try </a:t>
            </a:r>
            <a:r>
              <a:rPr lang="en" dirty="0">
                <a:solidFill>
                  <a:srgbClr val="37474F"/>
                </a:solidFill>
              </a:rPr>
              <a:t>{ input.toInt() } </a:t>
            </a:r>
            <a:r>
              <a:rPr lang="en" dirty="0">
                <a:solidFill>
                  <a:srgbClr val="3F51B5"/>
                </a:solidFill>
              </a:rPr>
              <a:t>catch</a:t>
            </a:r>
            <a:r>
              <a:rPr lang="en" dirty="0">
                <a:solidFill>
                  <a:srgbClr val="37474F"/>
                </a:solidFill>
              </a:rPr>
              <a:t> (e: NumberFormatException) { </a:t>
            </a:r>
            <a:r>
              <a:rPr lang="en" dirty="0">
                <a:solidFill>
                  <a:srgbClr val="3F51B5"/>
                </a:solidFill>
              </a:rPr>
              <a:t>null</a:t>
            </a:r>
            <a:r>
              <a:rPr lang="en" dirty="0">
                <a:solidFill>
                  <a:srgbClr val="37474F"/>
                </a:solidFill>
              </a:rPr>
              <a:t> }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更多语法糖：</a:t>
            </a:r>
            <a:endParaRPr lang="en-US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 dirty="0">
                <a:solidFill>
                  <a:srgbClr val="37474F"/>
                </a:solidFill>
              </a:rPr>
              <a:t>require</a:t>
            </a:r>
            <a:r>
              <a:rPr lang="en" dirty="0">
                <a:solidFill>
                  <a:srgbClr val="37474F"/>
                </a:solidFill>
              </a:rPr>
              <a:t>(count &gt;= 0) { </a:t>
            </a:r>
            <a:r>
              <a:rPr lang="en" dirty="0">
                <a:solidFill>
                  <a:srgbClr val="008000"/>
                </a:solidFill>
              </a:rPr>
              <a:t>"Count must be non-negative, was $count"</a:t>
            </a:r>
            <a:r>
              <a:rPr lang="en" dirty="0">
                <a:solidFill>
                  <a:srgbClr val="37474F"/>
                </a:solidFill>
              </a:rPr>
              <a:t> } 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// IllegalArgumentException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 dirty="0">
                <a:solidFill>
                  <a:srgbClr val="37474F"/>
                </a:solidFill>
              </a:rPr>
              <a:t>error</a:t>
            </a:r>
            <a:r>
              <a:rPr lang="en" dirty="0">
                <a:solidFill>
                  <a:srgbClr val="37474F"/>
                </a:solidFill>
              </a:rPr>
              <a:t>(</a:t>
            </a:r>
            <a:r>
              <a:rPr lang="en" dirty="0">
                <a:solidFill>
                  <a:srgbClr val="008000"/>
                </a:solidFill>
              </a:rPr>
              <a:t>"Error message"</a:t>
            </a:r>
            <a:r>
              <a:rPr lang="en" dirty="0">
                <a:solidFill>
                  <a:srgbClr val="37474F"/>
                </a:solidFill>
              </a:rPr>
              <a:t>) 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// IllegalStateException</a:t>
            </a:r>
            <a:endParaRPr dirty="0">
              <a:solidFill>
                <a:srgbClr val="99999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276225" y="285750"/>
            <a:ext cx="7153200" cy="1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dirty="0">
                <a:solidFill>
                  <a:schemeClr val="lt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Thanks!</a:t>
            </a:r>
            <a:endParaRPr sz="48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92" name="Google Shape;92;p18">
            <a:hlinkClick r:id="rId3"/>
          </p:cNvPr>
          <p:cNvSpPr txBox="1"/>
          <p:nvPr/>
        </p:nvSpPr>
        <p:spPr>
          <a:xfrm>
            <a:off x="238875" y="4469150"/>
            <a:ext cx="216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@kotlin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1079350" y="4469150"/>
            <a:ext cx="39678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|  Developed by JetBrains 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 White Theme">
  <a:themeElements>
    <a:clrScheme name="Simple Light">
      <a:dk1>
        <a:srgbClr val="000000"/>
      </a:dk1>
      <a:lt1>
        <a:srgbClr val="FFFFFF"/>
      </a:lt1>
      <a:dk2>
        <a:srgbClr val="27282C"/>
      </a:dk2>
      <a:lt2>
        <a:srgbClr val="000000"/>
      </a:lt2>
      <a:accent1>
        <a:srgbClr val="28B8A0"/>
      </a:accent1>
      <a:accent2>
        <a:srgbClr val="FC801D"/>
      </a:accent2>
      <a:accent3>
        <a:srgbClr val="FF318C"/>
      </a:accent3>
      <a:accent4>
        <a:srgbClr val="6B57FF"/>
      </a:accent4>
      <a:accent5>
        <a:srgbClr val="087CFA"/>
      </a:accent5>
      <a:accent6>
        <a:srgbClr val="000000"/>
      </a:accent6>
      <a:hlink>
        <a:srgbClr val="FF31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2576</Words>
  <PresentationFormat>全屏显示(16:9)</PresentationFormat>
  <Paragraphs>230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Open Sans</vt:lpstr>
      <vt:lpstr>Inter</vt:lpstr>
      <vt:lpstr>Raleway</vt:lpstr>
      <vt:lpstr>JetBrains Mono</vt:lpstr>
      <vt:lpstr>HONOR Sans CN</vt:lpstr>
      <vt:lpstr>Arial</vt:lpstr>
      <vt:lpstr>Standard White Theme</vt:lpstr>
      <vt:lpstr>PowerPoint 演示文稿</vt:lpstr>
      <vt:lpstr>What? Why?</vt:lpstr>
      <vt:lpstr>How?</vt:lpstr>
      <vt:lpstr>示例</vt:lpstr>
      <vt:lpstr>另一个有意义的例子</vt:lpstr>
      <vt:lpstr>处理异常</vt:lpstr>
      <vt:lpstr>👀</vt:lpstr>
      <vt:lpstr>Kotlin 语法糖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2026-04-22T11:48:01Z</dcterms:modified>
</cp:coreProperties>
</file>