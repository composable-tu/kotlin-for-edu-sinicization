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7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embeddedFontLst>
    <p:embeddedFont>
      <p:font typeface="HONOR Sans CN" panose="02000500000000000000" pitchFamily="2" charset="-122"/>
      <p:regular r:id="rId36"/>
      <p:bold r:id="rId37"/>
    </p:embeddedFont>
    <p:embeddedFont>
      <p:font typeface="Inter" panose="020B0604020202020204" charset="0"/>
      <p:regular r:id="rId38"/>
      <p:bold r:id="rId39"/>
      <p:italic r:id="rId40"/>
      <p:boldItalic r:id="rId41"/>
    </p:embeddedFont>
    <p:embeddedFont>
      <p:font typeface="JetBrains Mono" panose="020B0604020202020204" charset="0"/>
      <p:regular r:id="rId42"/>
      <p:bold r:id="rId43"/>
      <p:italic r:id="rId44"/>
      <p:boldItalic r:id="rId45"/>
    </p:embeddedFont>
    <p:embeddedFont>
      <p:font typeface="Open Sans" panose="020B0606030504020204" pitchFamily="34" charset="0"/>
      <p:regular r:id="rId46"/>
      <p:bold r:id="rId47"/>
      <p:italic r:id="rId48"/>
      <p:boldItalic r:id="rId49"/>
    </p:embeddedFont>
    <p:embeddedFont>
      <p:font typeface="Raleway" pitchFamily="2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52">
          <p15:clr>
            <a:srgbClr val="9AA0A6"/>
          </p15:clr>
        </p15:guide>
        <p15:guide id="4" orient="horz" pos="139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7873" autoAdjust="0"/>
  </p:normalViewPr>
  <p:slideViewPr>
    <p:cSldViewPr snapToGrid="0">
      <p:cViewPr varScale="1">
        <p:scale>
          <a:sx n="60" d="100"/>
          <a:sy n="60" d="100"/>
        </p:scale>
        <p:origin x="1442" y="42"/>
      </p:cViewPr>
      <p:guideLst>
        <p:guide orient="horz" pos="1620"/>
        <p:guide pos="2880"/>
        <p:guide orient="horz" pos="552"/>
        <p:guide orient="horz" pos="139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HONOR Sans CN" panose="02000500000000000000" pitchFamily="2" charset="-122"/>
        <a:ea typeface="HONOR Sans CN" panose="02000500000000000000" pitchFamily="2" charset="-122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kotlinlang.org/api/latest/jvm/stdlib/kotlin.collections/-collection/#kotlin.collections.Collection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9fdf32a2d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19fdf32a2d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今天我们将讨论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中的集合。首先，让我们从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`List`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、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`Set`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`Map`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这三种集合类型的一般定义开始。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（幻灯片上的信息）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（补充）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`Map`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（或称字典；或关联数组）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每种集合类型可能有不同的实现方式，例如，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`List`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内部可能通过数组或双向链表来实现。可以说，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、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Set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是接口或规范，用于确定支持哪些操作（例如，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`List`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支持插入元素、移除元素、按索引获取元素等），而每个接口都可以由多种实现来支持。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大多数编程语言的标准库中都包含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`List`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、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`Set`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`Map`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数据结构的实现。此类实现通常与幻灯片中给出的定义一致。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然而，在某些库（如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Apache Commons Collections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等）中也能找到一些特定的实现，例如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MultiValueMap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（或简称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MultiMap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）的映射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/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字典实现。这种实现同样是一组键值对，但一个键可能与多个值相关联。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MultiMap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的语义略有不同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虽然向其中添加元素的操作看起来相似，但通过键检索元素时会返回一个项目集合。在某些编程语言中，此类特定数据结构可能包含在标准库中，而在其他语言中则可能作为第三方库提供。</a:t>
            </a: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270510" marR="3213100" lvl="0" indent="-292100" algn="l" rtl="0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Discuss. The Standard Library and a Kotlin Manifesto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https://discuss.kotlinlang.org/t/the-standard-library-and-a-kotlin-manifesto/1303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270510" marR="3213100" lvl="0" indent="-292100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Data Structure Stories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https://medium.com/@duplessisjdp96/data-structure-stories-the-dictionary-map-associative-array-key-value-thingy-8579caa44579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270510" marR="3213100" lvl="0" indent="-292100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Guide to Multi Value Map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https://www.baeldung.com/apache-commons-multi-valued-map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105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9fdf32a2d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9fdf32a2d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标准库提供了丰富的集合操作工具。如前所述，集合包含对象。但具体是哪些类型的对象呢？我们可能会认为针对不同类型应有不同的集合实现，例如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IntList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或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StringList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。正如我们在关于泛型的上一课中所建立的，集合接口与泛型的结合使用效果非常出色。就集合而言，这意味着借助泛型，例如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`List`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既可以存储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`Int`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，也可以存储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`String`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，或者任何其他自定义数据类型。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（可选）默认集合在大多数情况下都能满足我们的需求。但在某些特定应用中，您可能会遇到性能和内存效率问题，例如由于装箱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/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拆箱操作导致的。虽然我们可以寻找某些特定类型的集合实现，或者自行实现，但它们可能与标准接口不兼容。例如，请参阅下文链接中的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TIntArrayList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Collections Overview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https://kotlinlang.org/docs/collections-overview.html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Diving into Kotlin Collections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https://dev.to/kotlin/diving-into-kotlin-collections-587o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Discuss. Performance question related to boxing and interface implementation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https://discuss.kotlinlang.org/t/performance-question-related-to-boxing-and-interface-implementation/17387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Performance Comparison of Primitive Lists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https://www.baeldung.com/java-list-primitive-performance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05"/>
              </a:spcBef>
              <a:spcAft>
                <a:spcPts val="105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Trove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https://trove4j.sourceforge.net/javadocs/gnu/trove/list/array/TIntArrayList.html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9fdf32a2d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9fdf32a2d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本幻灯片展示了集合类型的层次结构。您可能会注意到，每种集合类型都有可变子类型。可变接口通过添加或移除等写入操作，扩展了相应的只读接口。（可选）这可能会让人感到困惑，因为只读接口和可变接口可能由同一个实现支持。例如，如果尝试编译以下代码，将会引发编译时错误：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=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(1, 2, 3)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println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[1])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[2] = 100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for (e in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)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println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("Value: $e")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在上面的代码片段中，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标准库中用于轻松创建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集合的辅助方法（请注意，这里使用的是只读版本，而非可变版本）。要使其正常工作，我们可以简单地将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改为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mutableListOf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以获得可变集合：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=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mutableListOf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(1, 2, 3)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println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[1])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[2] = 100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for (e in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)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println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("Value: $e")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现在请看这个例子。你认为它能编译通过吗？如果能，运行起来会顺畅吗？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=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(1, 2, 3)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as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)[2] = 100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for (e in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)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println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("Value: $e")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答案是肯定的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它不仅能编译通过，运行时也不会报错。这是因为只读列表和可变列表的实现是相同的。请务必注意，应避免显式进行不安全的类型转换。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34385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155575" lvl="0" indent="0" algn="l" rtl="0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</a:rPr>
              <a:t>● 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Collection Types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https://kotlinlang.org/docs/collections-overview.html#collection-types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a7afd976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a7afd976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2083"/>
              </a:lnSpc>
              <a:spcBef>
                <a:spcPts val="0"/>
              </a:spcBef>
              <a:spcAft>
                <a:spcPts val="109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让我们再来看一种类型层次结构的表示形式。这里同样包含只读和可变两种变体。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9fdf32a2d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9fdf32a2d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正如我们在上一张幻灯片中所见，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Iterable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类型位于集合类型层次结构的顶端。这意味着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标准库中的所有集合都是可迭代的。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“可迭代”是什么意思？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迭代是循环的术语，因此可迭代集合是指可以进行循环遍历的集合，例如使用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for`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循环。以下是一个简短的示例：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=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(1, 2, 3)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for (item in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) {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println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("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item $item")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}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如幻灯片中展示的代码片段所示，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Iterable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接口包含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iterator`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方法，且其签名中包含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operator`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关键字（请记住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的命名约定）。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Iterator`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Iterable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接口有何区别？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Iterable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接口代表一种可进行迭代（循环）的数据结构，而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Iterator`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接口则提供在迭代过程中从集合中获取元素的方法。</a:t>
            </a: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Collections. Iterators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https://kotlinlang.org/docs/iterators.html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05"/>
              </a:spcBef>
              <a:spcAft>
                <a:spcPts val="105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Iterator vs Iterable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https://www.baeldung.com/java-iterator-vs-iterable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9fdf32a2df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9fdf32a2df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也可以使用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while`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循环来遍历可迭代集合。您可以显式获取一个迭代器，并结合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hasNext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while`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循环来遍历各项。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hasNext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next()`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Iterator`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接口中声明的方法。让我们来看看该接口：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/**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*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返回迭代中的下一个元素。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*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/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public operator fun next(): T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```Kotlin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/**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*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如果迭代中还有更多元素，则返回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true`。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*/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public operator fun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hasNext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(): Boolean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9fdf32a2d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9fdf32a2d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还记得我们在前几张幻灯片中看到的集合类型层次结构吗？其中也包含了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MutableIterator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接口。两者有何区别？请看这个接口声明：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/**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*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可变集合的迭代器。支持在迭代过程中移除元素。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*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@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see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MutableCollection.iterator</a:t>
            </a: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*/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public interface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MutableIterator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&lt;out T&gt; : Iterator&lt;T&gt; {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 /**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  *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从底层集合中移除该迭代器返回的最后一个元素。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  *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/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public fun remove(): Unit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}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你可以看到，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MutableIterator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继承了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Iterator`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接口，并引入了一个额外的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remove()`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方法，这样你就可以在遍历集合时移除元素，就像上面的示例代码所示。</a:t>
            </a: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40"/>
              </a:spcBef>
              <a:spcAft>
                <a:spcPts val="105"/>
              </a:spcAft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Library. MutableIterator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https://kotlinlang.org/api/latest/jvm/stdlib/kotlin.collections/-mutable-iterator/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9fdf32a2d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9fdf32a2d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“可变”一词已多次出现，但在集合中它具体指什么？简而言之，这意味着集合在创建后可以被修改。例如，可以添加或移除元素。而只读集合（或不可变集合）一旦创建就无法被修改。</a:t>
            </a: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根据集合类型层次结构，所有以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为前缀的集合类型都实现了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MutableCollection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`，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MutableCollection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本身继承自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MutableIterable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`。</a:t>
            </a: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1" indent="-243205" algn="l" rtl="0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Library. MutableCollection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https://kotlinlang.org/api/latest/jvm/stdlib/kotlin.collections/-mutable-collection/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6350" lvl="0" indent="-6350" algn="l" rtl="0">
              <a:lnSpc>
                <a:spcPct val="107916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50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9fdf32a2d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9fdf32a2d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可变集合可以作为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`var`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变量声明，这意味着它可以被重新赋值。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（可选）：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有时可变性可能会让人感到困惑。再来看一个例子：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```Kotlin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data class Point(var x: Int, var y: Int)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points = 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listOf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(Point(1, 1), Point(2, 2))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println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(points)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points[0].x = -1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//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将会打印什么？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println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(points)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声明了一个自定义数据类型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`Point`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并创建了一个只读（不可变）集合。我们无法修改不可变集合。但如果我们有一个不可变集合，并尝试修改其中一个元素，这段代码能编译通过吗？是的，因为该集合仍然是不可变的，且我们并未尝试修改它（例如添加新项）。与此同时，我们可以获取集合中的某个元素，而该元素本身是可变的。因此，不可变集合可以包含可变对象，这些对象本身是可以被修改的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所以，当我们说集合是只读（不可变）的，是指该集合本身无法被修改；无法添加或移除项目。但此类集合中的项目可以是可变的，并且可以被修改。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Basic Syntax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https://kotlinlang.org/docs/basic-syntax.html#variables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20b04db3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c20b04db3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让我们来看看集合的结构，例如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`List`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。如前所述，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`List`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是一个继承自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`Collection`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接口的接口。打开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MutableList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的声明，检查它是否符合我们之前看到的集合类型层次结构。它继承了哪个接口？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Library. List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https://kotlinlang.org/api/latest/jvm/stdlib/kotlin.collections/-list/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05"/>
              </a:spcBef>
              <a:spcAft>
                <a:spcPts val="105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Library. MutableList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https://kotlinlang.org/api/latest/jvm/stdlib/kotlin.collections/-mutable-list/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9fdf32a2d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9fdf32a2df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如果我们深入研究基础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`Collection`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接口的实现，会看到一些基础方法，例如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isEmpty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。由于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标准库中的所有集合都实现了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`Collection`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接口，因此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isEmpty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应该是检查集合是否包含任何元素的首选方法。观察其他介绍过的集合方法，你会发现它们数量相当多。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中的集合功能强大且灵活。不过，正如我们在下一张幻灯片中将看到的，并非所有方法都在接口中声明。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40"/>
              </a:spcBef>
              <a:spcAft>
                <a:spcPts val="105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Library. Collection – </a:t>
            </a:r>
            <a:r>
              <a:rPr lang="en" u="sng" dirty="0">
                <a:solidFill>
                  <a:srgbClr val="1155CC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https://kotlinlang.org/api/latest/jvm/stdlib/kotlin.collections/-collection/#kotlin.collections.Collection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9fdf32a2df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9fdf32a2df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139315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的扩展函数让我们能够访问更多的集合功能。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标准库中包含多种集合扩展函数，其中一些已在上述示例中展示。此前我们曾看到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Collection`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接口中的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isEmpty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方法。此外还有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isNotEmpty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扩展函数，用于检查集合是否至少包含一个元素。</a:t>
            </a:r>
          </a:p>
          <a:p>
            <a:pPr marL="0" marR="2139315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2139315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查看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kotlin.collections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包以了解其他扩展函数，例如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isNullOrEmpty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()`，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该函数虽然简单却非常实用：</a:t>
            </a:r>
          </a:p>
          <a:p>
            <a:pPr marL="0" marR="2139315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2139315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marR="2139315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public inline fun &lt;T&gt; Collection&lt;T&gt;?.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isNullOrEmpty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(): Boolean {</a:t>
            </a:r>
          </a:p>
          <a:p>
            <a:pPr marL="0" marR="2139315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 contract {</a:t>
            </a:r>
          </a:p>
          <a:p>
            <a:pPr marL="0" marR="2139315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     returns(false) implies 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this@isNullOrEmpty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!= null)</a:t>
            </a:r>
          </a:p>
          <a:p>
            <a:pPr marL="0" marR="2139315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 }</a:t>
            </a:r>
          </a:p>
          <a:p>
            <a:pPr marL="0" marR="2139315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2139315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 return this == null ||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this.isEmpty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</a:t>
            </a:r>
          </a:p>
          <a:p>
            <a:pPr marL="0" marR="2139315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}</a:t>
            </a:r>
          </a:p>
          <a:p>
            <a:pPr marL="0" marR="2139315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Library. Collections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https://kotlinlang.org/api/latest/jvm/stdlib/kotlin.collections/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05"/>
              </a:spcBef>
              <a:spcAft>
                <a:spcPts val="105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Library. isNullOrEmpty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https://kotlinlang.org/api/latest/jvm/stdlib/kotlin.collections/is-null-or-empty.html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9fdf32a2df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9fdf32a2df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如何操作集合中的元素？例如，如何获取其中一个元素？之前我们已经使用过这样的语法：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=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(1, 2, 3)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println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[1])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得益于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的索引访问运算符，我们可以轻松地通过索引获取元素。如本幻灯片所示，您可以使用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get(index: Int)`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运算符函数来支持索引访问。你可以像这样显式地使用它：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myList.get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(1)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但我们建议使用索引访问运算符，因为它们更方便。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subList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时要小心，并记住我们之前关于可变性的说明。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subList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会创建一个引用副本。如果你修改子列表，父列表也会随之被修改，正如上面的示例所示。但若尝试向子列表中添加元素会发生什么？运行以下示例观察结果：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list1 =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mutableListOf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(1, 2, 3)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list2 = list1.subList(0, 1)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list2[0] += 1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println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(list1)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list2.add(10)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println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(list1)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输出的结果是：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Text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[2, 2, 3]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[2, 10, 2, 3]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你可以看到，虽然我们修改的是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list2`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集合，但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list1`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同时也发生了变化。</a:t>
            </a:r>
          </a:p>
          <a:p>
            <a:pPr marL="0" lvl="0" indent="0" algn="l" rtl="0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Operator overloading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https://kotlinlang.org/docs/operator-overloading.html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Indexed access operators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https://kotlinlang.org/docs/operator-overloading.html#indexed-access-operator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Library. Collections Operations overview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https://kotlinlang.org/docs/collection-operations.html#common-operations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Collection functions cheatsheet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https://medium.com/mobile-app-development-publication/kotlin-collection-functions-cheat-sheet-975371a96c4b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9fdf32a2df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9fdf32a2df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i="0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ArrayList</a:t>
            </a:r>
            <a:r>
              <a:rPr lang="en-US" altLang="zh-CN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是一种基于数组的实现。它的读取操作开销很小，添加操作通常也开销很小，但插入或删除操作的开销较大。</a:t>
            </a:r>
            <a:endParaRPr lang="en-US" altLang="zh-CN" i="0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i="0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正如我们所说，</a:t>
            </a:r>
            <a:r>
              <a:rPr lang="en-US" altLang="zh-CN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标准库提供了许多集合功能。此外还有多种辅助方法可用于快速创建集合，例如我们之前看到的 </a:t>
            </a:r>
            <a:r>
              <a:rPr lang="en-US" altLang="zh-CN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i="0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listOf</a:t>
            </a:r>
            <a:r>
              <a:rPr lang="en-US" altLang="zh-CN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或 </a:t>
            </a:r>
            <a:r>
              <a:rPr lang="en-US" altLang="zh-CN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i="0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mutableListOf</a:t>
            </a:r>
            <a:r>
              <a:rPr lang="en-US" altLang="zh-CN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方法。上面的示例展示了多种构建集合的方法。</a:t>
            </a: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None/>
            </a:pPr>
            <a:endParaRPr lang="e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Library. Constructing collections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https://kotlinlang.org/docs/constructing-collections.html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9fdf32a2d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9fdf32a2d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我们已经讨论了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`List`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集合类型。现在让我们来谈谈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`Set`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集合类型。</a:t>
            </a: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`List`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不同，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`Set`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通常不保留元素的顺序（尽管也有保留顺序的实现，例如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LinkedHashSet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）。</a:t>
            </a: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`Set`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存储唯一的元素，这意味着不允许重复项。</a:t>
            </a: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Library. Collections Overview. Sets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https://kotlinlang.org/docs/collections-overview.html#set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9fdf32a2df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9fdf32a2df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虽然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`Set`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存储的是唯一元素，但这些元素的唯一性取决于添加到集合中的对象类型。假设你有一个简单的类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`A`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，如上图所示。你可以将两个对象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`A(1,1)`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`A(1,2)`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添加到集合中。到目前为止，这没有问题，因为这两个对象的属性不同。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9fdf32a2df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9fdf32a2df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然而，如果我们引入类型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B`，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并重写了仅检查主属性的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equals`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hashCode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方法，那么集合中会包含什么？请先运行上面的示例（使用类型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A`），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然后尝试交换类型：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a = B(1, 1)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b = B(1, 2)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set =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setOf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(a, b)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println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(set) //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集合中有多少个元素？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发生了什么？由于我们在类型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B`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中引入了自定义的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equals`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hashCode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方法，集合中只包含一个元素。请记住，集合本身仅使用对象的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equals`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hashCode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方法来检查集合中的对象是否唯一，因此在使用带有重写方法的自定义类型时要格外小心。</a:t>
            </a: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Discussions. How does Kotlin implement equals and hashCode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https://discuss.kotlinlang.org/t/how-does-kotlin-implement-equals-and-hashcode/940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0" lvl="0" indent="0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9fdf32a2df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9fdf32a2df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LinkedHashSet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是一个双向链表式的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HashSet`，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在迭代时能保留元素的插入顺序。它在添加和成员检查时具有渐近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$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O(1)$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的时间复杂度，并依赖于元素的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hashCode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函数。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mutableListOf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辅助函数底层使用了什么类型？让我们看看它的实现：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public fun &lt;T&gt;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mutableSetOf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vararg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elements: T):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MutableSet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&lt;T&gt; =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 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elements.toCollection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LinkedHashSet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mapCapacity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elements.size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)))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可以看到，它使用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LinkedHashSet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来存储项。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4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Library. mutableSetOf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https://kotlinlang.org/api/latest/jvm/stdlib/kotlin.collections/mutable-set-of.html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9fdf32a2df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9fdf32a2df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我们已经讨论了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Set`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这两种集合类型，这意味着我们还没有谈及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类型。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Map`（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也称为关联数组或字典）是一种用于存储键值对的数据结构。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让我们简要看看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标准库中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接口的声明。正如我们在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Set`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中所见，该接口包含多种方法（别忘了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扩展！）。  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类似，我们可以按键名检索任意值，如下所示：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numbersMap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=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("one" to 1, "two" to 2, "three" to 3)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println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numbersMap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["one"])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标准库中用于快速创建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的辅助函数。我们将在下一张幻灯片中讨论它。而代码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`"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one" to 1`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是一种利用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标准库提供的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to`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中缀函数来创建键值对的便捷方式。不过，也可以显式调用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get`：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```Kotlin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println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numbersMap.get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("one"))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getOrDefault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方法应被显式调用，以通过键检索元素或返回作为参数传递的默认值：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numbersMap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=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("one" to 1, "two" to 2, "three" to 3) 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println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numbersMap.getOrDefault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("two", -1))  //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由于映射中存在“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two”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键，因此打印出“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2”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  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println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numbersMap.getOrDefault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("four", -1)) //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由于未找到“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four”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键，因此使用默认值，打印出“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-1”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entries`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方法可用于遍历键值对。将其与解构声明结合使用，是遍历映射项的一种非常便捷的方式。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marR="914400" lvl="0" indent="-243205" algn="l" rtl="0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Collections. Map-specific operations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https://kotlinlang.org/docs/map-operations.html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marR="914400" lvl="0" indent="-243205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Destructuring declarations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https://kotlinlang.org/docs/destructuring-declarations.html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marR="914400" lvl="0" indent="-243205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Library. `to` infix function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https://kotlinlang.org/api/latest/jvm/stdlib/kotlin/to.html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9fdf32a2df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9fdf32a2df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LinkedHashMap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是一种双向链表式的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HashMap`，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在迭代时能保留插入顺序。它通过元素的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hashCode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函数实现按键值添加和读取的渐近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$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O(1)$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时间复杂度。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与列表和集合类似，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标准库中提供了多种辅助方法（或“构建器”）用于快速创建映射。同样，我们看到以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为前缀的辅助方法用于创建实现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MutableCollection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接口的映射。比较以下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mutableMapOf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的实现：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Map&lt;K, V&gt; =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 if 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pairs.size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&gt; 0)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pairs.toMap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LinkedHashMap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mapCapacity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pairs.size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))) else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emptyMap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```Kotlin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public fun &lt;K, V&gt;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mutableMapOf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vararg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pairs: Pair&lt;K, V&gt;):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MutableMap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&lt;K, V&gt; =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LinkedHashMap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&lt;K, V&gt;(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mapCapacity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pairs.size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)).apply {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putAll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(pairs) }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两者有何区别？您可能会注意到这两个函数都依赖于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LinkedHashMap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`；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然而，它们的签名却不同。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返回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类型，而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mutableMapOf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返回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MutableMap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`。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请回想我们之前关于显式类型转换和集合实现的讨论；这两个方法在底层都会创建可变集合。如果您使用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方法创建集合，可以将该集合显式转换为可变类型并修改元素，且不会引发编译时错误。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marR="914400" lvl="0" indent="-243205" algn="l" rtl="0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Library. emptyMap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https://kotlinlang.org/api/latest/jvm/stdlib/kotlin.collections/empty-map.html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marR="914400" lvl="0" indent="-243205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Library. mapOf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https://kotlinlang.org/api/latest/jvm/stdlib/kotlin.collections/map-of.html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marR="914400" lvl="0" indent="-243205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Library. mutableMapOf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https://kotlinlang.org/api/latest/jvm/stdlib/kotlin.collections/mutable-map-of.html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9fdf32a2df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9fdf32a2df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除了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List`、`Set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这几种集合类型外，还有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Array`。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它实际上并非集合，因为它未实现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Collection`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或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Iterable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接口；但它提供了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iterator()`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方法来获取迭代器。这意味着可以使用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for`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循环遍历其元素，例如：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array =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arrayOf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(1, 2, 3)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for (item in array) {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 print(" Array item: $item")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}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在上例中，我们还使用了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arrayOf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`，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这是一个辅助函数，可让你轻松创建由给定项组成的数组。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Array`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具有固定大小且是可变的。</a:t>
            </a:r>
          </a:p>
          <a:p>
            <a:pPr marL="0" marR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l" rtl="0">
              <a:lnSpc>
                <a:spcPct val="15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marR="914400" lvl="0" indent="-298450" algn="l" rtl="0">
              <a:lnSpc>
                <a:spcPct val="150000"/>
              </a:lnSpc>
              <a:spcBef>
                <a:spcPts val="45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Arrays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https://kotlinlang.org/docs/arrays.html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marR="9144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Library. arrayOf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https://kotlinlang.org/api/latest/jvm/stdlib/kotlin/array-of.html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l" rtl="0">
              <a:lnSpc>
                <a:spcPct val="150000"/>
              </a:lnSpc>
              <a:spcBef>
                <a:spcPts val="55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9fdf32a2df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9fdf32a2df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这些类与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`Array`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类没有继承关系，但它们拥有相同的方法和属性。每个类还都有一个对应的工厂函数。</a:t>
            </a: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众所周知，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现在拥有基本数据类型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但并非在底层实现。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中还提供了针对特定基本类型的数组实现，例如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IntArray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或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ByteArray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，这些在针对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JVM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平台时非常有用（你好，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Multiplatform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！）。</a:t>
            </a: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为什么我们需要基本数据类型的数组？试想我们需要在内存中保存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10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个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ID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（类型为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`Int`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）。使用列表或数组时，我们可能不会察觉到任何差异。但如果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ID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数量达到数千万呢？试着创建一个包含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1000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万个元素的集合，再创建一个类似的数组。两者在内存消耗和性能方面存在相当大的差异。如您所见，在对性能要求极高的处理和应用中，集合与数组的选择至关重要。您可以启用分析器来分析内存消耗，从而复现上述示例。</a:t>
            </a: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Academy. Effective Kotlin: Consider Arrays with primitives for performance critical processing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https://blog.kotlin-academy.com/effective-kotlin-use-arrays-with-primitives-for-performance-critical-processing-297283ed1f90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9fdf32a2df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9fdf32a2df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获取一组元素的另一种方法是创建一个区间。</a:t>
            </a:r>
            <a:r>
              <a:rPr lang="en-US" altLang="zh-C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Kotlin </a:t>
            </a:r>
            <a:r>
              <a:rPr lang="zh-CN" altLang="en-US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提供了 </a:t>
            </a:r>
            <a:r>
              <a:rPr lang="en-US" altLang="zh-C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`..` </a:t>
            </a:r>
            <a:r>
              <a:rPr lang="zh-CN" altLang="en-US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运算符来实现这一点。整数数据类型的区间（例如 </a:t>
            </a:r>
            <a:r>
              <a:rPr lang="en-US" altLang="zh-C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`Int` </a:t>
            </a:r>
            <a:r>
              <a:rPr lang="zh-CN" altLang="en-US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或 </a:t>
            </a:r>
            <a:r>
              <a:rPr lang="en-US" altLang="zh-C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`Long`</a:t>
            </a:r>
            <a:r>
              <a:rPr lang="zh-CN" altLang="en-US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）具有一项额外特性：它们可以被迭代，如幻灯片中所示。此类区间也被称为数列。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rgbClr val="0000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我们还可以检查给定项是否在区间内，例如：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rgbClr val="0000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```Kotlin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 err="1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-US" altLang="zh-C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intRange</a:t>
            </a:r>
            <a:r>
              <a:rPr lang="en-US" altLang="zh-C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1..10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 err="1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println</a:t>
            </a:r>
            <a:r>
              <a:rPr lang="en-US" altLang="zh-C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(5 in </a:t>
            </a:r>
            <a:r>
              <a:rPr lang="en-US" altLang="zh-CN" dirty="0" err="1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intRange</a:t>
            </a:r>
            <a:r>
              <a:rPr lang="en-US" altLang="zh-C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```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rgbClr val="0000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在这里，</a:t>
            </a:r>
            <a:r>
              <a:rPr lang="en-US" altLang="zh-C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`in` </a:t>
            </a:r>
            <a:r>
              <a:rPr lang="zh-CN" altLang="en-US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检查 </a:t>
            </a:r>
            <a:r>
              <a:rPr lang="en-US" altLang="zh-C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`</a:t>
            </a:r>
            <a:r>
              <a:rPr lang="en-US" altLang="zh-CN" dirty="0" err="1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intRange</a:t>
            </a:r>
            <a:r>
              <a:rPr lang="en-US" altLang="zh-C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` </a:t>
            </a:r>
            <a:r>
              <a:rPr lang="zh-CN" altLang="en-US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是否包含元素 </a:t>
            </a:r>
            <a:r>
              <a:rPr lang="en-US" altLang="zh-C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lang="zh-CN" altLang="en-US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。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marR="914400" lvl="0" indent="-243205" algn="l" rtl="0">
              <a:lnSpc>
                <a:spcPct val="150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Ranges and Progressions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https://kotlinlang.org/docs/ranges.html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105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9fdf32a2df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9fdf32a2df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rgbClr val="19191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还有一种类型需要讨论，那就是序列。与集合不同，序列不包含元素。相反，它们是在迭代过程中动态生成元素的。</a:t>
            </a:r>
          </a:p>
          <a:p>
            <a:pPr marL="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rgbClr val="19191B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rgbClr val="19191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如果我们查看 </a:t>
            </a:r>
            <a:r>
              <a:rPr lang="en-US" altLang="zh-CN" dirty="0">
                <a:solidFill>
                  <a:srgbClr val="19191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`Sequence` </a:t>
            </a:r>
            <a:r>
              <a:rPr lang="zh-CN" altLang="en-US" dirty="0">
                <a:solidFill>
                  <a:srgbClr val="19191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接口，会发现它只声明了一个方法：</a:t>
            </a:r>
            <a:r>
              <a:rPr lang="en-US" altLang="zh-CN" dirty="0">
                <a:solidFill>
                  <a:srgbClr val="19191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`operator fun iterator()`</a:t>
            </a:r>
            <a:r>
              <a:rPr lang="zh-CN" altLang="en-US" dirty="0">
                <a:solidFill>
                  <a:srgbClr val="19191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</a:t>
            </a:r>
          </a:p>
          <a:p>
            <a:pPr marL="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rgbClr val="19191B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rgbClr val="19191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序列提供了与 </a:t>
            </a:r>
            <a:r>
              <a:rPr lang="en-US" altLang="zh-CN" dirty="0">
                <a:solidFill>
                  <a:srgbClr val="19191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rgbClr val="19191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Iterable</a:t>
            </a:r>
            <a:r>
              <a:rPr lang="en-US" altLang="zh-CN" dirty="0">
                <a:solidFill>
                  <a:srgbClr val="19191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rgbClr val="19191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相同的功能，但实现了另一种多步骤集合处理的方法。</a:t>
            </a:r>
          </a:p>
          <a:p>
            <a:pPr marL="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rgbClr val="19191B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rgbClr val="19191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序列的多步骤处理在可能的情况下会延迟执行，这意味着实际计算仅在请求整个处理链的结果时才会发生。</a:t>
            </a:r>
          </a:p>
          <a:p>
            <a:pPr marL="0" lvl="0" indent="0" algn="l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Sequences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https://kotlinlang.org/docs/sequences.html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Sequences. The story of lazy collection operations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https://medium.com/android-news/kotlin-sequences-ac6dc7c883d3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9fdf32a2df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9fdf32a2df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标准库中提供了多种用于创建序列的辅助函数（或构建器）。请看以下示例：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sequence4 = sequence {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 yield(1)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yieldAll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listOf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(2, 3))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}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print(sequence4.take(1).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toList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())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如果只取一个元素，是否会调用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yieldAll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`？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正如我们所说，序列的多步处理是懒加载的。在这个例子中，只有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yield(1)`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会被调用。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9fdf32a2df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9fdf32a2df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为什么我们需要序列？请参考幻灯片中给出的示例。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我们有一个字符串消息，需要：</a:t>
            </a:r>
          </a:p>
          <a:p>
            <a:pPr marL="171450" marR="91440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筛选出至少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4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个字符的单词。</a:t>
            </a:r>
          </a:p>
          <a:p>
            <a:pPr marL="171450" marR="91440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计算前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个选定单词的长度。</a:t>
            </a: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如果使用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`List`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集合类型，我们将遍历整个消息并计算每个单词的长度。请尝试运行代码，确保其按预期工作。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a7afd9763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a7afd9763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以上是我们实现方案的示意图。你会发现，我们计算了每个至少包含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4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个字母的单词的长度。因此，我们调用了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5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次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`.length`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方法，但最终只需要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4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个结果。看来我们有一些未使用的长度计算结果。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9fdf32a2df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9fdf32a2df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现在让我们尝试使用序列重新实现这个解决方案。原理是一样的：先过滤单词，然后计算它们的长度。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试着运行这段代码。我们看到了什么不同？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a7afd9763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a7afd9763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这里，我们并不是遍历整个句子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而是通过迭代来获取所需的结果。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正如我们所说，序列是懒加载的，因此其多步迭代会延迟执行。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9fdf32a2df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9fdf32a2df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我们已经学习了多种集合数据类型，包括数组、序列以及区间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/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数列。每种类型都拥有多个“内置”（在接口中声明的）方法。但请记住，还有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扩展。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标准库为我们提供了许多用于处理集合和其他数据类型的辅助函数。</a:t>
            </a: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如果你觉得需要一些自定义逻辑，请先查看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标准库的扩展，因为你所需的功能很可能已经实现了。</a:t>
            </a: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你可以快速浏览一下标准库的文档，了解已经实现了多少个辅助函数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可能有数百个。让我们尽可能地复用它们。</a:t>
            </a: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155575" lvl="0" indent="0" algn="l" rtl="0">
              <a:lnSpc>
                <a:spcPct val="150000"/>
              </a:lnSpc>
              <a:spcBef>
                <a:spcPts val="50"/>
              </a:spcBef>
              <a:spcAft>
                <a:spcPts val="10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</a:rPr>
              <a:t>● 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Standard Library. Collections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https://kotlinlang.org/api/latest/jvm/stdlib/kotlin.collections/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4342f067c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g24342f067c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由于我们有一个列表，因此也可以获取其排序后的副本。我们可以选择列表元素中某个可比较的属性作为排序依据。在本例中，我们使用由单词及其计数组成的元组中的第二个值。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72c0df22f4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g172c0df22f4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0000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25105" t="18582" r="1077" b="20590"/>
          <a:stretch/>
        </p:blipFill>
        <p:spPr>
          <a:xfrm rot="-720009">
            <a:off x="4471046" y="-44961"/>
            <a:ext cx="5499357" cy="4533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Ralewa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Inter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defRPr>
            </a:lvl1pPr>
            <a:lvl2pPr marL="914400" lvl="1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 Lots of code">
  <p:cSld name="CUSTOM_4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300" rIns="0" bIns="0" anchor="t" anchorCtr="0">
            <a:noAutofit/>
          </a:bodyPr>
          <a:lstStyle>
            <a:lvl1pPr marL="457200" lvl="0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JetBrains Mono"/>
              <a:buChar char="●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L="914400" lvl="1" indent="-279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○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L="1371600" lvl="2" indent="-279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■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L="1828800" lvl="3" indent="-279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●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L="2286000" lvl="4" indent="-279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○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L="2743200" lvl="5" indent="-279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■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L="3200400" lvl="6" indent="-279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●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L="3657600" lvl="7" indent="-279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○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L="4114800" lvl="8" indent="-2794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JetBrains Mono"/>
              <a:buChar char="■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Inter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Text and header 1">
  <p:cSld name="CUSTOM_7_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marL="914400" lvl="1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Inter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Code">
  <p:cSld name="CUSTOM_4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etBrains Mono"/>
              <a:buChar char="●"/>
              <a:defRPr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L="914400" lvl="1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○"/>
              <a:defRPr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L="1371600" lvl="2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■"/>
              <a:defRPr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L="1828800" lvl="3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●"/>
              <a:defRPr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L="2286000" lvl="4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○"/>
              <a:defRPr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L="2743200" lvl="5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■"/>
              <a:defRPr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L="3200400" lvl="6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●"/>
              <a:defRPr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L="3657600" lvl="7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○"/>
              <a:defRPr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L="4114800" lvl="8" indent="-3175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400"/>
              <a:buFont typeface="JetBrains Mono"/>
              <a:buChar char="■"/>
              <a:defRPr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Inter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 Main point">
  <p:cSld name="CUSTOM_5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11475" y="1626682"/>
            <a:ext cx="8321100" cy="16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. Text slide">
  <p:cSld name="CUSTOM_7_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body" idx="1"/>
          </p:nvPr>
        </p:nvSpPr>
        <p:spPr>
          <a:xfrm>
            <a:off x="292600" y="292598"/>
            <a:ext cx="8328900" cy="4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marL="914400" lvl="1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31" name="Google Shape;31;p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Ralewa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 Lots of code 1">
  <p:cSld name="CUSTOM_4_1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Font typeface="JetBrains Mono"/>
              <a:buChar char="●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L="914400" lvl="1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○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L="1371600" lvl="2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■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L="1828800" lvl="3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●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L="2286000" lvl="4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○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L="2743200" lvl="5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■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L="3200400" lvl="6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●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L="3657600" lvl="7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○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L="4114800" lvl="8" indent="-279400" rtl="0">
              <a:spcBef>
                <a:spcPts val="600"/>
              </a:spcBef>
              <a:spcAft>
                <a:spcPts val="600"/>
              </a:spcAft>
              <a:buSzPts val="800"/>
              <a:buFont typeface="JetBrains Mono"/>
              <a:buChar char="■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Inter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150" rIns="0" bIns="0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183880" y="41148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ONOR Sans CN" panose="02000500000000000000" pitchFamily="2" charset="-122"/>
          <a:ea typeface="HONOR Sans CN" panose="02000500000000000000" pitchFamily="2" charset="-122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ONOR Sans CN" panose="02000500000000000000" pitchFamily="2" charset="-122"/>
          <a:ea typeface="HONOR Sans CN" panose="02000500000000000000" pitchFamily="2" charset="-122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>
          <p15:clr>
            <a:srgbClr val="EA4335"/>
          </p15:clr>
        </p15:guide>
        <p15:guide id="2" pos="259">
          <p15:clr>
            <a:srgbClr val="EA4335"/>
          </p15:clr>
        </p15:guide>
        <p15:guide id="3" pos="1037">
          <p15:clr>
            <a:srgbClr val="EA4335"/>
          </p15:clr>
        </p15:guide>
        <p15:guide id="4" pos="1152">
          <p15:clr>
            <a:srgbClr val="EA4335"/>
          </p15:clr>
        </p15:guide>
        <p15:guide id="5" pos="1930">
          <p15:clr>
            <a:srgbClr val="EA4335"/>
          </p15:clr>
        </p15:guide>
        <p15:guide id="6" pos="2045">
          <p15:clr>
            <a:srgbClr val="EA4335"/>
          </p15:clr>
        </p15:guide>
        <p15:guide id="7" pos="2822">
          <p15:clr>
            <a:srgbClr val="EA4335"/>
          </p15:clr>
        </p15:guide>
        <p15:guide id="8" pos="2938">
          <p15:clr>
            <a:srgbClr val="EA4335"/>
          </p15:clr>
        </p15:guide>
        <p15:guide id="9" pos="3715">
          <p15:clr>
            <a:srgbClr val="EA4335"/>
          </p15:clr>
        </p15:guide>
        <p15:guide id="10" pos="3830">
          <p15:clr>
            <a:srgbClr val="EA4335"/>
          </p15:clr>
        </p15:guide>
        <p15:guide id="11" pos="4608">
          <p15:clr>
            <a:srgbClr val="EA4335"/>
          </p15:clr>
        </p15:guide>
        <p15:guide id="12" pos="4723">
          <p15:clr>
            <a:srgbClr val="EA4335"/>
          </p15:clr>
        </p15:guide>
        <p15:guide id="13" pos="5501">
          <p15:clr>
            <a:srgbClr val="EA4335"/>
          </p15:clr>
        </p15:guide>
        <p15:guide id="14" orient="horz" pos="582">
          <p15:clr>
            <a:srgbClr val="EA4335"/>
          </p15:clr>
        </p15:guide>
        <p15:guide id="15" orient="horz" pos="732">
          <p15:clr>
            <a:srgbClr val="EA4335"/>
          </p15:clr>
        </p15:guide>
        <p15:guide id="16" orient="horz" pos="881">
          <p15:clr>
            <a:srgbClr val="EA4335"/>
          </p15:clr>
        </p15:guide>
        <p15:guide id="17" orient="horz" pos="1031">
          <p15:clr>
            <a:srgbClr val="EA4335"/>
          </p15:clr>
        </p15:guide>
        <p15:guide id="18" orient="horz" pos="1181">
          <p15:clr>
            <a:srgbClr val="EA4335"/>
          </p15:clr>
        </p15:guide>
        <p15:guide id="19" orient="horz" pos="1331">
          <p15:clr>
            <a:srgbClr val="EA4335"/>
          </p15:clr>
        </p15:guide>
        <p15:guide id="20" orient="horz" pos="1480">
          <p15:clr>
            <a:srgbClr val="EA4335"/>
          </p15:clr>
        </p15:guide>
        <p15:guide id="21" orient="horz" pos="1630">
          <p15:clr>
            <a:srgbClr val="EA4335"/>
          </p15:clr>
        </p15:guide>
        <p15:guide id="22" orient="horz" pos="1780">
          <p15:clr>
            <a:srgbClr val="EA4335"/>
          </p15:clr>
        </p15:guide>
        <p15:guide id="23" orient="horz" pos="1930">
          <p15:clr>
            <a:srgbClr val="EA4335"/>
          </p15:clr>
        </p15:guide>
        <p15:guide id="24" orient="horz" pos="2079">
          <p15:clr>
            <a:srgbClr val="EA4335"/>
          </p15:clr>
        </p15:guide>
        <p15:guide id="25" orient="horz" pos="2229">
          <p15:clr>
            <a:srgbClr val="EA4335"/>
          </p15:clr>
        </p15:guide>
        <p15:guide id="26" orient="horz" pos="2379">
          <p15:clr>
            <a:srgbClr val="EA4335"/>
          </p15:clr>
        </p15:guide>
        <p15:guide id="27" orient="horz" pos="2529">
          <p15:clr>
            <a:srgbClr val="EA4335"/>
          </p15:clr>
        </p15:guide>
        <p15:guide id="28" orient="horz" pos="267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witter.com/kotli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kotlin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/>
          <p:nvPr/>
        </p:nvSpPr>
        <p:spPr>
          <a:xfrm>
            <a:off x="901978" y="1003425"/>
            <a:ext cx="7275000" cy="19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48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集合</a:t>
            </a:r>
            <a:endParaRPr lang="en-US" altLang="zh-CN" sz="48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48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及其相关概念</a:t>
            </a:r>
            <a:endParaRPr sz="48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pic>
        <p:nvPicPr>
          <p:cNvPr id="41" name="Google Shape;4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075" y="332279"/>
            <a:ext cx="596400" cy="2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1"/>
          <p:cNvSpPr txBox="1"/>
          <p:nvPr/>
        </p:nvSpPr>
        <p:spPr>
          <a:xfrm>
            <a:off x="923472" y="257347"/>
            <a:ext cx="25638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Kotlin</a:t>
            </a:r>
            <a:endParaRPr sz="17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sp>
        <p:nvSpPr>
          <p:cNvPr id="43" name="Google Shape;43;p11">
            <a:hlinkClick r:id="rId4"/>
          </p:cNvPr>
          <p:cNvSpPr txBox="1"/>
          <p:nvPr/>
        </p:nvSpPr>
        <p:spPr>
          <a:xfrm>
            <a:off x="238875" y="4469150"/>
            <a:ext cx="216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B7B7B7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@kotlin</a:t>
            </a:r>
            <a:endParaRPr sz="1700" dirty="0">
              <a:solidFill>
                <a:srgbClr val="B7B7B7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sp>
        <p:nvSpPr>
          <p:cNvPr id="44" name="Google Shape;44;p11"/>
          <p:cNvSpPr txBox="1"/>
          <p:nvPr/>
        </p:nvSpPr>
        <p:spPr>
          <a:xfrm>
            <a:off x="1079350" y="4469150"/>
            <a:ext cx="39678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B7B7B7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|  Developed by JetBrains </a:t>
            </a:r>
            <a:endParaRPr sz="1700" dirty="0">
              <a:solidFill>
                <a:srgbClr val="B7B7B7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什么是集合？</a:t>
            </a:r>
            <a:endParaRPr dirty="0"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8419800" cy="3407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集合通常包含若干个同类型的对象（这个数量也可能是零）。</a:t>
            </a:r>
          </a:p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/>
          </a:p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集合中的对象被称为元素或项。</a:t>
            </a:r>
            <a:endParaRPr sz="650" dirty="0"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List </a:t>
            </a:r>
            <a:r>
              <a:rPr lang="zh-CN" altLang="en-US" dirty="0"/>
              <a:t>列表是有序集合，可以通过索引（反映其位置的整数）访问元素。列表中的元素可以重复出现。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Set </a:t>
            </a:r>
            <a:r>
              <a:rPr lang="zh-CN" altLang="en-US" dirty="0"/>
              <a:t>去重集合是由唯一元素组成的集合。它们体现了“集合”这一数学抽象概念：一组不包含重复项的对象。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Map </a:t>
            </a:r>
            <a:r>
              <a:rPr lang="zh-CN" altLang="en-US" dirty="0"/>
              <a:t>映射（或称字典）是由键值对组成的集合。键是唯一的，且每个键仅映射到一个值，而值可以重复。</a:t>
            </a:r>
            <a:endParaRPr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如何使用它们？</a:t>
            </a:r>
            <a:endParaRPr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8419800" cy="3407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Kotlin </a:t>
            </a:r>
            <a:r>
              <a:rPr lang="zh-CN" altLang="en-US" dirty="0"/>
              <a:t>允许您在不考虑集合中存储的对象具体类型的情况下，对集合进行操作。 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CN" altLang="en-US" dirty="0"/>
              <a:t>换句话说，您向</a:t>
            </a:r>
            <a:r>
              <a:rPr lang="en" dirty="0"/>
              <a:t> </a:t>
            </a:r>
            <a:r>
              <a:rPr lang="en" dirty="0"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dirty="0"/>
              <a:t> </a:t>
            </a:r>
            <a:r>
              <a:rPr lang="zh-CN" altLang="en-US" dirty="0"/>
              <a:t>列表中添加</a:t>
            </a:r>
            <a:r>
              <a:rPr lang="en" dirty="0"/>
              <a:t> </a:t>
            </a:r>
            <a:r>
              <a:rPr lang="en" dirty="0">
                <a:latin typeface="JetBrains Mono"/>
                <a:ea typeface="JetBrains Mono"/>
                <a:cs typeface="JetBrains Mono"/>
                <a:sym typeface="JetBrains Mono"/>
              </a:rPr>
              <a:t>Strings</a:t>
            </a:r>
            <a:r>
              <a:rPr lang="en" dirty="0"/>
              <a:t> </a:t>
            </a:r>
            <a:r>
              <a:rPr lang="zh-CN" altLang="en-US" dirty="0"/>
              <a:t>的方式，与添加</a:t>
            </a:r>
            <a:r>
              <a:rPr lang="en" dirty="0"/>
              <a:t> </a:t>
            </a:r>
            <a:r>
              <a:rPr lang="en" dirty="0">
                <a:latin typeface="JetBrains Mono"/>
                <a:ea typeface="JetBrains Mono"/>
                <a:cs typeface="JetBrains Mono"/>
                <a:sym typeface="JetBrains Mono"/>
              </a:rPr>
              <a:t>Ints</a:t>
            </a:r>
            <a:r>
              <a:rPr lang="en" dirty="0"/>
              <a:t> </a:t>
            </a:r>
            <a:r>
              <a:rPr lang="zh-CN" altLang="en-US" dirty="0"/>
              <a:t>或用户自定义类完全相同。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CN" altLang="en-US" dirty="0"/>
              <a:t>因此，</a:t>
            </a:r>
            <a:r>
              <a:rPr lang="en-US" altLang="zh-CN" dirty="0"/>
              <a:t>Kotlin </a:t>
            </a:r>
            <a:r>
              <a:rPr lang="zh-CN" altLang="en-US" dirty="0"/>
              <a:t>标准库提供了通用的接口、类和函数，用于创建、填充和管理任何类型的集合。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集合的分类</a:t>
            </a:r>
            <a:endParaRPr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292600" y="4357125"/>
            <a:ext cx="8419800" cy="3852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zh-CN" altLang="en-US" dirty="0"/>
              <a:t>接口 </a:t>
            </a:r>
            <a:r>
              <a:rPr lang="en-US" altLang="zh-CN" dirty="0"/>
              <a:t>—— </a:t>
            </a:r>
            <a:r>
              <a:rPr lang="en-US" dirty="0"/>
              <a:t>Kotlin </a:t>
            </a:r>
            <a:r>
              <a:rPr lang="zh-CN" altLang="en-US" dirty="0"/>
              <a:t>实际上使用 </a:t>
            </a:r>
            <a:r>
              <a:rPr lang="en" dirty="0">
                <a:latin typeface="JetBrains Mono"/>
                <a:ea typeface="JetBrains Mono"/>
                <a:cs typeface="JetBrains Mono"/>
                <a:sym typeface="JetBrains Mono"/>
              </a:rPr>
              <a:t>java.util</a:t>
            </a:r>
            <a:r>
              <a:rPr lang="zh-CN" altLang="en-US" dirty="0">
                <a:sym typeface="JetBrains Mono"/>
              </a:rPr>
              <a:t> 中的实现</a:t>
            </a:r>
            <a:endParaRPr dirty="0">
              <a:sym typeface="JetBrains Mono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600" y="1130637"/>
            <a:ext cx="8133868" cy="305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集合的分类</a:t>
            </a:r>
            <a:endParaRPr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1F90B98-7181-0180-9E1D-B5630A0EF392}"/>
              </a:ext>
            </a:extLst>
          </p:cNvPr>
          <p:cNvGrpSpPr/>
          <p:nvPr/>
        </p:nvGrpSpPr>
        <p:grpSpPr>
          <a:xfrm>
            <a:off x="347502" y="1407300"/>
            <a:ext cx="6156600" cy="3061175"/>
            <a:chOff x="347502" y="1407300"/>
            <a:chExt cx="6156600" cy="3061175"/>
          </a:xfrm>
        </p:grpSpPr>
        <p:sp>
          <p:nvSpPr>
            <p:cNvPr id="69" name="Google Shape;69;p15"/>
            <p:cNvSpPr/>
            <p:nvPr/>
          </p:nvSpPr>
          <p:spPr>
            <a:xfrm>
              <a:off x="347502" y="1407300"/>
              <a:ext cx="1440900" cy="457200"/>
            </a:xfrm>
            <a:prstGeom prst="roundRect">
              <a:avLst>
                <a:gd name="adj" fmla="val 16667"/>
              </a:avLst>
            </a:prstGeom>
            <a:solidFill>
              <a:srgbClr val="DAD5FF"/>
            </a:solidFill>
            <a:ln w="19050" cap="flat" cmpd="sng">
              <a:solidFill>
                <a:srgbClr val="DA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MutableIterable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2545952" y="1407300"/>
              <a:ext cx="1440900" cy="457200"/>
            </a:xfrm>
            <a:prstGeom prst="roundRect">
              <a:avLst>
                <a:gd name="adj" fmla="val 16667"/>
              </a:avLst>
            </a:prstGeom>
            <a:solidFill>
              <a:srgbClr val="DAD5FF"/>
            </a:solidFill>
            <a:ln w="19050" cap="flat" cmpd="sng">
              <a:solidFill>
                <a:srgbClr val="DA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Iterable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cxnSp>
          <p:nvCxnSpPr>
            <p:cNvPr id="71" name="Google Shape;71;p15"/>
            <p:cNvCxnSpPr>
              <a:stCxn id="69" idx="3"/>
              <a:endCxn id="70" idx="1"/>
            </p:cNvCxnSpPr>
            <p:nvPr/>
          </p:nvCxnSpPr>
          <p:spPr>
            <a:xfrm>
              <a:off x="1788402" y="1635900"/>
              <a:ext cx="757500" cy="600"/>
            </a:xfrm>
            <a:prstGeom prst="curvedConnector3">
              <a:avLst>
                <a:gd name="adj1" fmla="val 50003"/>
              </a:avLst>
            </a:prstGeom>
            <a:noFill/>
            <a:ln w="19050" cap="flat" cmpd="sng">
              <a:solidFill>
                <a:srgbClr val="27282C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72" name="Google Shape;72;p15"/>
            <p:cNvSpPr/>
            <p:nvPr/>
          </p:nvSpPr>
          <p:spPr>
            <a:xfrm>
              <a:off x="347502" y="2252075"/>
              <a:ext cx="1440900" cy="457200"/>
            </a:xfrm>
            <a:prstGeom prst="roundRect">
              <a:avLst>
                <a:gd name="adj" fmla="val 16667"/>
              </a:avLst>
            </a:prstGeom>
            <a:solidFill>
              <a:srgbClr val="DAD5FF"/>
            </a:solidFill>
            <a:ln w="19050" cap="flat" cmpd="sng">
              <a:solidFill>
                <a:srgbClr val="DA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MutableCollection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2545952" y="2252075"/>
              <a:ext cx="1440900" cy="457200"/>
            </a:xfrm>
            <a:prstGeom prst="roundRect">
              <a:avLst>
                <a:gd name="adj" fmla="val 16667"/>
              </a:avLst>
            </a:prstGeom>
            <a:solidFill>
              <a:srgbClr val="DAD5FF"/>
            </a:solidFill>
            <a:ln w="19050" cap="flat" cmpd="sng">
              <a:solidFill>
                <a:srgbClr val="DA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Collection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cxnSp>
          <p:nvCxnSpPr>
            <p:cNvPr id="74" name="Google Shape;74;p15"/>
            <p:cNvCxnSpPr>
              <a:stCxn id="70" idx="2"/>
              <a:endCxn id="73" idx="0"/>
            </p:cNvCxnSpPr>
            <p:nvPr/>
          </p:nvCxnSpPr>
          <p:spPr>
            <a:xfrm>
              <a:off x="3266402" y="1864500"/>
              <a:ext cx="0" cy="387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5" name="Google Shape;75;p15"/>
            <p:cNvCxnSpPr>
              <a:stCxn id="69" idx="2"/>
              <a:endCxn id="72" idx="0"/>
            </p:cNvCxnSpPr>
            <p:nvPr/>
          </p:nvCxnSpPr>
          <p:spPr>
            <a:xfrm>
              <a:off x="1067952" y="1864500"/>
              <a:ext cx="0" cy="387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6" name="Google Shape;76;p15"/>
            <p:cNvCxnSpPr>
              <a:stCxn id="73" idx="1"/>
              <a:endCxn id="72" idx="3"/>
            </p:cNvCxnSpPr>
            <p:nvPr/>
          </p:nvCxnSpPr>
          <p:spPr>
            <a:xfrm rot="10800000">
              <a:off x="1788452" y="2480675"/>
              <a:ext cx="7575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7" name="Google Shape;77;p15"/>
            <p:cNvSpPr/>
            <p:nvPr/>
          </p:nvSpPr>
          <p:spPr>
            <a:xfrm>
              <a:off x="1714652" y="3166475"/>
              <a:ext cx="1440900" cy="457200"/>
            </a:xfrm>
            <a:prstGeom prst="roundRect">
              <a:avLst>
                <a:gd name="adj" fmla="val 16667"/>
              </a:avLst>
            </a:prstGeom>
            <a:solidFill>
              <a:srgbClr val="DAD5FF"/>
            </a:solidFill>
            <a:ln w="19050" cap="flat" cmpd="sng">
              <a:solidFill>
                <a:srgbClr val="DA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List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3388927" y="3166475"/>
              <a:ext cx="1440900" cy="457200"/>
            </a:xfrm>
            <a:prstGeom prst="roundRect">
              <a:avLst>
                <a:gd name="adj" fmla="val 16667"/>
              </a:avLst>
            </a:prstGeom>
            <a:solidFill>
              <a:srgbClr val="DAD5FF"/>
            </a:solidFill>
            <a:ln w="19050" cap="flat" cmpd="sng">
              <a:solidFill>
                <a:srgbClr val="DA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Set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cxnSp>
          <p:nvCxnSpPr>
            <p:cNvPr id="79" name="Google Shape;79;p15"/>
            <p:cNvCxnSpPr>
              <a:stCxn id="73" idx="2"/>
              <a:endCxn id="78" idx="0"/>
            </p:cNvCxnSpPr>
            <p:nvPr/>
          </p:nvCxnSpPr>
          <p:spPr>
            <a:xfrm rot="-5400000" flipH="1">
              <a:off x="3459302" y="2516375"/>
              <a:ext cx="457200" cy="8430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0" name="Google Shape;80;p15"/>
            <p:cNvCxnSpPr>
              <a:stCxn id="73" idx="2"/>
              <a:endCxn id="77" idx="0"/>
            </p:cNvCxnSpPr>
            <p:nvPr/>
          </p:nvCxnSpPr>
          <p:spPr>
            <a:xfrm rot="5400000">
              <a:off x="2622152" y="2522225"/>
              <a:ext cx="457200" cy="831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1" name="Google Shape;81;p15"/>
            <p:cNvSpPr/>
            <p:nvPr/>
          </p:nvSpPr>
          <p:spPr>
            <a:xfrm>
              <a:off x="1714652" y="4011250"/>
              <a:ext cx="1440900" cy="457200"/>
            </a:xfrm>
            <a:prstGeom prst="roundRect">
              <a:avLst>
                <a:gd name="adj" fmla="val 16667"/>
              </a:avLst>
            </a:prstGeom>
            <a:solidFill>
              <a:srgbClr val="DAD5FF"/>
            </a:solidFill>
            <a:ln w="19050" cap="flat" cmpd="sng">
              <a:solidFill>
                <a:srgbClr val="DA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MutableList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3388927" y="4011250"/>
              <a:ext cx="1440900" cy="457200"/>
            </a:xfrm>
            <a:prstGeom prst="roundRect">
              <a:avLst>
                <a:gd name="adj" fmla="val 16667"/>
              </a:avLst>
            </a:prstGeom>
            <a:solidFill>
              <a:srgbClr val="DAD5FF"/>
            </a:solidFill>
            <a:ln w="19050" cap="flat" cmpd="sng">
              <a:solidFill>
                <a:srgbClr val="DA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MutableSet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5063202" y="3166475"/>
              <a:ext cx="1440900" cy="457200"/>
            </a:xfrm>
            <a:prstGeom prst="roundRect">
              <a:avLst>
                <a:gd name="adj" fmla="val 16667"/>
              </a:avLst>
            </a:prstGeom>
            <a:solidFill>
              <a:srgbClr val="DAD5FF"/>
            </a:solidFill>
            <a:ln w="19050" cap="flat" cmpd="sng">
              <a:solidFill>
                <a:srgbClr val="DA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Map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5063202" y="4011250"/>
              <a:ext cx="1440900" cy="457200"/>
            </a:xfrm>
            <a:prstGeom prst="roundRect">
              <a:avLst>
                <a:gd name="adj" fmla="val 16667"/>
              </a:avLst>
            </a:prstGeom>
            <a:solidFill>
              <a:srgbClr val="DAD5FF"/>
            </a:solidFill>
            <a:ln w="19050" cap="flat" cmpd="sng">
              <a:solidFill>
                <a:srgbClr val="DA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MutableMap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cxnSp>
          <p:nvCxnSpPr>
            <p:cNvPr id="85" name="Google Shape;85;p15"/>
            <p:cNvCxnSpPr>
              <a:endCxn id="81" idx="1"/>
            </p:cNvCxnSpPr>
            <p:nvPr/>
          </p:nvCxnSpPr>
          <p:spPr>
            <a:xfrm rot="-5400000" flipH="1">
              <a:off x="505802" y="3031000"/>
              <a:ext cx="1517100" cy="900600"/>
            </a:xfrm>
            <a:prstGeom prst="bent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6" name="Google Shape;86;p15"/>
            <p:cNvCxnSpPr>
              <a:stCxn id="72" idx="2"/>
              <a:endCxn id="82" idx="2"/>
            </p:cNvCxnSpPr>
            <p:nvPr/>
          </p:nvCxnSpPr>
          <p:spPr>
            <a:xfrm rot="-5400000" flipH="1">
              <a:off x="1709052" y="2068175"/>
              <a:ext cx="1759200" cy="3041400"/>
            </a:xfrm>
            <a:prstGeom prst="bentConnector3">
              <a:avLst>
                <a:gd name="adj1" fmla="val 110849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7" name="Google Shape;87;p15"/>
            <p:cNvCxnSpPr>
              <a:stCxn id="83" idx="2"/>
              <a:endCxn id="84" idx="0"/>
            </p:cNvCxnSpPr>
            <p:nvPr/>
          </p:nvCxnSpPr>
          <p:spPr>
            <a:xfrm rot="-5400000" flipH="1">
              <a:off x="5590152" y="3817175"/>
              <a:ext cx="387600" cy="6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8" name="Google Shape;88;p15"/>
            <p:cNvCxnSpPr>
              <a:stCxn id="78" idx="2"/>
              <a:endCxn id="82" idx="0"/>
            </p:cNvCxnSpPr>
            <p:nvPr/>
          </p:nvCxnSpPr>
          <p:spPr>
            <a:xfrm rot="-5400000" flipH="1">
              <a:off x="3915877" y="3817175"/>
              <a:ext cx="387600" cy="6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9" name="Google Shape;89;p15"/>
            <p:cNvCxnSpPr>
              <a:stCxn id="77" idx="2"/>
              <a:endCxn id="81" idx="0"/>
            </p:cNvCxnSpPr>
            <p:nvPr/>
          </p:nvCxnSpPr>
          <p:spPr>
            <a:xfrm rot="-5400000" flipH="1">
              <a:off x="2241602" y="3817175"/>
              <a:ext cx="387600" cy="6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可迭代对象</a:t>
            </a:r>
            <a:endParaRPr dirty="0"/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Kotlin </a:t>
            </a:r>
            <a:r>
              <a:rPr lang="zh-CN" altLang="en-US" dirty="0"/>
              <a:t>中的所有集合都实现了</a:t>
            </a:r>
            <a:r>
              <a:rPr lang="en" dirty="0"/>
              <a:t> </a:t>
            </a:r>
            <a:r>
              <a:rPr lang="en" dirty="0">
                <a:latin typeface="JetBrains Mono"/>
                <a:ea typeface="JetBrains Mono"/>
                <a:cs typeface="JetBrains Mono"/>
                <a:sym typeface="JetBrains Mono"/>
              </a:rPr>
              <a:t>Iterable</a:t>
            </a:r>
            <a:r>
              <a:rPr lang="en" dirty="0"/>
              <a:t> </a:t>
            </a:r>
            <a:r>
              <a:rPr lang="zh-CN" altLang="en-US" dirty="0"/>
              <a:t>接口：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/**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继承此接口的类可以表示为一个可迭代的元素序列。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</a:t>
            </a:r>
            <a:r>
              <a:rPr lang="en" sz="1100" b="1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@param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是待迭代元素的类型。迭代器对其元素类型具有协变性。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*/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interface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Iterable&lt;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D85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{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返回一个遍历该对象元素的迭代器。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operator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iterator(): Iterator&lt;</a:t>
            </a:r>
            <a:r>
              <a:rPr lang="en" sz="1100" dirty="0">
                <a:solidFill>
                  <a:srgbClr val="3D85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可迭代对象</a:t>
            </a:r>
            <a:endParaRPr dirty="0"/>
          </a:p>
        </p:txBody>
      </p:sp>
      <p:sp>
        <p:nvSpPr>
          <p:cNvPr id="101" name="Google Shape;101;p17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Kotlin </a:t>
            </a:r>
            <a:r>
              <a:rPr lang="zh-CN" altLang="en-US" dirty="0"/>
              <a:t>中的所有集合都是可迭代的：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iterator = myIterableCollection.iterator()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(iterator.hasNext()) {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iterator.next()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可迭代对象 </a:t>
            </a:r>
            <a:r>
              <a:rPr lang="en-US" altLang="zh-CN" dirty="0"/>
              <a:t>vs </a:t>
            </a:r>
            <a:r>
              <a:rPr lang="zh-CN" altLang="en-US" dirty="0"/>
              <a:t>可变迭代对象</a:t>
            </a:r>
          </a:p>
        </p:txBody>
      </p:sp>
      <p:sp>
        <p:nvSpPr>
          <p:cNvPr id="107" name="Google Shape;107;p18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Kotlin </a:t>
            </a:r>
            <a:r>
              <a:rPr lang="zh-CN" altLang="en-US" dirty="0"/>
              <a:t>中的所有集合都是可迭代的：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iterator = myIterableCollection.iterator()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(iterator.hasNext()) {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iterator.next()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dirty="0"/>
              <a:t>但其中一些是可变迭代对象（</a:t>
            </a:r>
            <a:r>
              <a:rPr lang="en" dirty="0">
                <a:latin typeface="JetBrains Mono"/>
                <a:ea typeface="JetBrains Mono"/>
                <a:cs typeface="JetBrains Mono"/>
                <a:sym typeface="JetBrains Mono"/>
              </a:rPr>
              <a:t>MutableIterable</a:t>
            </a:r>
            <a:r>
              <a:rPr lang="zh-CN" altLang="en-US" dirty="0"/>
              <a:t>）：</a:t>
            </a:r>
            <a:endParaRPr sz="1200" dirty="0"/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2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iterator = myMutableIterableCollection.iterator()</a:t>
            </a:r>
            <a:endParaRPr sz="12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2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</a:t>
            </a: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(iterator.hasNext()) {</a:t>
            </a:r>
            <a:endParaRPr sz="12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iterator.next()</a:t>
            </a:r>
            <a:endParaRPr sz="12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iterator.remove() </a:t>
            </a:r>
            <a:r>
              <a:rPr lang="en" sz="12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2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因为它是可变迭代器</a:t>
            </a: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</a:t>
            </a:r>
            <a:endParaRPr sz="12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2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14630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集合分为两种类型：</a:t>
            </a:r>
            <a:r>
              <a:rPr lang="en-US" sz="1100" dirty="0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Collection</a:t>
            </a:r>
            <a:r>
              <a:rPr 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sz="1100" dirty="0" err="1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MutableCollection</a:t>
            </a:r>
            <a:r>
              <a:rPr lang="en-US" sz="1100" dirty="0" err="1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</a:t>
            </a:r>
            <a:r>
              <a:rPr lang="en-US" sz="1100" dirty="0" err="1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Collection</a:t>
            </a:r>
            <a:r>
              <a:rPr 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仅实现了 </a:t>
            </a:r>
            <a:r>
              <a:rPr lang="en-US" sz="1100" dirty="0" err="1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Iterable</a:t>
            </a:r>
            <a:r>
              <a:rPr 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接口，而 </a:t>
            </a:r>
            <a:r>
              <a:rPr lang="en-US" sz="1100" dirty="0" err="1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MutableCollection</a:t>
            </a:r>
            <a:r>
              <a:rPr 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则同时实现了 </a:t>
            </a:r>
            <a:r>
              <a:rPr lang="en-US" sz="1100" dirty="0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Collection</a:t>
            </a:r>
            <a:r>
              <a:rPr 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sz="1100" dirty="0" err="1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MutableIterable</a:t>
            </a:r>
            <a:r>
              <a:rPr 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接口。</a:t>
            </a: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dirty="0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Collection</a:t>
            </a:r>
            <a:r>
              <a:rPr 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允许你读取值，并使集合</a:t>
            </a:r>
            <a:r>
              <a:rPr lang="zh-CN" altLang="en-US" sz="11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不可变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</a:t>
            </a: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dirty="0" err="1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MutableCollection</a:t>
            </a:r>
            <a:r>
              <a:rPr 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允许你修改集合，例如添加或移除元素。换句话说，它使集合</a:t>
            </a:r>
            <a:r>
              <a:rPr lang="zh-CN" altLang="en-US" sz="11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可变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/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readonlyCollection = </a:t>
            </a:r>
            <a:r>
              <a:rPr lang="en" sz="1100" i="1" dirty="0">
                <a:solidFill>
                  <a:srgbClr val="37474F"/>
                </a:solidFill>
              </a:rPr>
              <a:t>listOf</a:t>
            </a:r>
            <a:r>
              <a:rPr lang="en" sz="1100" dirty="0">
                <a:solidFill>
                  <a:srgbClr val="37474F"/>
                </a:solidFill>
              </a:rPr>
              <a:t>(</a:t>
            </a:r>
            <a:r>
              <a:rPr lang="en" sz="1100" dirty="0">
                <a:solidFill>
                  <a:srgbClr val="0B5394"/>
                </a:solidFill>
              </a:rPr>
              <a:t>1</a:t>
            </a:r>
            <a:r>
              <a:rPr lang="en" sz="1100" dirty="0">
                <a:solidFill>
                  <a:srgbClr val="37474F"/>
                </a:solidFill>
              </a:rPr>
              <a:t>, </a:t>
            </a:r>
            <a:r>
              <a:rPr lang="en" sz="1100" dirty="0">
                <a:solidFill>
                  <a:srgbClr val="0B5394"/>
                </a:solidFill>
              </a:rPr>
              <a:t>2</a:t>
            </a:r>
            <a:r>
              <a:rPr lang="en" sz="1100" dirty="0">
                <a:solidFill>
                  <a:srgbClr val="37474F"/>
                </a:solidFill>
              </a:rPr>
              <a:t>, </a:t>
            </a:r>
            <a:r>
              <a:rPr lang="en" sz="1100" dirty="0">
                <a:solidFill>
                  <a:srgbClr val="0B5394"/>
                </a:solidFill>
              </a:rPr>
              <a:t>3</a:t>
            </a:r>
            <a:r>
              <a:rPr lang="en" sz="1100" dirty="0">
                <a:solidFill>
                  <a:srgbClr val="37474F"/>
                </a:solidFill>
              </a:rPr>
              <a:t>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7474F"/>
                </a:solidFill>
              </a:rPr>
              <a:t>readonlyCollection.add(</a:t>
            </a:r>
            <a:r>
              <a:rPr lang="en" sz="1100" dirty="0">
                <a:solidFill>
                  <a:srgbClr val="0B5394"/>
                </a:solidFill>
              </a:rPr>
              <a:t>4</a:t>
            </a:r>
            <a:r>
              <a:rPr lang="en" sz="1100" dirty="0">
                <a:solidFill>
                  <a:srgbClr val="37474F"/>
                </a:solidFill>
              </a:rPr>
              <a:t>) </a:t>
            </a:r>
            <a:r>
              <a:rPr lang="en" sz="1100" dirty="0">
                <a:solidFill>
                  <a:srgbClr val="666666"/>
                </a:solidFill>
              </a:rPr>
              <a:t>// </a:t>
            </a:r>
            <a:r>
              <a:rPr lang="en" sz="1100" dirty="0">
                <a:solidFill>
                  <a:srgbClr val="990000"/>
                </a:solidFill>
              </a:rPr>
              <a:t>ERROR</a:t>
            </a:r>
            <a:r>
              <a:rPr lang="zh-CN" altLang="en-US" sz="1100" dirty="0">
                <a:solidFill>
                  <a:srgbClr val="990000"/>
                </a:solidFill>
              </a:rPr>
              <a:t>：未解析的引用：</a:t>
            </a:r>
            <a:r>
              <a:rPr lang="en-US" sz="1100" dirty="0">
                <a:solidFill>
                  <a:srgbClr val="990000"/>
                </a:solidFill>
              </a:rPr>
              <a:t>add</a:t>
            </a:r>
            <a:endParaRPr sz="1100" dirty="0">
              <a:solidFill>
                <a:srgbClr val="99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mutableCollection = </a:t>
            </a:r>
            <a:r>
              <a:rPr lang="en" sz="1100" i="1" dirty="0">
                <a:solidFill>
                  <a:srgbClr val="37474F"/>
                </a:solidFill>
              </a:rPr>
              <a:t>mutableListOf</a:t>
            </a:r>
            <a:r>
              <a:rPr lang="en" sz="1100" dirty="0">
                <a:solidFill>
                  <a:srgbClr val="37474F"/>
                </a:solidFill>
              </a:rPr>
              <a:t>(</a:t>
            </a:r>
            <a:r>
              <a:rPr lang="en" sz="1100" dirty="0">
                <a:solidFill>
                  <a:srgbClr val="0B5394"/>
                </a:solidFill>
              </a:rPr>
              <a:t>1</a:t>
            </a:r>
            <a:r>
              <a:rPr lang="en" sz="1100" dirty="0">
                <a:solidFill>
                  <a:srgbClr val="37474F"/>
                </a:solidFill>
              </a:rPr>
              <a:t>, </a:t>
            </a:r>
            <a:r>
              <a:rPr lang="en" sz="1100" dirty="0">
                <a:solidFill>
                  <a:srgbClr val="0B5394"/>
                </a:solidFill>
              </a:rPr>
              <a:t>2</a:t>
            </a:r>
            <a:r>
              <a:rPr lang="en" sz="1100" dirty="0">
                <a:solidFill>
                  <a:srgbClr val="37474F"/>
                </a:solidFill>
              </a:rPr>
              <a:t>, </a:t>
            </a:r>
            <a:r>
              <a:rPr lang="en" sz="1100" dirty="0">
                <a:solidFill>
                  <a:srgbClr val="0B5394"/>
                </a:solidFill>
              </a:rPr>
              <a:t>3</a:t>
            </a:r>
            <a:r>
              <a:rPr lang="en" sz="1100" dirty="0">
                <a:solidFill>
                  <a:srgbClr val="37474F"/>
                </a:solidFill>
              </a:rPr>
              <a:t>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mutableCollection.add(</a:t>
            </a:r>
            <a:r>
              <a:rPr lang="en" sz="1100" dirty="0">
                <a:solidFill>
                  <a:srgbClr val="0B5394"/>
                </a:solidFill>
              </a:rPr>
              <a:t>4</a:t>
            </a:r>
            <a:r>
              <a:rPr lang="en" sz="1100" dirty="0">
                <a:solidFill>
                  <a:srgbClr val="37474F"/>
                </a:solidFill>
              </a:rPr>
              <a:t>) </a:t>
            </a:r>
            <a:r>
              <a:rPr lang="en" sz="1100" dirty="0">
                <a:solidFill>
                  <a:srgbClr val="666666"/>
                </a:solidFill>
              </a:rPr>
              <a:t>// </a:t>
            </a:r>
            <a:r>
              <a:rPr lang="en" sz="1100" dirty="0">
                <a:solidFill>
                  <a:srgbClr val="38761D"/>
                </a:solidFill>
              </a:rPr>
              <a:t>OK</a:t>
            </a:r>
            <a:endParaRPr sz="1100" dirty="0"/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/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1100" dirty="0"/>
          </a:p>
        </p:txBody>
      </p:sp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不同类型的集合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14630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如果你创建了一个可变集合，则</a:t>
            </a:r>
            <a:r>
              <a:rPr lang="zh-CN" altLang="en-US" sz="14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无法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重新赋值给 </a:t>
            </a:r>
            <a:r>
              <a:rPr lang="en-US" altLang="zh-CN" sz="1400" dirty="0" err="1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val</a:t>
            </a:r>
            <a: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变量。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 dirty="0">
                <a:solidFill>
                  <a:srgbClr val="3F51B5"/>
                </a:solidFill>
              </a:rPr>
              <a:t>val</a:t>
            </a:r>
            <a:r>
              <a:rPr lang="en" sz="1400" dirty="0">
                <a:solidFill>
                  <a:srgbClr val="37474F"/>
                </a:solidFill>
              </a:rPr>
              <a:t> mutableCollection = </a:t>
            </a:r>
            <a:r>
              <a:rPr lang="en" sz="1400" i="1" dirty="0">
                <a:solidFill>
                  <a:srgbClr val="37474F"/>
                </a:solidFill>
              </a:rPr>
              <a:t>mutableListOf</a:t>
            </a:r>
            <a:r>
              <a:rPr lang="en" sz="1400" dirty="0">
                <a:solidFill>
                  <a:srgbClr val="37474F"/>
                </a:solidFill>
              </a:rPr>
              <a:t>(</a:t>
            </a:r>
            <a:r>
              <a:rPr lang="en" sz="1400" dirty="0">
                <a:solidFill>
                  <a:srgbClr val="0B5394"/>
                </a:solidFill>
              </a:rPr>
              <a:t>1</a:t>
            </a:r>
            <a:r>
              <a:rPr lang="en" sz="1400" dirty="0">
                <a:solidFill>
                  <a:srgbClr val="37474F"/>
                </a:solidFill>
              </a:rPr>
              <a:t>, </a:t>
            </a:r>
            <a:r>
              <a:rPr lang="en" sz="1400" dirty="0">
                <a:solidFill>
                  <a:srgbClr val="0B5394"/>
                </a:solidFill>
              </a:rPr>
              <a:t>2</a:t>
            </a:r>
            <a:r>
              <a:rPr lang="en" sz="1400" dirty="0">
                <a:solidFill>
                  <a:srgbClr val="37474F"/>
                </a:solidFill>
              </a:rPr>
              <a:t>, </a:t>
            </a:r>
            <a:r>
              <a:rPr lang="en" sz="1400" dirty="0">
                <a:solidFill>
                  <a:srgbClr val="0B5394"/>
                </a:solidFill>
              </a:rPr>
              <a:t>3</a:t>
            </a:r>
            <a:r>
              <a:rPr lang="en" sz="1400" dirty="0">
                <a:solidFill>
                  <a:srgbClr val="37474F"/>
                </a:solidFill>
              </a:rPr>
              <a:t>)</a:t>
            </a: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 dirty="0">
                <a:solidFill>
                  <a:srgbClr val="37474F"/>
                </a:solidFill>
              </a:rPr>
              <a:t>mutableCollection.add(</a:t>
            </a:r>
            <a:r>
              <a:rPr lang="en" sz="1400" dirty="0">
                <a:solidFill>
                  <a:srgbClr val="0B5394"/>
                </a:solidFill>
              </a:rPr>
              <a:t>4</a:t>
            </a:r>
            <a:r>
              <a:rPr lang="en" sz="1400" dirty="0">
                <a:solidFill>
                  <a:srgbClr val="37474F"/>
                </a:solidFill>
              </a:rPr>
              <a:t>) </a:t>
            </a:r>
            <a:r>
              <a:rPr lang="en" sz="1400" dirty="0">
                <a:solidFill>
                  <a:srgbClr val="666666"/>
                </a:solidFill>
              </a:rPr>
              <a:t>// </a:t>
            </a:r>
            <a:r>
              <a:rPr lang="en" sz="1400" dirty="0">
                <a:solidFill>
                  <a:srgbClr val="38761D"/>
                </a:solidFill>
              </a:rPr>
              <a:t>OK</a:t>
            </a:r>
            <a:endParaRPr sz="1400" dirty="0">
              <a:solidFill>
                <a:srgbClr val="38761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 dirty="0">
                <a:solidFill>
                  <a:srgbClr val="37474F"/>
                </a:solidFill>
              </a:rPr>
              <a:t>mutableCollection = </a:t>
            </a:r>
            <a:r>
              <a:rPr lang="en" sz="1400" i="1" dirty="0">
                <a:solidFill>
                  <a:srgbClr val="37474F"/>
                </a:solidFill>
              </a:rPr>
              <a:t>mutableListOf</a:t>
            </a:r>
            <a:r>
              <a:rPr lang="en" sz="1400" dirty="0">
                <a:solidFill>
                  <a:srgbClr val="37474F"/>
                </a:solidFill>
              </a:rPr>
              <a:t>(</a:t>
            </a:r>
            <a:r>
              <a:rPr lang="en" sz="1400" dirty="0">
                <a:solidFill>
                  <a:srgbClr val="0B5394"/>
                </a:solidFill>
              </a:rPr>
              <a:t>4</a:t>
            </a:r>
            <a:r>
              <a:rPr lang="en" sz="1400" dirty="0">
                <a:solidFill>
                  <a:srgbClr val="37474F"/>
                </a:solidFill>
              </a:rPr>
              <a:t>, </a:t>
            </a:r>
            <a:r>
              <a:rPr lang="en" sz="1400" dirty="0">
                <a:solidFill>
                  <a:srgbClr val="0B5394"/>
                </a:solidFill>
              </a:rPr>
              <a:t>5</a:t>
            </a:r>
            <a:r>
              <a:rPr lang="en" sz="1400" dirty="0">
                <a:solidFill>
                  <a:srgbClr val="37474F"/>
                </a:solidFill>
              </a:rPr>
              <a:t>, </a:t>
            </a:r>
            <a:r>
              <a:rPr lang="en" sz="1400" dirty="0">
                <a:solidFill>
                  <a:srgbClr val="0B5394"/>
                </a:solidFill>
              </a:rPr>
              <a:t>6</a:t>
            </a:r>
            <a:r>
              <a:rPr lang="en" sz="1400" dirty="0">
                <a:solidFill>
                  <a:srgbClr val="37474F"/>
                </a:solidFill>
              </a:rPr>
              <a:t>) </a:t>
            </a:r>
            <a:r>
              <a:rPr lang="en" sz="1400" dirty="0">
                <a:solidFill>
                  <a:srgbClr val="666666"/>
                </a:solidFill>
              </a:rPr>
              <a:t>// </a:t>
            </a:r>
            <a:r>
              <a:rPr lang="en" sz="1400" dirty="0">
                <a:solidFill>
                  <a:srgbClr val="990000"/>
                </a:solidFill>
              </a:rPr>
              <a:t>ERROR</a:t>
            </a:r>
            <a:r>
              <a:rPr lang="zh-CN" altLang="en-US" sz="1400" dirty="0">
                <a:solidFill>
                  <a:srgbClr val="990000"/>
                </a:solidFill>
              </a:rPr>
              <a:t>：</a:t>
            </a:r>
            <a:r>
              <a:rPr lang="en-US" altLang="zh-CN" sz="1400" dirty="0">
                <a:solidFill>
                  <a:srgbClr val="990000"/>
                </a:solidFill>
              </a:rPr>
              <a:t>Val </a:t>
            </a:r>
            <a:r>
              <a:rPr lang="zh-CN" altLang="en-US" sz="1400" dirty="0">
                <a:solidFill>
                  <a:srgbClr val="990000"/>
                </a:solidFill>
              </a:rPr>
              <a:t>不能被重新赋值</a:t>
            </a:r>
            <a:endParaRPr lang="en-US" altLang="zh-CN" sz="1400" dirty="0">
              <a:solidFill>
                <a:srgbClr val="99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dirty="0">
              <a:solidFill>
                <a:srgbClr val="99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但你可以重新赋值给 </a:t>
            </a:r>
            <a:r>
              <a:rPr lang="en-US" sz="1400" dirty="0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var</a:t>
            </a:r>
            <a:r>
              <a:rPr 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dirty="0">
              <a:solidFill>
                <a:srgbClr val="99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 dirty="0">
                <a:solidFill>
                  <a:srgbClr val="3F51B5"/>
                </a:solidFill>
              </a:rPr>
              <a:t>var</a:t>
            </a:r>
            <a:r>
              <a:rPr lang="en" sz="1400" dirty="0">
                <a:solidFill>
                  <a:srgbClr val="37474F"/>
                </a:solidFill>
              </a:rPr>
              <a:t> mutableCollection = </a:t>
            </a:r>
            <a:r>
              <a:rPr lang="en" sz="1400" i="1" dirty="0">
                <a:solidFill>
                  <a:srgbClr val="37474F"/>
                </a:solidFill>
              </a:rPr>
              <a:t>mutableListOf</a:t>
            </a:r>
            <a:r>
              <a:rPr lang="en" sz="1400" dirty="0">
                <a:solidFill>
                  <a:srgbClr val="37474F"/>
                </a:solidFill>
              </a:rPr>
              <a:t>(</a:t>
            </a:r>
            <a:r>
              <a:rPr lang="en" sz="1400" dirty="0">
                <a:solidFill>
                  <a:srgbClr val="0B5394"/>
                </a:solidFill>
              </a:rPr>
              <a:t>1</a:t>
            </a:r>
            <a:r>
              <a:rPr lang="en" sz="1400" dirty="0">
                <a:solidFill>
                  <a:srgbClr val="37474F"/>
                </a:solidFill>
              </a:rPr>
              <a:t>, </a:t>
            </a:r>
            <a:r>
              <a:rPr lang="en" sz="1400" dirty="0">
                <a:solidFill>
                  <a:srgbClr val="0B5394"/>
                </a:solidFill>
              </a:rPr>
              <a:t>2</a:t>
            </a:r>
            <a:r>
              <a:rPr lang="en" sz="1400" dirty="0">
                <a:solidFill>
                  <a:srgbClr val="37474F"/>
                </a:solidFill>
              </a:rPr>
              <a:t>, </a:t>
            </a:r>
            <a:r>
              <a:rPr lang="en" sz="1400" dirty="0">
                <a:solidFill>
                  <a:srgbClr val="0B5394"/>
                </a:solidFill>
              </a:rPr>
              <a:t>3</a:t>
            </a:r>
            <a:r>
              <a:rPr lang="en" sz="1400" dirty="0">
                <a:solidFill>
                  <a:srgbClr val="37474F"/>
                </a:solidFill>
              </a:rPr>
              <a:t>)</a:t>
            </a: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 dirty="0">
                <a:solidFill>
                  <a:srgbClr val="37474F"/>
                </a:solidFill>
              </a:rPr>
              <a:t>mutableCollection.add(</a:t>
            </a:r>
            <a:r>
              <a:rPr lang="en" sz="1400" dirty="0">
                <a:solidFill>
                  <a:srgbClr val="0B5394"/>
                </a:solidFill>
              </a:rPr>
              <a:t>4</a:t>
            </a:r>
            <a:r>
              <a:rPr lang="en" sz="1400" dirty="0">
                <a:solidFill>
                  <a:srgbClr val="37474F"/>
                </a:solidFill>
              </a:rPr>
              <a:t>) </a:t>
            </a:r>
            <a:r>
              <a:rPr lang="en" sz="1400" dirty="0">
                <a:solidFill>
                  <a:srgbClr val="666666"/>
                </a:solidFill>
              </a:rPr>
              <a:t>// </a:t>
            </a:r>
            <a:r>
              <a:rPr lang="en" sz="1400" dirty="0">
                <a:solidFill>
                  <a:srgbClr val="38761D"/>
                </a:solidFill>
              </a:rPr>
              <a:t>OK</a:t>
            </a:r>
            <a:endParaRPr sz="1400" dirty="0">
              <a:solidFill>
                <a:srgbClr val="38761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 dirty="0">
                <a:solidFill>
                  <a:srgbClr val="37474F"/>
                </a:solidFill>
              </a:rPr>
              <a:t>mutableCollection = </a:t>
            </a:r>
            <a:r>
              <a:rPr lang="en" sz="1400" i="1" dirty="0">
                <a:solidFill>
                  <a:srgbClr val="37474F"/>
                </a:solidFill>
              </a:rPr>
              <a:t>mutableListOf</a:t>
            </a:r>
            <a:r>
              <a:rPr lang="en" sz="1400" dirty="0">
                <a:solidFill>
                  <a:srgbClr val="37474F"/>
                </a:solidFill>
              </a:rPr>
              <a:t>(</a:t>
            </a:r>
            <a:r>
              <a:rPr lang="en" sz="1400" dirty="0">
                <a:solidFill>
                  <a:srgbClr val="0B5394"/>
                </a:solidFill>
              </a:rPr>
              <a:t>4</a:t>
            </a:r>
            <a:r>
              <a:rPr lang="en" sz="1400" dirty="0">
                <a:solidFill>
                  <a:srgbClr val="37474F"/>
                </a:solidFill>
              </a:rPr>
              <a:t>, </a:t>
            </a:r>
            <a:r>
              <a:rPr lang="en" sz="1400" dirty="0">
                <a:solidFill>
                  <a:srgbClr val="0B5394"/>
                </a:solidFill>
              </a:rPr>
              <a:t>5</a:t>
            </a:r>
            <a:r>
              <a:rPr lang="en" sz="1400" dirty="0">
                <a:solidFill>
                  <a:srgbClr val="37474F"/>
                </a:solidFill>
              </a:rPr>
              <a:t>, </a:t>
            </a:r>
            <a:r>
              <a:rPr lang="en" sz="1400" dirty="0">
                <a:solidFill>
                  <a:srgbClr val="0B5394"/>
                </a:solidFill>
              </a:rPr>
              <a:t>6</a:t>
            </a:r>
            <a:r>
              <a:rPr lang="en" sz="1400" dirty="0">
                <a:solidFill>
                  <a:srgbClr val="37474F"/>
                </a:solidFill>
              </a:rPr>
              <a:t>) </a:t>
            </a:r>
            <a:r>
              <a:rPr lang="en" sz="1400" dirty="0">
                <a:solidFill>
                  <a:srgbClr val="666666"/>
                </a:solidFill>
              </a:rPr>
              <a:t>// </a:t>
            </a:r>
            <a:r>
              <a:rPr lang="en" sz="1400" dirty="0">
                <a:solidFill>
                  <a:srgbClr val="38761D"/>
                </a:solidFill>
              </a:rPr>
              <a:t>OK</a:t>
            </a:r>
            <a:endParaRPr sz="1400" dirty="0"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可变集合 ≠ 可变变量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集合的结构</a:t>
            </a:r>
            <a:endParaRPr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BA397AE-558D-50B1-7595-1F19846505D6}"/>
              </a:ext>
            </a:extLst>
          </p:cNvPr>
          <p:cNvGrpSpPr/>
          <p:nvPr/>
        </p:nvGrpSpPr>
        <p:grpSpPr>
          <a:xfrm>
            <a:off x="791738" y="1435350"/>
            <a:ext cx="7860425" cy="2655876"/>
            <a:chOff x="791738" y="1435350"/>
            <a:chExt cx="7860425" cy="2655876"/>
          </a:xfrm>
        </p:grpSpPr>
        <p:sp>
          <p:nvSpPr>
            <p:cNvPr id="125" name="Google Shape;125;p21"/>
            <p:cNvSpPr/>
            <p:nvPr/>
          </p:nvSpPr>
          <p:spPr>
            <a:xfrm>
              <a:off x="2044850" y="2647950"/>
              <a:ext cx="4749600" cy="457200"/>
            </a:xfrm>
            <a:prstGeom prst="roundRect">
              <a:avLst>
                <a:gd name="adj" fmla="val 16667"/>
              </a:avLst>
            </a:prstGeom>
            <a:solidFill>
              <a:srgbClr val="E8E8E8"/>
            </a:solidFill>
            <a:ln w="19050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3F51B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interface</a:t>
              </a:r>
              <a:r>
                <a:rPr lang="en" dirty="0">
                  <a:solidFill>
                    <a:srgbClr val="37474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List&lt;</a:t>
              </a:r>
              <a:r>
                <a:rPr lang="en" dirty="0">
                  <a:solidFill>
                    <a:srgbClr val="3F51B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out</a:t>
              </a:r>
              <a:r>
                <a:rPr lang="en" dirty="0">
                  <a:solidFill>
                    <a:srgbClr val="37474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E&gt;: </a:t>
              </a:r>
              <a:r>
                <a:rPr lang="en" dirty="0">
                  <a:solidFill>
                    <a:srgbClr val="3D85C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Collection</a:t>
              </a:r>
              <a:r>
                <a:rPr lang="en" dirty="0">
                  <a:solidFill>
                    <a:srgbClr val="37474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&lt;E&gt;</a:t>
              </a:r>
              <a:endParaRPr dirty="0"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26" name="Google Shape;126;p21"/>
            <p:cNvSpPr txBox="1"/>
            <p:nvPr/>
          </p:nvSpPr>
          <p:spPr>
            <a:xfrm>
              <a:off x="791738" y="1767325"/>
              <a:ext cx="1207200" cy="5078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CN" altLang="en-US" sz="1400" i="0" u="none" strike="noStrike" cap="none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抽象</a:t>
              </a:r>
              <a:endParaRPr sz="14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127" name="Google Shape;127;p21"/>
            <p:cNvSpPr txBox="1"/>
            <p:nvPr/>
          </p:nvSpPr>
          <p:spPr>
            <a:xfrm>
              <a:off x="2862750" y="1435350"/>
              <a:ext cx="2798400" cy="680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CN" altLang="en-US" sz="1400" i="0" u="none" strike="noStrike" cap="none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投影。</a:t>
              </a:r>
              <a:endParaRPr lang="en-US" altLang="zh-CN" sz="14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CN" altLang="en-US" sz="1400" i="0" u="none" strike="noStrike" cap="none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接受所有继承类型作为元素。</a:t>
              </a:r>
              <a:endParaRPr sz="14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128" name="Google Shape;128;p21"/>
            <p:cNvSpPr txBox="1"/>
            <p:nvPr/>
          </p:nvSpPr>
          <p:spPr>
            <a:xfrm>
              <a:off x="6964725" y="1767325"/>
              <a:ext cx="1492500" cy="5078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CN" altLang="en-US" sz="1400" i="0" u="none" strike="noStrike" cap="none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父泛型</a:t>
              </a:r>
              <a:endParaRPr sz="14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129" name="Google Shape;129;p21"/>
            <p:cNvSpPr txBox="1"/>
            <p:nvPr/>
          </p:nvSpPr>
          <p:spPr>
            <a:xfrm>
              <a:off x="791738" y="3583425"/>
              <a:ext cx="1207200" cy="5078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CN" altLang="en-US" sz="1400" i="0" u="none" strike="noStrike" cap="none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类型名称</a:t>
              </a:r>
              <a:endParaRPr sz="14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130" name="Google Shape;130;p21"/>
            <p:cNvSpPr txBox="1"/>
            <p:nvPr/>
          </p:nvSpPr>
          <p:spPr>
            <a:xfrm>
              <a:off x="3585450" y="3583425"/>
              <a:ext cx="1961700" cy="5078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CN" altLang="en-US" sz="1400" i="0" u="none" strike="noStrike" cap="none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泛型名称</a:t>
              </a:r>
              <a:endParaRPr sz="14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131" name="Google Shape;131;p21"/>
            <p:cNvSpPr txBox="1"/>
            <p:nvPr/>
          </p:nvSpPr>
          <p:spPr>
            <a:xfrm>
              <a:off x="6801163" y="3507225"/>
              <a:ext cx="1851000" cy="5078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CN" altLang="en-US" sz="1400" i="0" u="none" strike="noStrike" cap="none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父类型名称</a:t>
              </a:r>
              <a:endParaRPr sz="14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cxnSp>
          <p:nvCxnSpPr>
            <p:cNvPr id="132" name="Google Shape;132;p21"/>
            <p:cNvCxnSpPr>
              <a:stCxn id="127" idx="2"/>
              <a:endCxn id="125" idx="0"/>
            </p:cNvCxnSpPr>
            <p:nvPr/>
          </p:nvCxnSpPr>
          <p:spPr>
            <a:xfrm>
              <a:off x="4261950" y="2115506"/>
              <a:ext cx="157700" cy="532444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33" name="Google Shape;133;p21"/>
            <p:cNvCxnSpPr/>
            <p:nvPr/>
          </p:nvCxnSpPr>
          <p:spPr>
            <a:xfrm rot="10800000" flipH="1">
              <a:off x="4566300" y="3181425"/>
              <a:ext cx="5700" cy="478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34" name="Google Shape;134;p21"/>
            <p:cNvCxnSpPr>
              <a:stCxn id="126" idx="3"/>
            </p:cNvCxnSpPr>
            <p:nvPr/>
          </p:nvCxnSpPr>
          <p:spPr>
            <a:xfrm>
              <a:off x="1998938" y="2021226"/>
              <a:ext cx="1060800" cy="596899"/>
            </a:xfrm>
            <a:prstGeom prst="curvedConnector3">
              <a:avLst>
                <a:gd name="adj1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5" name="Google Shape;135;p21"/>
            <p:cNvCxnSpPr/>
            <p:nvPr/>
          </p:nvCxnSpPr>
          <p:spPr>
            <a:xfrm rot="10800000" flipH="1">
              <a:off x="1998938" y="3032925"/>
              <a:ext cx="1741500" cy="750600"/>
            </a:xfrm>
            <a:prstGeom prst="curvedConnector3">
              <a:avLst>
                <a:gd name="adj1" fmla="val 93321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6" name="Google Shape;136;p21"/>
            <p:cNvCxnSpPr>
              <a:stCxn id="131" idx="1"/>
            </p:cNvCxnSpPr>
            <p:nvPr/>
          </p:nvCxnSpPr>
          <p:spPr>
            <a:xfrm rot="10800000">
              <a:off x="6229663" y="3024526"/>
              <a:ext cx="571500" cy="736601"/>
            </a:xfrm>
            <a:prstGeom prst="curvedConnector2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7" name="Google Shape;137;p21"/>
            <p:cNvCxnSpPr>
              <a:stCxn id="128" idx="1"/>
            </p:cNvCxnSpPr>
            <p:nvPr/>
          </p:nvCxnSpPr>
          <p:spPr>
            <a:xfrm rot="10800000" flipV="1">
              <a:off x="5367225" y="2021225"/>
              <a:ext cx="1597500" cy="595099"/>
            </a:xfrm>
            <a:prstGeom prst="curvedConnector3">
              <a:avLst>
                <a:gd name="adj1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集合的结构</a:t>
            </a:r>
            <a:endParaRPr dirty="0"/>
          </a:p>
        </p:txBody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dirty="0"/>
              <a:t>每个集合都有几个</a:t>
            </a:r>
            <a:r>
              <a:rPr lang="zh-CN" altLang="en-US" sz="1100" b="1" dirty="0"/>
              <a:t>基本</a:t>
            </a:r>
            <a:r>
              <a:rPr lang="zh-CN" altLang="en-US" sz="1100" dirty="0"/>
              <a:t>方法：</a:t>
            </a:r>
            <a:endParaRPr sz="1100" dirty="0"/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interface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Collection&lt;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E&gt; : Iterable&lt;E&gt; {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size: Int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isEmpty(): Boolean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operator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contains(element: </a:t>
            </a:r>
            <a:r>
              <a:rPr lang="en" sz="1100" dirty="0">
                <a:solidFill>
                  <a:srgbClr val="8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@UnsafeVariance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E): Boolean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containsAll(elements: Collection&lt;</a:t>
            </a:r>
            <a:r>
              <a:rPr lang="en" sz="1100" dirty="0">
                <a:solidFill>
                  <a:srgbClr val="8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@UnsafeVariance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E&gt;): Boolean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...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100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144" name="Google Shape;144;p22"/>
          <p:cNvCxnSpPr>
            <a:endCxn id="145" idx="1"/>
          </p:cNvCxnSpPr>
          <p:nvPr/>
        </p:nvCxnSpPr>
        <p:spPr>
          <a:xfrm>
            <a:off x="3319600" y="2722913"/>
            <a:ext cx="1485000" cy="50501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145" name="Google Shape;145;p22"/>
          <p:cNvSpPr txBox="1"/>
          <p:nvPr/>
        </p:nvSpPr>
        <p:spPr>
          <a:xfrm>
            <a:off x="4804600" y="2519513"/>
            <a:ext cx="30000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CN" altLang="en-US" sz="14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请使用此方法代替</a:t>
            </a:r>
            <a:r>
              <a:rPr lang="en" sz="14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sz="1400" i="0" u="none" strike="noStrike" cap="none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 == 0</a:t>
            </a:r>
            <a:endParaRPr sz="1400" i="0" u="none" strike="noStrike" cap="none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集合的结构</a:t>
            </a:r>
            <a:endParaRPr dirty="0"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dirty="0">
                <a:cs typeface="Raleway"/>
                <a:sym typeface="Raleway"/>
              </a:rPr>
              <a:t>实际上，扩展方法有</a:t>
            </a:r>
            <a:r>
              <a:rPr lang="zh-CN" altLang="en-US" b="1" dirty="0">
                <a:cs typeface="Raleway"/>
                <a:sym typeface="Raleway"/>
              </a:rPr>
              <a:t>很多</a:t>
            </a:r>
            <a:r>
              <a:rPr lang="zh-CN" altLang="en-US" dirty="0">
                <a:cs typeface="Raleway"/>
                <a:sym typeface="Raleway"/>
              </a:rPr>
              <a:t>：</a:t>
            </a:r>
            <a:endParaRPr sz="1000" i="1" dirty="0">
              <a:highlight>
                <a:schemeClr val="lt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2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2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val </a:t>
            </a: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Collection&lt;*&gt;.</a:t>
            </a:r>
            <a:r>
              <a:rPr lang="en" sz="1200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indices</a:t>
            </a: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IntRange</a:t>
            </a:r>
            <a:endParaRPr sz="12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2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</a:t>
            </a: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= 0..</a:t>
            </a:r>
            <a:r>
              <a:rPr lang="en" sz="1200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</a:t>
            </a: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- 1</a:t>
            </a:r>
            <a:endParaRPr sz="12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200" dirty="0">
              <a:solidFill>
                <a:srgbClr val="3F51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2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val </a:t>
            </a: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&lt;T&gt; List&lt;T&gt;.</a:t>
            </a:r>
            <a:r>
              <a:rPr lang="en" sz="1200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lastIndex</a:t>
            </a: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Int</a:t>
            </a:r>
            <a:endParaRPr sz="12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2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</a:t>
            </a: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= </a:t>
            </a:r>
            <a:r>
              <a:rPr lang="en" sz="12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" sz="1200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</a:t>
            </a: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- 1</a:t>
            </a:r>
            <a:endParaRPr sz="12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200" dirty="0">
              <a:solidFill>
                <a:srgbClr val="3F51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2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inline fun </a:t>
            </a: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&lt;T&gt; Collection&lt;T&gt;.isNotEmpty(): Boolean = !isEmpty()</a:t>
            </a:r>
            <a:endParaRPr sz="12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200" dirty="0">
              <a:solidFill>
                <a:srgbClr val="3F51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  <a:endParaRPr sz="1200" dirty="0">
              <a:solidFill>
                <a:srgbClr val="3F51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2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2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2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100" dirty="0"/>
          </a:p>
        </p:txBody>
      </p:sp>
      <p:sp>
        <p:nvSpPr>
          <p:cNvPr id="152" name="Google Shape;152;p23"/>
          <p:cNvSpPr txBox="1"/>
          <p:nvPr/>
        </p:nvSpPr>
        <p:spPr>
          <a:xfrm>
            <a:off x="4815165" y="1751314"/>
            <a:ext cx="42165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CN" altLang="en-US" sz="14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在循环中使用非常方便：</a:t>
            </a:r>
            <a:endParaRPr sz="1400" i="0" u="none" strike="noStrike" cap="none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" sz="140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(i </a:t>
            </a:r>
            <a:r>
              <a:rPr lang="en" sz="1400" i="0" u="none" strike="noStrike" cap="none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lang="en" sz="140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collection.indices) { ... }</a:t>
            </a:r>
            <a:endParaRPr sz="1400" i="0" u="none" strike="noStrike" cap="none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153" name="Google Shape;153;p23"/>
          <p:cNvCxnSpPr>
            <a:stCxn id="152" idx="1"/>
          </p:cNvCxnSpPr>
          <p:nvPr/>
        </p:nvCxnSpPr>
        <p:spPr>
          <a:xfrm flipH="1" flipV="1">
            <a:off x="4372065" y="2102764"/>
            <a:ext cx="443100" cy="64033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4" name="Google Shape;154;p23"/>
          <p:cNvSpPr txBox="1"/>
          <p:nvPr/>
        </p:nvSpPr>
        <p:spPr>
          <a:xfrm>
            <a:off x="2842100" y="4372700"/>
            <a:ext cx="30000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CN" altLang="en-US" sz="14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请使用此方法代替</a:t>
            </a:r>
            <a:r>
              <a:rPr lang="en" sz="14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sz="1400" i="0" u="none" strike="noStrike" cap="none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 != 0</a:t>
            </a:r>
            <a:endParaRPr sz="1400" i="0" u="none" strike="noStrike" cap="none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155" name="Google Shape;155;p23"/>
          <p:cNvCxnSpPr>
            <a:stCxn id="154" idx="0"/>
          </p:cNvCxnSpPr>
          <p:nvPr/>
        </p:nvCxnSpPr>
        <p:spPr>
          <a:xfrm flipH="1" flipV="1">
            <a:off x="4338800" y="4012400"/>
            <a:ext cx="3300" cy="3603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集合内部原理：列表</a:t>
            </a:r>
            <a:endParaRPr dirty="0"/>
          </a:p>
        </p:txBody>
      </p:sp>
      <p:sp>
        <p:nvSpPr>
          <p:cNvPr id="161" name="Google Shape;161;p24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5444700" cy="21222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interface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List&lt;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E&gt; : Collection&lt;E&gt; {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operator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get(index: Int): E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indexOf(element: </a:t>
            </a:r>
            <a:r>
              <a:rPr lang="en" sz="1100" dirty="0">
                <a:solidFill>
                  <a:srgbClr val="8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@UnsafeVariance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E): Int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lastIndexOf(element: </a:t>
            </a:r>
            <a:r>
              <a:rPr lang="en" sz="1100" dirty="0">
                <a:solidFill>
                  <a:srgbClr val="8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@UnsafeVariance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E): Int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subList(fromIndex: Int, toIndex: Int): List&lt;E&gt;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...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1100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6080125" y="3693475"/>
            <a:ext cx="3068400" cy="15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CN" altLang="en-US" sz="11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创建</a:t>
            </a:r>
            <a:r>
              <a:rPr lang="zh-CN" altLang="en-US" sz="1100" b="1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引用</a:t>
            </a:r>
            <a:r>
              <a:rPr lang="zh-CN" altLang="en-US" sz="11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副本：</a:t>
            </a:r>
            <a:endParaRPr sz="1100" i="0" u="none" strike="noStrike" cap="none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i="0" u="none" strike="noStrike" cap="none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i="0" u="none" strike="noStrike" cap="none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list1 = mutableListOf(1, 2, 3)</a:t>
            </a:r>
            <a:endParaRPr sz="1100" i="0" u="none" strike="noStrike" cap="none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i="0" u="none" strike="noStrike" cap="none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i="0" u="none" strike="noStrike" cap="none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list2 = list1.subList(0, 1)</a:t>
            </a:r>
            <a:endParaRPr sz="1100" i="0" u="none" strike="noStrike" cap="none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i="0" u="none" strike="noStrike" cap="none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list1[0] += 1</a:t>
            </a:r>
            <a:endParaRPr sz="1100" i="0" u="none" strike="noStrike" cap="none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i="0" u="none" strike="noStrike" cap="none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println(list1) </a:t>
            </a:r>
            <a:r>
              <a:rPr lang="en" sz="1100" i="0" u="none" strike="noStrike" cap="none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[2, 2, 3]</a:t>
            </a:r>
            <a:endParaRPr sz="1100" i="0" u="none" strike="noStrike" cap="none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i="0" u="none" strike="noStrike" cap="none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println(list2) </a:t>
            </a:r>
            <a:r>
              <a:rPr lang="en" sz="1100" i="0" u="none" strike="noStrike" cap="none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[2]</a:t>
            </a:r>
            <a:endParaRPr sz="1100" i="0" u="none" strike="noStrike" cap="none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i="0" u="none" strike="noStrike" cap="none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>
            <a:off x="4103725" y="1791850"/>
            <a:ext cx="18030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164" name="Google Shape;164;p24"/>
          <p:cNvSpPr txBox="1"/>
          <p:nvPr/>
        </p:nvSpPr>
        <p:spPr>
          <a:xfrm>
            <a:off x="6010367" y="1591750"/>
            <a:ext cx="4049100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CN" altLang="en-US" sz="11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配合 </a:t>
            </a:r>
            <a:r>
              <a:rPr lang="en-US" altLang="zh-CN" sz="11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[] </a:t>
            </a:r>
            <a:r>
              <a:rPr lang="zh-CN" altLang="en-US" sz="11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使用很方便：</a:t>
            </a:r>
            <a:r>
              <a:rPr lang="en" sz="1100" b="0" i="0" u="none" strike="noStrike" cap="none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collection[2]</a:t>
            </a:r>
            <a:endParaRPr sz="1100" b="0" i="0" u="none" strike="noStrike" cap="none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sym typeface="Arial"/>
            </a:endParaRPr>
          </a:p>
        </p:txBody>
      </p:sp>
      <p:cxnSp>
        <p:nvCxnSpPr>
          <p:cNvPr id="165" name="Google Shape;165;p24"/>
          <p:cNvCxnSpPr>
            <a:stCxn id="162" idx="1"/>
            <a:endCxn id="166" idx="2"/>
          </p:cNvCxnSpPr>
          <p:nvPr/>
        </p:nvCxnSpPr>
        <p:spPr>
          <a:xfrm rot="10800000">
            <a:off x="1966801" y="3410101"/>
            <a:ext cx="4113325" cy="1057033"/>
          </a:xfrm>
          <a:prstGeom prst="curvedConnector2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6" name="Google Shape;166;p24"/>
          <p:cNvSpPr/>
          <p:nvPr/>
        </p:nvSpPr>
        <p:spPr>
          <a:xfrm>
            <a:off x="1895400" y="3352800"/>
            <a:ext cx="142800" cy="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集合内部原理：列表</a:t>
            </a:r>
            <a:endParaRPr dirty="0"/>
          </a:p>
        </p:txBody>
      </p:sp>
      <p:sp>
        <p:nvSpPr>
          <p:cNvPr id="172" name="Google Shape;172;p25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100" dirty="0"/>
              <a:t>要创建一个新的列表，可以使用特殊的</a:t>
            </a:r>
            <a:r>
              <a:rPr lang="zh-CN" altLang="en-US" sz="1100" b="1" dirty="0"/>
              <a:t>构建器</a:t>
            </a:r>
            <a:r>
              <a:rPr lang="zh-CN" altLang="en-US" sz="1100" dirty="0"/>
              <a:t>（默认是 </a:t>
            </a:r>
            <a:r>
              <a:rPr lang="en-US" altLang="zh-CN" sz="1100" dirty="0" err="1">
                <a:latin typeface="JetBrains Mono" panose="020B0604020202020204" charset="0"/>
                <a:cs typeface="JetBrains Mono" panose="020B0604020202020204" charset="0"/>
              </a:rPr>
              <a:t>ArrayList</a:t>
            </a:r>
            <a:r>
              <a:rPr lang="zh-CN" altLang="en-US" sz="1100" dirty="0"/>
              <a:t>）：</a:t>
            </a:r>
            <a:endParaRPr sz="1100" dirty="0"/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list1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emptyList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&lt;Int&gt;()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构建内部对象 </a:t>
            </a:r>
            <a:r>
              <a:rPr lang="en-US" sz="1100" dirty="0" err="1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EmptyList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list2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listOf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&lt;Int&gt;()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调用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i="1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emptyList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list3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listOf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(1, 2, 3)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类型可以被推断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list4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mutableListOf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&lt;Int&gt;()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更好的写法是：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ArrayList&lt;Int&gt;()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list5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mutableListOf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(1, 2, 3)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类型可以被推断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list6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buildList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构建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MutableList&lt;Int&gt;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add(5)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addAll(0, listOf(1, 2, 3))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100" dirty="0">
              <a:solidFill>
                <a:srgbClr val="3F51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集合内部原理：去重集合</a:t>
            </a:r>
            <a:endParaRPr dirty="0"/>
          </a:p>
        </p:txBody>
      </p:sp>
      <p:sp>
        <p:nvSpPr>
          <p:cNvPr id="178" name="Google Shape;178;p26"/>
          <p:cNvSpPr txBox="1">
            <a:spLocks noGrp="1"/>
          </p:cNvSpPr>
          <p:nvPr>
            <p:ph type="body" idx="1"/>
          </p:nvPr>
        </p:nvSpPr>
        <p:spPr>
          <a:xfrm>
            <a:off x="334600" y="1352050"/>
            <a:ext cx="8419800" cy="3509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interface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Set&lt;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E&gt; : Collection&lt;E&gt; {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abstract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size: Int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abstract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contains(element: </a:t>
            </a:r>
            <a:r>
              <a:rPr lang="en" sz="1100" dirty="0">
                <a:solidFill>
                  <a:srgbClr val="8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@UnsafeVariance 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E): Boolean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abstract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containsAll(collection: Collection&lt;E&gt;): Boolean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abstract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isEmpty(): Boolean 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abstract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iterator(): Iterator&lt;E&gt;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100" dirty="0"/>
              <a:t>一个不支持重复元素的泛型无序集合。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100" dirty="0"/>
              <a:t>它通过 </a:t>
            </a:r>
            <a:r>
              <a:rPr lang="en-US" altLang="zh-CN" sz="1100" dirty="0">
                <a:latin typeface="JetBrains Mono" panose="020B0604020202020204" charset="0"/>
                <a:cs typeface="JetBrains Mono" panose="020B0604020202020204" charset="0"/>
              </a:rPr>
              <a:t>equals</a:t>
            </a:r>
            <a:r>
              <a:rPr lang="en-US" altLang="zh-CN" sz="1100" dirty="0"/>
              <a:t> </a:t>
            </a:r>
            <a:r>
              <a:rPr lang="zh-CN" altLang="en-US" sz="1100" dirty="0"/>
              <a:t>方法比较对象，而非检查对象是否</a:t>
            </a:r>
            <a:r>
              <a:rPr lang="zh-CN" altLang="en-US" sz="1100" i="1" dirty="0"/>
              <a:t>相同</a:t>
            </a:r>
            <a:r>
              <a:rPr lang="zh-CN" altLang="en-US" sz="1100" dirty="0"/>
              <a:t>。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100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集合内部原理：去重集合</a:t>
            </a:r>
            <a:endParaRPr dirty="0"/>
          </a:p>
        </p:txBody>
      </p:sp>
      <p:sp>
        <p:nvSpPr>
          <p:cNvPr id="184" name="Google Shape;184;p27"/>
          <p:cNvSpPr txBox="1">
            <a:spLocks noGrp="1"/>
          </p:cNvSpPr>
          <p:nvPr>
            <p:ph type="body" idx="1"/>
          </p:nvPr>
        </p:nvSpPr>
        <p:spPr>
          <a:xfrm>
            <a:off x="334600" y="1352050"/>
            <a:ext cx="8419800" cy="3509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A(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primary: Int,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secondary: Int)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B(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primary: Int,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secondary: Int) {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override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hashCode(): Int = primary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override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equals(other: Any?) = primary == (other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? B)?.primary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main() {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 = A(1,1)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 = A(1,2)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set = setOf(a, b)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println(set)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两个元素</a:t>
            </a:r>
            <a:endParaRPr lang="en-US" altLang="zh-CN"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100" dirty="0">
              <a:solidFill>
                <a:srgbClr val="3F51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集合内部原理：去重集合</a:t>
            </a:r>
            <a:endParaRPr dirty="0"/>
          </a:p>
        </p:txBody>
      </p:sp>
      <p:sp>
        <p:nvSpPr>
          <p:cNvPr id="190" name="Google Shape;190;p28"/>
          <p:cNvSpPr txBox="1">
            <a:spLocks noGrp="1"/>
          </p:cNvSpPr>
          <p:nvPr>
            <p:ph type="body" idx="1"/>
          </p:nvPr>
        </p:nvSpPr>
        <p:spPr>
          <a:xfrm>
            <a:off x="334600" y="1352050"/>
            <a:ext cx="8419800" cy="3509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A(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primary: Int,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secondary: Int)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B(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primary: Int,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secondary: Int) {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override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hashCode(): Int = primary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override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equals(other: Any?) = primary == (other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? B)?.primary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main() {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 = </a:t>
            </a:r>
            <a:r>
              <a:rPr lang="en" sz="1100" dirty="0">
                <a:solidFill>
                  <a:srgbClr val="99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(1,1)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 = </a:t>
            </a:r>
            <a:r>
              <a:rPr lang="en" sz="1100" dirty="0">
                <a:solidFill>
                  <a:srgbClr val="99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(1,2)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set = setOf(a, b)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println(set)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只有一个元素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100" dirty="0">
              <a:solidFill>
                <a:srgbClr val="3F51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集合内部原理：去重集合</a:t>
            </a:r>
            <a:endParaRPr dirty="0"/>
          </a:p>
        </p:txBody>
      </p:sp>
      <p:sp>
        <p:nvSpPr>
          <p:cNvPr id="196" name="Google Shape;196;p29"/>
          <p:cNvSpPr txBox="1">
            <a:spLocks noGrp="1"/>
          </p:cNvSpPr>
          <p:nvPr>
            <p:ph type="body" idx="1"/>
          </p:nvPr>
        </p:nvSpPr>
        <p:spPr>
          <a:xfrm>
            <a:off x="334600" y="1352050"/>
            <a:ext cx="8419800" cy="3509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dirty="0"/>
              <a:t>要创建一个新的集合，可以使用特殊的</a:t>
            </a:r>
            <a:r>
              <a:rPr lang="zh-CN" altLang="en-US" sz="1100" b="1" dirty="0"/>
              <a:t>构建器</a:t>
            </a:r>
            <a:r>
              <a:rPr lang="zh-CN" altLang="en-US" sz="1100" dirty="0"/>
              <a:t>（默认是 </a:t>
            </a:r>
            <a:r>
              <a:rPr lang="en-US" sz="1100" dirty="0" err="1">
                <a:latin typeface="JetBrains Mono" panose="020B0604020202020204" charset="0"/>
                <a:cs typeface="JetBrains Mono" panose="020B0604020202020204" charset="0"/>
              </a:rPr>
              <a:t>LinkedHashSet</a:t>
            </a:r>
            <a:r>
              <a:rPr lang="en-US" sz="1100" dirty="0"/>
              <a:t>）：</a:t>
            </a:r>
            <a:endParaRPr sz="1100" dirty="0"/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set1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emptySet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&lt;Int&gt;()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构建内部对象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EmptySet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set2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setOf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&lt;Int&gt;()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调用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emptySet()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set3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setOf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(1, 2, 3)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类型可以被推断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set4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mutableSetOf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&lt;Int&gt;()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更好的写法是：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LinkedHashSet&lt;Int&gt;()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或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HashSet&lt;Int&gt;()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set5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mutableSetOf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(1, 2, 3)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类型可以被推断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set6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buildSet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构建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MutableSet&lt;Int&gt;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add(5)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addAll(listOf(1, 2, 3))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100" dirty="0">
              <a:solidFill>
                <a:srgbClr val="3F51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集合内部原理：映射</a:t>
            </a:r>
            <a:endParaRPr dirty="0"/>
          </a:p>
        </p:txBody>
      </p:sp>
      <p:sp>
        <p:nvSpPr>
          <p:cNvPr id="202" name="Google Shape;202;p30"/>
          <p:cNvSpPr txBox="1">
            <a:spLocks noGrp="1"/>
          </p:cNvSpPr>
          <p:nvPr>
            <p:ph type="body" idx="1"/>
          </p:nvPr>
        </p:nvSpPr>
        <p:spPr>
          <a:xfrm>
            <a:off x="334600" y="1352050"/>
            <a:ext cx="8419800" cy="3509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interface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Map&lt;K,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V&gt; {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containsKey(key: K): Boolean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containsValue(value: </a:t>
            </a:r>
            <a:r>
              <a:rPr lang="en" sz="1100" dirty="0">
                <a:solidFill>
                  <a:srgbClr val="8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@UnsafeVariance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V): Boolean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operator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get(key: K): V?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getOrDefault(key: K, defaultValue: </a:t>
            </a:r>
            <a:r>
              <a:rPr lang="en" sz="1100" dirty="0">
                <a:solidFill>
                  <a:srgbClr val="8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@UnsafeVariance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V): V 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entries: Set&lt;Map.Entry&lt;K, V&gt;&gt;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…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100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3" name="Google Shape;203;p30"/>
          <p:cNvSpPr txBox="1"/>
          <p:nvPr/>
        </p:nvSpPr>
        <p:spPr>
          <a:xfrm>
            <a:off x="5312725" y="4276725"/>
            <a:ext cx="3660900" cy="6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CN" altLang="en-US" sz="11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在循环中使用非常方便：</a:t>
            </a:r>
            <a:endParaRPr sz="1100" i="0" u="none" strike="noStrike" cap="none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 i="0" u="none" strike="noStrike" cap="none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" sz="110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((key, value) </a:t>
            </a:r>
            <a:r>
              <a:rPr lang="en" sz="1100" i="0" u="none" strike="noStrike" cap="none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lang="en" sz="110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map.entries) { ... }</a:t>
            </a:r>
            <a:endParaRPr sz="1100" i="0" u="none" strike="noStrike" cap="none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4" name="Google Shape;204;p30"/>
          <p:cNvSpPr/>
          <p:nvPr/>
        </p:nvSpPr>
        <p:spPr>
          <a:xfrm>
            <a:off x="1895475" y="3319475"/>
            <a:ext cx="257100" cy="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  <p:cxnSp>
        <p:nvCxnSpPr>
          <p:cNvPr id="205" name="Google Shape;205;p30"/>
          <p:cNvCxnSpPr>
            <a:stCxn id="204" idx="2"/>
            <a:endCxn id="203" idx="1"/>
          </p:cNvCxnSpPr>
          <p:nvPr/>
        </p:nvCxnSpPr>
        <p:spPr>
          <a:xfrm rot="16200000" flipH="1">
            <a:off x="3023833" y="2334067"/>
            <a:ext cx="1289084" cy="3288700"/>
          </a:xfrm>
          <a:prstGeom prst="curvedConnector2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集合内部原理：映射</a:t>
            </a:r>
            <a:endParaRPr dirty="0"/>
          </a:p>
        </p:txBody>
      </p:sp>
      <p:sp>
        <p:nvSpPr>
          <p:cNvPr id="211" name="Google Shape;211;p31"/>
          <p:cNvSpPr txBox="1">
            <a:spLocks noGrp="1"/>
          </p:cNvSpPr>
          <p:nvPr>
            <p:ph type="body" idx="1"/>
          </p:nvPr>
        </p:nvSpPr>
        <p:spPr>
          <a:xfrm>
            <a:off x="334600" y="1352050"/>
            <a:ext cx="8419800" cy="3509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dirty="0">
                <a:latin typeface="JetBrains Mono"/>
                <a:ea typeface="JetBrains Mono"/>
                <a:cs typeface="JetBrains Mono"/>
                <a:sym typeface="JetBrains Mono"/>
              </a:rPr>
              <a:t>要创建一个新的映射，可以使用特殊的</a:t>
            </a:r>
            <a:r>
              <a:rPr lang="zh-CN" altLang="en-US" sz="1100" b="1" dirty="0">
                <a:latin typeface="JetBrains Mono"/>
                <a:ea typeface="JetBrains Mono"/>
                <a:cs typeface="JetBrains Mono"/>
                <a:sym typeface="JetBrains Mono"/>
              </a:rPr>
              <a:t>构建器</a:t>
            </a:r>
            <a:r>
              <a:rPr lang="zh-CN" altLang="en-US" sz="1100" dirty="0">
                <a:latin typeface="JetBrains Mono"/>
                <a:ea typeface="JetBrains Mono"/>
                <a:cs typeface="JetBrains Mono"/>
                <a:sym typeface="JetBrains Mono"/>
              </a:rPr>
              <a:t>（默认使用 </a:t>
            </a:r>
            <a:r>
              <a:rPr lang="en-US" sz="1100" dirty="0" err="1">
                <a:latin typeface="JetBrains Mono"/>
                <a:ea typeface="JetBrains Mono"/>
                <a:cs typeface="JetBrains Mono"/>
                <a:sym typeface="JetBrains Mono"/>
              </a:rPr>
              <a:t>LinkedHashMap</a:t>
            </a:r>
            <a:r>
              <a:rPr lang="en-US" sz="1100" dirty="0">
                <a:latin typeface="JetBrains Mono"/>
                <a:ea typeface="JetBrains Mono"/>
                <a:cs typeface="JetBrains Mono"/>
                <a:sym typeface="JetBrains Mono"/>
              </a:rPr>
              <a:t>）：</a:t>
            </a:r>
            <a:endParaRPr sz="110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map1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emptyMap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&lt;Int, String&gt;()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构建内部对象 </a:t>
            </a:r>
            <a:r>
              <a:rPr lang="en-US" sz="1100" dirty="0" err="1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EmptyMap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map2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mapOf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&lt;Int, String&gt;()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调用 </a:t>
            </a:r>
            <a:r>
              <a:rPr lang="en-US" sz="1100" dirty="0" err="1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emptyMap</a:t>
            </a:r>
            <a:r>
              <a:rPr 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map3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mapOf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(1 to </a:t>
            </a:r>
            <a:r>
              <a:rPr lang="en" sz="1100" dirty="0">
                <a:solidFill>
                  <a:srgbClr val="0088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"one"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2 to </a:t>
            </a:r>
            <a:r>
              <a:rPr lang="en" sz="1100" dirty="0">
                <a:solidFill>
                  <a:srgbClr val="0088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"two"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类型可以被推断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map4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mutableMapOf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&lt;Int, String&gt;()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更好的写法是：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LinkedHashMap&lt;...&gt;()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或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HashMap&lt;...&gt;()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map5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mutableMapOf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(1 to </a:t>
            </a:r>
            <a:r>
              <a:rPr lang="en" sz="1100" dirty="0">
                <a:solidFill>
                  <a:srgbClr val="0088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"one"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2 to </a:t>
            </a:r>
            <a:r>
              <a:rPr lang="en" sz="1100" dirty="0">
                <a:solidFill>
                  <a:srgbClr val="0088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"two"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类型可以被推断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map6 = 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buildMap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构建 </a:t>
            </a:r>
            <a:r>
              <a:rPr lang="en" sz="1100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MutableMap&lt;Int, String&gt;</a:t>
            </a: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put(1, </a:t>
            </a:r>
            <a:r>
              <a:rPr lang="en" sz="1100" dirty="0">
                <a:solidFill>
                  <a:srgbClr val="0088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"one"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putAll(</a:t>
            </a:r>
            <a:r>
              <a:rPr lang="en" sz="1100" i="1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mutableMapOf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(2 to </a:t>
            </a:r>
            <a:r>
              <a:rPr lang="en" sz="1100" dirty="0">
                <a:solidFill>
                  <a:srgbClr val="0088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"two"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))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100" dirty="0">
              <a:solidFill>
                <a:srgbClr val="3F51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数组</a:t>
            </a:r>
            <a:endParaRPr dirty="0"/>
          </a:p>
        </p:txBody>
      </p:sp>
      <p:sp>
        <p:nvSpPr>
          <p:cNvPr id="217" name="Google Shape;217;p32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zh-CN" altLang="en-US" sz="1100" dirty="0"/>
              <a:t>既不是集合，也不具备可迭代性，但拥有</a:t>
            </a:r>
            <a:r>
              <a:rPr lang="zh-CN" altLang="en-US" sz="1100" b="1" dirty="0"/>
              <a:t>迭代器</a:t>
            </a:r>
            <a:r>
              <a:rPr lang="zh-CN" altLang="en-US" sz="1100" dirty="0"/>
              <a:t>。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</a:pPr>
            <a:r>
              <a:rPr lang="zh-CN" altLang="en-US" sz="1100" dirty="0"/>
              <a:t>具有</a:t>
            </a:r>
            <a:r>
              <a:rPr lang="zh-CN" altLang="en-US" sz="1100" b="1" dirty="0"/>
              <a:t>固定</a:t>
            </a:r>
            <a:r>
              <a:rPr lang="zh-CN" altLang="en-US" sz="1100" dirty="0"/>
              <a:t>大小，但其元素是</a:t>
            </a:r>
            <a:r>
              <a:rPr lang="zh-CN" altLang="en-US" sz="1100" b="1" dirty="0"/>
              <a:t>可变</a:t>
            </a:r>
            <a:r>
              <a:rPr lang="zh-CN" altLang="en-US" sz="1100" dirty="0"/>
              <a:t>的。</a:t>
            </a:r>
            <a:endParaRPr sz="1100" dirty="0"/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/**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* </a:t>
            </a:r>
            <a:r>
              <a:rPr lang="zh-CN" altLang="en-US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表示一个数组（当目标平台为 </a:t>
            </a:r>
            <a:r>
              <a:rPr lang="en-US" altLang="zh-C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JVM </a:t>
            </a:r>
            <a:r>
              <a:rPr lang="zh-CN" altLang="en-US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时，特指 </a:t>
            </a:r>
            <a:r>
              <a:rPr lang="en-US" altLang="zh-C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Java </a:t>
            </a:r>
            <a:r>
              <a:rPr lang="zh-CN" altLang="en-US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数组）。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* </a:t>
            </a:r>
            <a:r>
              <a:rPr lang="zh-CN" altLang="en-US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可以使用标准库函数 </a:t>
            </a:r>
            <a:r>
              <a:rPr lang="en-US" altLang="zh-C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100" dirty="0" err="1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arrayOf</a:t>
            </a:r>
            <a:r>
              <a:rPr lang="en-US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]、[</a:t>
            </a:r>
            <a:r>
              <a:rPr lang="en-US" sz="1100" dirty="0" err="1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arrayOfNulls</a:t>
            </a:r>
            <a:r>
              <a:rPr lang="en-US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</a:t>
            </a:r>
            <a:r>
              <a:rPr lang="zh-CN" altLang="en-US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和 </a:t>
            </a:r>
            <a:r>
              <a:rPr lang="en-US" altLang="zh-C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100" dirty="0" err="1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emptyArray</a:t>
            </a:r>
            <a:r>
              <a:rPr lang="en-US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</a:t>
            </a:r>
            <a:r>
              <a:rPr lang="zh-CN" altLang="en-US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创建数组实例。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*/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Array&lt;T&gt; {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operator fun 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set(index: Int, value: T): Unit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…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1100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数组</a:t>
            </a:r>
            <a:endParaRPr dirty="0"/>
          </a:p>
        </p:txBody>
      </p:sp>
      <p:sp>
        <p:nvSpPr>
          <p:cNvPr id="223" name="Google Shape;223;p33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Kotlin </a:t>
            </a:r>
            <a:r>
              <a:rPr lang="zh-CN" altLang="en-US" sz="1100" dirty="0"/>
              <a:t>还提供了用于表示基本类型数组的类，且不会产生装箱开销：</a:t>
            </a:r>
            <a:r>
              <a:rPr lang="en-US" sz="1100" dirty="0" err="1">
                <a:latin typeface="JetBrains Mono" panose="020B0604020202020204" charset="0"/>
                <a:cs typeface="JetBrains Mono" panose="020B0604020202020204" charset="0"/>
              </a:rPr>
              <a:t>ByteArray</a:t>
            </a:r>
            <a:r>
              <a:rPr lang="en-US" sz="1100" dirty="0" err="1"/>
              <a:t>、</a:t>
            </a:r>
            <a:r>
              <a:rPr lang="en-US" sz="1100" dirty="0" err="1">
                <a:latin typeface="JetBrains Mono" panose="020B0604020202020204" charset="0"/>
                <a:cs typeface="JetBrains Mono" panose="020B0604020202020204" charset="0"/>
              </a:rPr>
              <a:t>ShortArray</a:t>
            </a:r>
            <a:r>
              <a:rPr lang="en-US" sz="1100" dirty="0" err="1"/>
              <a:t>、</a:t>
            </a:r>
            <a:r>
              <a:rPr lang="en-US" sz="1100" dirty="0" err="1">
                <a:latin typeface="JetBrains Mono" panose="020B0604020202020204" charset="0"/>
                <a:cs typeface="JetBrains Mono" panose="020B0604020202020204" charset="0"/>
              </a:rPr>
              <a:t>IntArray</a:t>
            </a:r>
            <a:r>
              <a:rPr lang="en-US" sz="1100" dirty="0"/>
              <a:t> </a:t>
            </a:r>
            <a:r>
              <a:rPr lang="zh-CN" altLang="en-US" sz="1100" dirty="0"/>
              <a:t>等。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197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/**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* </a:t>
            </a:r>
            <a:r>
              <a:rPr lang="zh-CN" altLang="en-US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一个整型数组。当目标平台为 </a:t>
            </a:r>
            <a:r>
              <a:rPr lang="en-US" altLang="zh-C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JVM </a:t>
            </a:r>
            <a:r>
              <a:rPr lang="zh-CN" altLang="en-US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时，该类的实例将表示为 </a:t>
            </a:r>
            <a:r>
              <a:rPr lang="en-US" altLang="zh-C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`int[]`</a:t>
            </a:r>
            <a:r>
              <a:rPr lang="zh-CN" altLang="en-US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。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*/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IntArray(size: Int) {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operator fun </a:t>
            </a: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set(index: Int, value: T): Unit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…</a:t>
            </a:r>
            <a:endParaRPr sz="1100"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100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虽然不是集合，但标准类型定义了带有</a:t>
            </a:r>
            <a:r>
              <a:rPr lang="zh-CN" altLang="en-US" sz="11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迭代器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的序列：</a:t>
            </a:r>
            <a:r>
              <a:rPr lang="en-US" sz="1100" dirty="0" err="1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CharProgression</a:t>
            </a:r>
            <a:r>
              <a:rPr lang="en-US" sz="1100" dirty="0" err="1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、</a:t>
            </a:r>
            <a:r>
              <a:rPr lang="en-US" sz="1100" dirty="0" err="1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IntProgression</a:t>
            </a:r>
            <a:r>
              <a:rPr lang="en-US" sz="1100" dirty="0" err="1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、</a:t>
            </a:r>
            <a:r>
              <a:rPr lang="en-US" sz="1100" dirty="0" err="1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LongProgression</a:t>
            </a:r>
            <a:r>
              <a:rPr 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：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Raleway"/>
              <a:sym typeface="Raleway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for</a:t>
            </a:r>
            <a:r>
              <a:rPr lang="en" sz="1100" dirty="0">
                <a:solidFill>
                  <a:srgbClr val="595959"/>
                </a:solidFill>
              </a:rPr>
              <a:t> (c </a:t>
            </a:r>
            <a:r>
              <a:rPr lang="en" sz="1100" dirty="0">
                <a:solidFill>
                  <a:srgbClr val="3F51B5"/>
                </a:solidFill>
              </a:rPr>
              <a:t>in</a:t>
            </a:r>
            <a:r>
              <a:rPr lang="en" sz="1100" dirty="0">
                <a:solidFill>
                  <a:srgbClr val="595959"/>
                </a:solidFill>
              </a:rPr>
              <a:t> </a:t>
            </a:r>
            <a:r>
              <a:rPr lang="en" sz="1100" dirty="0">
                <a:solidFill>
                  <a:srgbClr val="008800"/>
                </a:solidFill>
              </a:rPr>
              <a:t>'a'</a:t>
            </a:r>
            <a:r>
              <a:rPr lang="en" sz="1100" dirty="0">
                <a:solidFill>
                  <a:srgbClr val="595959"/>
                </a:solidFill>
              </a:rPr>
              <a:t>..</a:t>
            </a:r>
            <a:r>
              <a:rPr lang="en" sz="1100" dirty="0">
                <a:solidFill>
                  <a:srgbClr val="008800"/>
                </a:solidFill>
              </a:rPr>
              <a:t>'c'</a:t>
            </a:r>
            <a:r>
              <a:rPr lang="en" sz="1100" dirty="0">
                <a:solidFill>
                  <a:srgbClr val="595959"/>
                </a:solidFill>
              </a:rPr>
              <a:t>) { ... }</a:t>
            </a:r>
            <a:r>
              <a:rPr lang="en" sz="1100" dirty="0">
                <a:solidFill>
                  <a:srgbClr val="666666"/>
                </a:solidFill>
              </a:rPr>
              <a:t> // CharProgression</a:t>
            </a:r>
            <a:endParaRPr sz="11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for</a:t>
            </a:r>
            <a:r>
              <a:rPr lang="en" sz="1100" dirty="0">
                <a:solidFill>
                  <a:srgbClr val="595959"/>
                </a:solidFill>
              </a:rPr>
              <a:t> (i </a:t>
            </a:r>
            <a:r>
              <a:rPr lang="en" sz="1100" dirty="0">
                <a:solidFill>
                  <a:srgbClr val="3F51B5"/>
                </a:solidFill>
              </a:rPr>
              <a:t>in</a:t>
            </a:r>
            <a:r>
              <a:rPr lang="en" sz="1100" dirty="0">
                <a:solidFill>
                  <a:srgbClr val="595959"/>
                </a:solidFill>
              </a:rPr>
              <a:t> 1..5) { ... }     </a:t>
            </a:r>
            <a:r>
              <a:rPr lang="en" sz="1100" dirty="0">
                <a:solidFill>
                  <a:srgbClr val="666666"/>
                </a:solidFill>
              </a:rPr>
              <a:t>// IntProgression</a:t>
            </a:r>
            <a:endParaRPr sz="11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for</a:t>
            </a:r>
            <a:r>
              <a:rPr lang="en" sz="1100" dirty="0">
                <a:solidFill>
                  <a:srgbClr val="595959"/>
                </a:solidFill>
              </a:rPr>
              <a:t> (i </a:t>
            </a:r>
            <a:r>
              <a:rPr lang="en" sz="1100" dirty="0">
                <a:solidFill>
                  <a:srgbClr val="3F51B5"/>
                </a:solidFill>
              </a:rPr>
              <a:t>in</a:t>
            </a:r>
            <a:r>
              <a:rPr lang="en" sz="1100" dirty="0">
                <a:solidFill>
                  <a:srgbClr val="595959"/>
                </a:solidFill>
              </a:rPr>
              <a:t> 1L..5L) { ... }   </a:t>
            </a:r>
            <a:r>
              <a:rPr lang="en" sz="1100" dirty="0">
                <a:solidFill>
                  <a:srgbClr val="666666"/>
                </a:solidFill>
              </a:rPr>
              <a:t>// LongProgression</a:t>
            </a:r>
            <a:endParaRPr sz="11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100" dirty="0">
                <a:solidFill>
                  <a:srgbClr val="595959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Raleway"/>
                <a:sym typeface="Raleway"/>
              </a:rPr>
              <a:t>有很多方法可以自定义它们：</a:t>
            </a:r>
            <a:endParaRPr sz="1100" dirty="0">
              <a:solidFill>
                <a:srgbClr val="595959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Raleway"/>
              <a:sym typeface="Raleway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for</a:t>
            </a:r>
            <a:r>
              <a:rPr lang="en" sz="1100" dirty="0">
                <a:solidFill>
                  <a:srgbClr val="595959"/>
                </a:solidFill>
              </a:rPr>
              <a:t> (i </a:t>
            </a:r>
            <a:r>
              <a:rPr lang="en" sz="1100" dirty="0">
                <a:solidFill>
                  <a:srgbClr val="3F51B5"/>
                </a:solidFill>
              </a:rPr>
              <a:t>in</a:t>
            </a:r>
            <a:r>
              <a:rPr lang="en" sz="1100" dirty="0">
                <a:solidFill>
                  <a:srgbClr val="595959"/>
                </a:solidFill>
              </a:rPr>
              <a:t> 10 downTo 0 step 3) { ... }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</a:rPr>
              <a:t>downTo</a:t>
            </a:r>
            <a:r>
              <a:rPr lang="en" sz="1100" dirty="0">
                <a:solidFill>
                  <a:srgbClr val="595959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Raleway"/>
                <a:sym typeface="Raleway"/>
              </a:rPr>
              <a:t> </a:t>
            </a:r>
            <a:r>
              <a:rPr lang="zh-CN" altLang="en-US" sz="1100" dirty="0">
                <a:solidFill>
                  <a:srgbClr val="595959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Raleway"/>
                <a:sym typeface="Raleway"/>
              </a:rPr>
              <a:t>和</a:t>
            </a:r>
            <a:r>
              <a:rPr lang="en" sz="1100" dirty="0">
                <a:solidFill>
                  <a:srgbClr val="595959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Raleway"/>
                <a:sym typeface="Raleway"/>
              </a:rPr>
              <a:t> </a:t>
            </a:r>
            <a:r>
              <a:rPr lang="en" sz="1100" dirty="0">
                <a:solidFill>
                  <a:srgbClr val="595959"/>
                </a:solidFill>
              </a:rPr>
              <a:t>step</a:t>
            </a:r>
            <a:r>
              <a:rPr lang="en" sz="1100" dirty="0">
                <a:solidFill>
                  <a:srgbClr val="595959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Raleway"/>
                <a:sym typeface="Raleway"/>
              </a:rPr>
              <a:t> </a:t>
            </a:r>
            <a:r>
              <a:rPr lang="zh-CN" altLang="en-US" sz="1100" dirty="0">
                <a:solidFill>
                  <a:srgbClr val="595959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Raleway"/>
                <a:sym typeface="Raleway"/>
              </a:rPr>
              <a:t>是中缀扩展函数。</a:t>
            </a:r>
            <a:endParaRPr sz="1100" dirty="0"/>
          </a:p>
        </p:txBody>
      </p:sp>
      <p:sp>
        <p:nvSpPr>
          <p:cNvPr id="229" name="Google Shape;229;p34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区间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它不是集合，但具有</a:t>
            </a:r>
            <a:r>
              <a:rPr lang="zh-CN" altLang="en-US" sz="11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迭代器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：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</a:rPr>
              <a:t>/**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</a:rPr>
              <a:t> * </a:t>
            </a:r>
            <a:r>
              <a:rPr lang="zh-CN" altLang="en-US" sz="1100" dirty="0">
                <a:solidFill>
                  <a:srgbClr val="595959"/>
                </a:solidFill>
              </a:rPr>
              <a:t>一种通过迭代器返回值的序列。序列值是懒加载的，且序列可能是无限的。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</a:rPr>
              <a:t> */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public</a:t>
            </a:r>
            <a:r>
              <a:rPr lang="en" sz="1100" dirty="0">
                <a:solidFill>
                  <a:srgbClr val="595959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interface</a:t>
            </a:r>
            <a:r>
              <a:rPr lang="en" sz="1100" dirty="0">
                <a:solidFill>
                  <a:srgbClr val="595959"/>
                </a:solidFill>
              </a:rPr>
              <a:t> Sequence&lt;</a:t>
            </a:r>
            <a:r>
              <a:rPr lang="en" sz="1100" dirty="0">
                <a:solidFill>
                  <a:srgbClr val="3F51B5"/>
                </a:solidFill>
              </a:rPr>
              <a:t>out</a:t>
            </a:r>
            <a:r>
              <a:rPr lang="en" sz="1100" dirty="0">
                <a:solidFill>
                  <a:srgbClr val="595959"/>
                </a:solidFill>
              </a:rPr>
              <a:t> T&gt; {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public</a:t>
            </a:r>
            <a:r>
              <a:rPr lang="en" sz="1100" dirty="0">
                <a:solidFill>
                  <a:srgbClr val="595959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operator</a:t>
            </a:r>
            <a:r>
              <a:rPr lang="en" sz="1100" dirty="0">
                <a:solidFill>
                  <a:srgbClr val="595959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595959"/>
                </a:solidFill>
              </a:rPr>
              <a:t> iterator(): Iterator&lt;T&gt;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</a:rPr>
              <a:t>}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235" name="Google Shape;235;p35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序列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要创建一个新的序列，可以使用特殊的</a:t>
            </a:r>
            <a:r>
              <a:rPr lang="zh-CN" altLang="en-US" sz="11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构建器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：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595959"/>
                </a:solidFill>
              </a:rPr>
              <a:t> sequence1 = </a:t>
            </a:r>
            <a:r>
              <a:rPr lang="en" sz="1100" i="1" dirty="0">
                <a:solidFill>
                  <a:srgbClr val="595959"/>
                </a:solidFill>
              </a:rPr>
              <a:t>emptySequence</a:t>
            </a:r>
            <a:r>
              <a:rPr lang="en" sz="1100" dirty="0">
                <a:solidFill>
                  <a:srgbClr val="595959"/>
                </a:solidFill>
              </a:rPr>
              <a:t>&lt;Int&gt;() </a:t>
            </a:r>
            <a:r>
              <a:rPr lang="en" sz="1100" dirty="0">
                <a:solidFill>
                  <a:srgbClr val="666666"/>
                </a:solidFill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</a:rPr>
              <a:t>构建内部对象 </a:t>
            </a:r>
            <a:r>
              <a:rPr lang="en-US" sz="1100" dirty="0" err="1">
                <a:solidFill>
                  <a:srgbClr val="666666"/>
                </a:solidFill>
              </a:rPr>
              <a:t>EmptySequence</a:t>
            </a:r>
            <a:endParaRPr sz="11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595959"/>
                </a:solidFill>
              </a:rPr>
              <a:t> sequence2 = </a:t>
            </a:r>
            <a:r>
              <a:rPr lang="en" sz="1100" i="1" dirty="0">
                <a:solidFill>
                  <a:srgbClr val="595959"/>
                </a:solidFill>
              </a:rPr>
              <a:t>sequenceOf</a:t>
            </a:r>
            <a:r>
              <a:rPr lang="en" sz="1100" dirty="0">
                <a:solidFill>
                  <a:srgbClr val="595959"/>
                </a:solidFill>
              </a:rPr>
              <a:t>&lt;Int&gt;() </a:t>
            </a:r>
            <a:r>
              <a:rPr lang="en" sz="1100" dirty="0">
                <a:solidFill>
                  <a:srgbClr val="666666"/>
                </a:solidFill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</a:rPr>
              <a:t>调用 </a:t>
            </a:r>
            <a:r>
              <a:rPr lang="en-US" sz="1100" dirty="0" err="1">
                <a:solidFill>
                  <a:srgbClr val="666666"/>
                </a:solidFill>
              </a:rPr>
              <a:t>emptySequence</a:t>
            </a:r>
            <a:r>
              <a:rPr lang="en-US" sz="1100" dirty="0">
                <a:solidFill>
                  <a:srgbClr val="666666"/>
                </a:solidFill>
              </a:rPr>
              <a:t>()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595959"/>
                </a:solidFill>
              </a:rPr>
              <a:t> sequence3 = </a:t>
            </a:r>
            <a:r>
              <a:rPr lang="en" sz="1100" i="1" dirty="0">
                <a:solidFill>
                  <a:srgbClr val="595959"/>
                </a:solidFill>
              </a:rPr>
              <a:t>sequenceOf</a:t>
            </a:r>
            <a:r>
              <a:rPr lang="en" sz="1100" dirty="0">
                <a:solidFill>
                  <a:srgbClr val="595959"/>
                </a:solidFill>
              </a:rPr>
              <a:t>(1, 2, 3) </a:t>
            </a:r>
            <a:r>
              <a:rPr lang="en" sz="1100" dirty="0">
                <a:solidFill>
                  <a:srgbClr val="666666"/>
                </a:solidFill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</a:rPr>
              <a:t>类型可以被推断</a:t>
            </a:r>
            <a:endParaRPr sz="11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595959"/>
                </a:solidFill>
              </a:rPr>
              <a:t> sequence4 = </a:t>
            </a:r>
            <a:r>
              <a:rPr lang="en" sz="1100" i="1" dirty="0">
                <a:solidFill>
                  <a:srgbClr val="595959"/>
                </a:solidFill>
              </a:rPr>
              <a:t>sequence</a:t>
            </a:r>
            <a:r>
              <a:rPr lang="en" sz="1100" dirty="0">
                <a:solidFill>
                  <a:srgbClr val="595959"/>
                </a:solidFill>
              </a:rPr>
              <a:t> {</a:t>
            </a:r>
            <a:endParaRPr sz="1100" dirty="0">
              <a:solidFill>
                <a:srgbClr val="595959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666666"/>
                </a:solidFill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</a:rPr>
              <a:t>构建</a:t>
            </a:r>
            <a:r>
              <a:rPr lang="en" sz="1100" dirty="0">
                <a:solidFill>
                  <a:srgbClr val="666666"/>
                </a:solidFill>
              </a:rPr>
              <a:t> Sequence&lt;Int&gt;</a:t>
            </a:r>
            <a:endParaRPr sz="1100" dirty="0">
              <a:solidFill>
                <a:srgbClr val="666666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</a:rPr>
              <a:t>yield(1)</a:t>
            </a:r>
            <a:endParaRPr sz="1100" dirty="0">
              <a:solidFill>
                <a:srgbClr val="595959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</a:rPr>
              <a:t>yieldAll(</a:t>
            </a:r>
            <a:r>
              <a:rPr lang="en" sz="1100" i="1" dirty="0">
                <a:solidFill>
                  <a:srgbClr val="595959"/>
                </a:solidFill>
              </a:rPr>
              <a:t>listOf</a:t>
            </a:r>
            <a:r>
              <a:rPr lang="en" sz="1100" dirty="0">
                <a:solidFill>
                  <a:srgbClr val="595959"/>
                </a:solidFill>
              </a:rPr>
              <a:t>(2, 3))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595959"/>
                </a:solidFill>
              </a:rPr>
              <a:t>}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595959"/>
                </a:solidFill>
              </a:rPr>
              <a:t> sequence5 = </a:t>
            </a:r>
            <a:r>
              <a:rPr lang="en" sz="1100" i="1" dirty="0">
                <a:solidFill>
                  <a:srgbClr val="595959"/>
                </a:solidFill>
              </a:rPr>
              <a:t>generateSequence</a:t>
            </a:r>
            <a:r>
              <a:rPr lang="en" sz="1100" dirty="0">
                <a:solidFill>
                  <a:srgbClr val="595959"/>
                </a:solidFill>
              </a:rPr>
              <a:t>(1) { it + 2 } </a:t>
            </a:r>
            <a:r>
              <a:rPr lang="en" sz="1100" dirty="0">
                <a:solidFill>
                  <a:srgbClr val="666666"/>
                </a:solidFill>
              </a:rPr>
              <a:t>// </a:t>
            </a:r>
            <a:r>
              <a:rPr lang="en-US" sz="1100" dirty="0">
                <a:solidFill>
                  <a:srgbClr val="666666"/>
                </a:solidFill>
              </a:rPr>
              <a:t>`it` </a:t>
            </a:r>
            <a:r>
              <a:rPr lang="zh-CN" altLang="en-US" sz="1100" dirty="0">
                <a:solidFill>
                  <a:srgbClr val="666666"/>
                </a:solidFill>
              </a:rPr>
              <a:t>是前一个元素</a:t>
            </a:r>
            <a:endParaRPr sz="11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100" dirty="0">
                <a:solidFill>
                  <a:srgbClr val="595959"/>
                </a:solidFill>
              </a:rPr>
              <a:t>println(sequence5.take(5).toList()) </a:t>
            </a:r>
            <a:r>
              <a:rPr lang="en" sz="1100" dirty="0">
                <a:solidFill>
                  <a:srgbClr val="666666"/>
                </a:solidFill>
              </a:rPr>
              <a:t>// [1, 3, 5, 7, 9]</a:t>
            </a:r>
            <a:endParaRPr sz="1100" dirty="0">
              <a:solidFill>
                <a:srgbClr val="595959"/>
              </a:solidFill>
            </a:endParaRPr>
          </a:p>
        </p:txBody>
      </p:sp>
      <p:sp>
        <p:nvSpPr>
          <p:cNvPr id="241" name="Google Shape;241;p36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序列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595959"/>
                </a:solidFill>
              </a:rPr>
              <a:t> words = </a:t>
            </a:r>
            <a:r>
              <a:rPr lang="en" sz="1100" dirty="0">
                <a:solidFill>
                  <a:srgbClr val="008000"/>
                </a:solidFill>
              </a:rPr>
              <a:t>"The quick brown fox jumps over the lazy dog"</a:t>
            </a:r>
            <a:r>
              <a:rPr lang="en" sz="1100" dirty="0">
                <a:solidFill>
                  <a:srgbClr val="595959"/>
                </a:solidFill>
              </a:rPr>
              <a:t>.split(</a:t>
            </a:r>
            <a:r>
              <a:rPr lang="en" sz="1100" dirty="0">
                <a:solidFill>
                  <a:srgbClr val="008000"/>
                </a:solidFill>
              </a:rPr>
              <a:t>" "</a:t>
            </a:r>
            <a:r>
              <a:rPr lang="en" sz="1100" dirty="0">
                <a:solidFill>
                  <a:srgbClr val="595959"/>
                </a:solidFill>
              </a:rPr>
              <a:t>) </a:t>
            </a:r>
            <a:r>
              <a:rPr lang="en" sz="1100" dirty="0">
                <a:solidFill>
                  <a:srgbClr val="666666"/>
                </a:solidFill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</a:rPr>
              <a:t>返回一个</a:t>
            </a:r>
            <a:r>
              <a:rPr lang="zh-CN" altLang="en-US" sz="1100" b="1" dirty="0">
                <a:solidFill>
                  <a:srgbClr val="666666"/>
                </a:solidFill>
              </a:rPr>
              <a:t>列表</a:t>
            </a:r>
            <a:endParaRPr lang="en-US" altLang="zh-CN" sz="1100" b="1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595959"/>
                </a:solidFill>
              </a:rPr>
              <a:t> lengthsList = words.filter { println(</a:t>
            </a:r>
            <a:r>
              <a:rPr lang="en" sz="1100" dirty="0">
                <a:solidFill>
                  <a:srgbClr val="008000"/>
                </a:solidFill>
              </a:rPr>
              <a:t>"filter:</a:t>
            </a:r>
            <a:r>
              <a:rPr lang="en" sz="1100" dirty="0">
                <a:solidFill>
                  <a:srgbClr val="595959"/>
                </a:solidFill>
              </a:rPr>
              <a:t> $it</a:t>
            </a:r>
            <a:r>
              <a:rPr lang="en" sz="1100" dirty="0">
                <a:solidFill>
                  <a:srgbClr val="008000"/>
                </a:solidFill>
              </a:rPr>
              <a:t>"</a:t>
            </a:r>
            <a:r>
              <a:rPr lang="en" sz="1100" dirty="0">
                <a:solidFill>
                  <a:srgbClr val="595959"/>
                </a:solidFill>
              </a:rPr>
              <a:t>); it.length &gt; 3 }</a:t>
            </a:r>
            <a:endParaRPr sz="1100" dirty="0">
              <a:solidFill>
                <a:srgbClr val="595959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</a:rPr>
              <a:t>.map { println(</a:t>
            </a:r>
            <a:r>
              <a:rPr lang="en" sz="1100" dirty="0">
                <a:solidFill>
                  <a:srgbClr val="008000"/>
                </a:solidFill>
              </a:rPr>
              <a:t>"length: </a:t>
            </a:r>
            <a:r>
              <a:rPr lang="en" sz="1100" dirty="0">
                <a:solidFill>
                  <a:srgbClr val="595959"/>
                </a:solidFill>
              </a:rPr>
              <a:t>${it.length}</a:t>
            </a:r>
            <a:r>
              <a:rPr lang="en" sz="1100" dirty="0">
                <a:solidFill>
                  <a:srgbClr val="008000"/>
                </a:solidFill>
              </a:rPr>
              <a:t>"</a:t>
            </a:r>
            <a:r>
              <a:rPr lang="en" sz="1100" dirty="0">
                <a:solidFill>
                  <a:srgbClr val="595959"/>
                </a:solidFill>
              </a:rPr>
              <a:t>); it.length }</a:t>
            </a:r>
            <a:endParaRPr sz="1100" dirty="0">
              <a:solidFill>
                <a:srgbClr val="595959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</a:rPr>
              <a:t>.take(4)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</a:rPr>
              <a:t>println(</a:t>
            </a:r>
            <a:r>
              <a:rPr lang="en" sz="1100" dirty="0">
                <a:solidFill>
                  <a:srgbClr val="008000"/>
                </a:solidFill>
              </a:rPr>
              <a:t>"Lengths of first 4 words longer than 3 chars:"</a:t>
            </a:r>
            <a:r>
              <a:rPr lang="en" sz="1100" dirty="0">
                <a:solidFill>
                  <a:srgbClr val="595959"/>
                </a:solidFill>
              </a:rPr>
              <a:t>)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100" dirty="0">
                <a:solidFill>
                  <a:srgbClr val="595959"/>
                </a:solidFill>
              </a:rPr>
              <a:t>println(lengthsList)</a:t>
            </a:r>
            <a:endParaRPr sz="1100" dirty="0"/>
          </a:p>
        </p:txBody>
      </p:sp>
      <p:sp>
        <p:nvSpPr>
          <p:cNvPr id="247" name="Google Shape;247;p37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序列 </a:t>
            </a:r>
            <a:r>
              <a:rPr lang="en" dirty="0"/>
              <a:t>vs </a:t>
            </a:r>
            <a:r>
              <a:rPr lang="zh-CN" altLang="en-US" dirty="0"/>
              <a:t>列表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>
            <a:spLocks noGrp="1"/>
          </p:cNvSpPr>
          <p:nvPr>
            <p:ph type="body" idx="1"/>
          </p:nvPr>
        </p:nvSpPr>
        <p:spPr>
          <a:xfrm>
            <a:off x="292600" y="1335024"/>
            <a:ext cx="8328900" cy="354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595959"/>
                </a:solidFill>
              </a:rPr>
              <a:t> words = </a:t>
            </a:r>
            <a:r>
              <a:rPr lang="en" sz="1100" dirty="0">
                <a:solidFill>
                  <a:srgbClr val="008000"/>
                </a:solidFill>
              </a:rPr>
              <a:t>"The quick brown fox jumps over the lazy dog"</a:t>
            </a:r>
            <a:r>
              <a:rPr lang="en" sz="1100" dirty="0">
                <a:solidFill>
                  <a:srgbClr val="595959"/>
                </a:solidFill>
              </a:rPr>
              <a:t>.split(</a:t>
            </a:r>
            <a:r>
              <a:rPr lang="en" sz="1100" dirty="0">
                <a:solidFill>
                  <a:srgbClr val="008000"/>
                </a:solidFill>
              </a:rPr>
              <a:t>" "</a:t>
            </a:r>
            <a:r>
              <a:rPr lang="en" sz="1100" dirty="0">
                <a:solidFill>
                  <a:srgbClr val="595959"/>
                </a:solidFill>
              </a:rPr>
              <a:t>) </a:t>
            </a:r>
            <a:r>
              <a:rPr lang="en" sz="1100" dirty="0">
                <a:solidFill>
                  <a:srgbClr val="666666"/>
                </a:solidFill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</a:rPr>
              <a:t>返回一个</a:t>
            </a:r>
            <a:r>
              <a:rPr lang="zh-CN" altLang="en-US" sz="1100" b="1" dirty="0">
                <a:solidFill>
                  <a:srgbClr val="666666"/>
                </a:solidFill>
              </a:rPr>
              <a:t>列表</a:t>
            </a:r>
            <a:endParaRPr sz="1100" b="1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sz="1100" dirty="0">
              <a:solidFill>
                <a:srgbClr val="3F51B5"/>
              </a:solidFill>
            </a:endParaRPr>
          </a:p>
        </p:txBody>
      </p:sp>
      <p:sp>
        <p:nvSpPr>
          <p:cNvPr id="253" name="Google Shape;253;p38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序列 </a:t>
            </a:r>
            <a:r>
              <a:rPr lang="en-US" dirty="0"/>
              <a:t>vs </a:t>
            </a:r>
            <a:r>
              <a:rPr lang="zh-CN" altLang="en-US" dirty="0"/>
              <a:t>列表</a:t>
            </a:r>
            <a:endParaRPr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FF2C86B-6150-C0D5-B9CA-2BC4A4579986}"/>
              </a:ext>
            </a:extLst>
          </p:cNvPr>
          <p:cNvGrpSpPr/>
          <p:nvPr/>
        </p:nvGrpSpPr>
        <p:grpSpPr>
          <a:xfrm>
            <a:off x="260278" y="2198050"/>
            <a:ext cx="8702772" cy="1986225"/>
            <a:chOff x="260278" y="2198050"/>
            <a:chExt cx="8702772" cy="1986225"/>
          </a:xfrm>
        </p:grpSpPr>
        <p:sp>
          <p:nvSpPr>
            <p:cNvPr id="254" name="Google Shape;254;p38"/>
            <p:cNvSpPr/>
            <p:nvPr/>
          </p:nvSpPr>
          <p:spPr>
            <a:xfrm>
              <a:off x="292603" y="2576450"/>
              <a:ext cx="755100" cy="308100"/>
            </a:xfrm>
            <a:prstGeom prst="roundRect">
              <a:avLst>
                <a:gd name="adj" fmla="val 16667"/>
              </a:avLst>
            </a:prstGeom>
            <a:solidFill>
              <a:srgbClr val="E8E8E8"/>
            </a:solidFill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filter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55" name="Google Shape;255;p38"/>
            <p:cNvSpPr/>
            <p:nvPr/>
          </p:nvSpPr>
          <p:spPr>
            <a:xfrm>
              <a:off x="260278" y="3130550"/>
              <a:ext cx="755100" cy="308100"/>
            </a:xfrm>
            <a:prstGeom prst="roundRect">
              <a:avLst>
                <a:gd name="adj" fmla="val 16667"/>
              </a:avLst>
            </a:prstGeom>
            <a:solidFill>
              <a:srgbClr val="E8E8E8"/>
            </a:solidFill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map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56" name="Google Shape;256;p38"/>
            <p:cNvSpPr/>
            <p:nvPr/>
          </p:nvSpPr>
          <p:spPr>
            <a:xfrm>
              <a:off x="260278" y="3684650"/>
              <a:ext cx="755100" cy="308100"/>
            </a:xfrm>
            <a:prstGeom prst="roundRect">
              <a:avLst>
                <a:gd name="adj" fmla="val 16667"/>
              </a:avLst>
            </a:prstGeom>
            <a:solidFill>
              <a:srgbClr val="E8E8E8"/>
            </a:solidFill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take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57" name="Google Shape;257;p38"/>
            <p:cNvSpPr/>
            <p:nvPr/>
          </p:nvSpPr>
          <p:spPr>
            <a:xfrm>
              <a:off x="1111750" y="21980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The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58" name="Google Shape;258;p38"/>
            <p:cNvSpPr/>
            <p:nvPr/>
          </p:nvSpPr>
          <p:spPr>
            <a:xfrm>
              <a:off x="1959475" y="21980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quick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59" name="Google Shape;259;p38"/>
            <p:cNvSpPr/>
            <p:nvPr/>
          </p:nvSpPr>
          <p:spPr>
            <a:xfrm>
              <a:off x="2807200" y="21980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brown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60" name="Google Shape;260;p38"/>
            <p:cNvSpPr/>
            <p:nvPr/>
          </p:nvSpPr>
          <p:spPr>
            <a:xfrm>
              <a:off x="3654925" y="21980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fox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61" name="Google Shape;261;p38"/>
            <p:cNvSpPr/>
            <p:nvPr/>
          </p:nvSpPr>
          <p:spPr>
            <a:xfrm>
              <a:off x="4502650" y="21980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jumps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62" name="Google Shape;262;p38"/>
            <p:cNvSpPr/>
            <p:nvPr/>
          </p:nvSpPr>
          <p:spPr>
            <a:xfrm>
              <a:off x="5350375" y="21980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over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63" name="Google Shape;263;p38"/>
            <p:cNvSpPr/>
            <p:nvPr/>
          </p:nvSpPr>
          <p:spPr>
            <a:xfrm>
              <a:off x="6198100" y="21980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the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64" name="Google Shape;264;p38"/>
            <p:cNvSpPr/>
            <p:nvPr/>
          </p:nvSpPr>
          <p:spPr>
            <a:xfrm>
              <a:off x="7045825" y="21980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lazy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65" name="Google Shape;265;p38"/>
            <p:cNvSpPr/>
            <p:nvPr/>
          </p:nvSpPr>
          <p:spPr>
            <a:xfrm>
              <a:off x="7893550" y="21980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dog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cxnSp>
          <p:nvCxnSpPr>
            <p:cNvPr id="266" name="Google Shape;266;p38"/>
            <p:cNvCxnSpPr>
              <a:endCxn id="258" idx="1"/>
            </p:cNvCxnSpPr>
            <p:nvPr/>
          </p:nvCxnSpPr>
          <p:spPr>
            <a:xfrm>
              <a:off x="1809775" y="2351500"/>
              <a:ext cx="149700" cy="6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7" name="Google Shape;267;p38"/>
            <p:cNvCxnSpPr>
              <a:stCxn id="258" idx="3"/>
              <a:endCxn id="259" idx="1"/>
            </p:cNvCxnSpPr>
            <p:nvPr/>
          </p:nvCxnSpPr>
          <p:spPr>
            <a:xfrm>
              <a:off x="2657575" y="2352100"/>
              <a:ext cx="149700" cy="600"/>
            </a:xfrm>
            <a:prstGeom prst="curved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8" name="Google Shape;268;p38"/>
            <p:cNvCxnSpPr>
              <a:endCxn id="260" idx="1"/>
            </p:cNvCxnSpPr>
            <p:nvPr/>
          </p:nvCxnSpPr>
          <p:spPr>
            <a:xfrm>
              <a:off x="3505225" y="2351500"/>
              <a:ext cx="149700" cy="6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9" name="Google Shape;269;p38"/>
            <p:cNvCxnSpPr>
              <a:stCxn id="260" idx="3"/>
              <a:endCxn id="261" idx="1"/>
            </p:cNvCxnSpPr>
            <p:nvPr/>
          </p:nvCxnSpPr>
          <p:spPr>
            <a:xfrm>
              <a:off x="4353025" y="2352100"/>
              <a:ext cx="149700" cy="600"/>
            </a:xfrm>
            <a:prstGeom prst="curved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0" name="Google Shape;270;p38"/>
            <p:cNvCxnSpPr>
              <a:stCxn id="261" idx="3"/>
              <a:endCxn id="262" idx="1"/>
            </p:cNvCxnSpPr>
            <p:nvPr/>
          </p:nvCxnSpPr>
          <p:spPr>
            <a:xfrm>
              <a:off x="5200750" y="2352100"/>
              <a:ext cx="149700" cy="600"/>
            </a:xfrm>
            <a:prstGeom prst="curved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1" name="Google Shape;271;p38"/>
            <p:cNvCxnSpPr>
              <a:endCxn id="263" idx="1"/>
            </p:cNvCxnSpPr>
            <p:nvPr/>
          </p:nvCxnSpPr>
          <p:spPr>
            <a:xfrm>
              <a:off x="6048400" y="2351500"/>
              <a:ext cx="149700" cy="6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2" name="Google Shape;272;p38"/>
            <p:cNvCxnSpPr>
              <a:endCxn id="264" idx="1"/>
            </p:cNvCxnSpPr>
            <p:nvPr/>
          </p:nvCxnSpPr>
          <p:spPr>
            <a:xfrm>
              <a:off x="6896125" y="2351500"/>
              <a:ext cx="149700" cy="6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3" name="Google Shape;273;p38"/>
            <p:cNvCxnSpPr>
              <a:stCxn id="264" idx="3"/>
              <a:endCxn id="265" idx="1"/>
            </p:cNvCxnSpPr>
            <p:nvPr/>
          </p:nvCxnSpPr>
          <p:spPr>
            <a:xfrm>
              <a:off x="7743925" y="2352100"/>
              <a:ext cx="149700" cy="600"/>
            </a:xfrm>
            <a:prstGeom prst="curved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4" name="Google Shape;274;p38"/>
            <p:cNvSpPr/>
            <p:nvPr/>
          </p:nvSpPr>
          <p:spPr>
            <a:xfrm>
              <a:off x="1959475" y="275742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quick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cxnSp>
          <p:nvCxnSpPr>
            <p:cNvPr id="275" name="Google Shape;275;p38"/>
            <p:cNvCxnSpPr>
              <a:stCxn id="265" idx="3"/>
              <a:endCxn id="274" idx="1"/>
            </p:cNvCxnSpPr>
            <p:nvPr/>
          </p:nvCxnSpPr>
          <p:spPr>
            <a:xfrm flipH="1">
              <a:off x="1959550" y="2352100"/>
              <a:ext cx="6632100" cy="559500"/>
            </a:xfrm>
            <a:prstGeom prst="bentConnector5">
              <a:avLst>
                <a:gd name="adj1" fmla="val -1722"/>
                <a:gd name="adj2" fmla="val 49990"/>
                <a:gd name="adj3" fmla="val 103592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6" name="Google Shape;276;p38"/>
            <p:cNvSpPr/>
            <p:nvPr/>
          </p:nvSpPr>
          <p:spPr>
            <a:xfrm>
              <a:off x="2807200" y="275742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brown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77" name="Google Shape;277;p38"/>
            <p:cNvSpPr/>
            <p:nvPr/>
          </p:nvSpPr>
          <p:spPr>
            <a:xfrm>
              <a:off x="4502650" y="275742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jumps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78" name="Google Shape;278;p38"/>
            <p:cNvSpPr/>
            <p:nvPr/>
          </p:nvSpPr>
          <p:spPr>
            <a:xfrm>
              <a:off x="5341000" y="275742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over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79" name="Google Shape;279;p38"/>
            <p:cNvSpPr/>
            <p:nvPr/>
          </p:nvSpPr>
          <p:spPr>
            <a:xfrm>
              <a:off x="7045825" y="275742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lazy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80" name="Google Shape;280;p38"/>
            <p:cNvSpPr/>
            <p:nvPr/>
          </p:nvSpPr>
          <p:spPr>
            <a:xfrm>
              <a:off x="1959475" y="331680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5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81" name="Google Shape;281;p38"/>
            <p:cNvSpPr/>
            <p:nvPr/>
          </p:nvSpPr>
          <p:spPr>
            <a:xfrm>
              <a:off x="2807200" y="331680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5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82" name="Google Shape;282;p38"/>
            <p:cNvSpPr/>
            <p:nvPr/>
          </p:nvSpPr>
          <p:spPr>
            <a:xfrm>
              <a:off x="4502650" y="331680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5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83" name="Google Shape;283;p38"/>
            <p:cNvSpPr/>
            <p:nvPr/>
          </p:nvSpPr>
          <p:spPr>
            <a:xfrm>
              <a:off x="5341000" y="331680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4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84" name="Google Shape;284;p38"/>
            <p:cNvSpPr/>
            <p:nvPr/>
          </p:nvSpPr>
          <p:spPr>
            <a:xfrm>
              <a:off x="7045825" y="331680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4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85" name="Google Shape;285;p38"/>
            <p:cNvSpPr/>
            <p:nvPr/>
          </p:nvSpPr>
          <p:spPr>
            <a:xfrm>
              <a:off x="1959475" y="387617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5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86" name="Google Shape;286;p38"/>
            <p:cNvSpPr/>
            <p:nvPr/>
          </p:nvSpPr>
          <p:spPr>
            <a:xfrm>
              <a:off x="2807200" y="387617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5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87" name="Google Shape;287;p38"/>
            <p:cNvSpPr/>
            <p:nvPr/>
          </p:nvSpPr>
          <p:spPr>
            <a:xfrm>
              <a:off x="4502650" y="387617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5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288" name="Google Shape;288;p38"/>
            <p:cNvSpPr/>
            <p:nvPr/>
          </p:nvSpPr>
          <p:spPr>
            <a:xfrm>
              <a:off x="5341000" y="387617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4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cxnSp>
          <p:nvCxnSpPr>
            <p:cNvPr id="289" name="Google Shape;289;p38"/>
            <p:cNvCxnSpPr>
              <a:endCxn id="276" idx="1"/>
            </p:cNvCxnSpPr>
            <p:nvPr/>
          </p:nvCxnSpPr>
          <p:spPr>
            <a:xfrm>
              <a:off x="2657500" y="2910875"/>
              <a:ext cx="149700" cy="6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0" name="Google Shape;290;p38"/>
            <p:cNvCxnSpPr>
              <a:stCxn id="276" idx="3"/>
              <a:endCxn id="277" idx="1"/>
            </p:cNvCxnSpPr>
            <p:nvPr/>
          </p:nvCxnSpPr>
          <p:spPr>
            <a:xfrm>
              <a:off x="3505300" y="2911475"/>
              <a:ext cx="997500" cy="600"/>
            </a:xfrm>
            <a:prstGeom prst="bentConnector3">
              <a:avLst>
                <a:gd name="adj1" fmla="val 49992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1" name="Google Shape;291;p38"/>
            <p:cNvCxnSpPr>
              <a:endCxn id="278" idx="1"/>
            </p:cNvCxnSpPr>
            <p:nvPr/>
          </p:nvCxnSpPr>
          <p:spPr>
            <a:xfrm>
              <a:off x="5200600" y="2910875"/>
              <a:ext cx="140400" cy="6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2" name="Google Shape;292;p38"/>
            <p:cNvCxnSpPr>
              <a:stCxn id="278" idx="3"/>
              <a:endCxn id="279" idx="1"/>
            </p:cNvCxnSpPr>
            <p:nvPr/>
          </p:nvCxnSpPr>
          <p:spPr>
            <a:xfrm>
              <a:off x="6039100" y="2911475"/>
              <a:ext cx="1006800" cy="600"/>
            </a:xfrm>
            <a:prstGeom prst="bentConnector3">
              <a:avLst>
                <a:gd name="adj1" fmla="val 49996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3" name="Google Shape;293;p38"/>
            <p:cNvCxnSpPr>
              <a:stCxn id="279" idx="3"/>
              <a:endCxn id="280" idx="1"/>
            </p:cNvCxnSpPr>
            <p:nvPr/>
          </p:nvCxnSpPr>
          <p:spPr>
            <a:xfrm flipH="1">
              <a:off x="1959625" y="2911475"/>
              <a:ext cx="5784300" cy="559500"/>
            </a:xfrm>
            <a:prstGeom prst="bentConnector5">
              <a:avLst>
                <a:gd name="adj1" fmla="val -1974"/>
                <a:gd name="adj2" fmla="val 49990"/>
                <a:gd name="adj3" fmla="val 104119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4" name="Google Shape;294;p38"/>
            <p:cNvCxnSpPr>
              <a:endCxn id="281" idx="1"/>
            </p:cNvCxnSpPr>
            <p:nvPr/>
          </p:nvCxnSpPr>
          <p:spPr>
            <a:xfrm>
              <a:off x="2657500" y="3470250"/>
              <a:ext cx="149700" cy="6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5" name="Google Shape;295;p38"/>
            <p:cNvCxnSpPr>
              <a:stCxn id="281" idx="3"/>
              <a:endCxn id="282" idx="1"/>
            </p:cNvCxnSpPr>
            <p:nvPr/>
          </p:nvCxnSpPr>
          <p:spPr>
            <a:xfrm>
              <a:off x="3505300" y="3470850"/>
              <a:ext cx="997500" cy="600"/>
            </a:xfrm>
            <a:prstGeom prst="bentConnector3">
              <a:avLst>
                <a:gd name="adj1" fmla="val 49992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6" name="Google Shape;296;p38"/>
            <p:cNvCxnSpPr>
              <a:stCxn id="282" idx="3"/>
              <a:endCxn id="283" idx="1"/>
            </p:cNvCxnSpPr>
            <p:nvPr/>
          </p:nvCxnSpPr>
          <p:spPr>
            <a:xfrm>
              <a:off x="5200750" y="3470850"/>
              <a:ext cx="140400" cy="600"/>
            </a:xfrm>
            <a:prstGeom prst="bentConnector3">
              <a:avLst>
                <a:gd name="adj1" fmla="val 4994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7" name="Google Shape;297;p38"/>
            <p:cNvCxnSpPr>
              <a:stCxn id="283" idx="3"/>
              <a:endCxn id="284" idx="1"/>
            </p:cNvCxnSpPr>
            <p:nvPr/>
          </p:nvCxnSpPr>
          <p:spPr>
            <a:xfrm>
              <a:off x="6039100" y="3470850"/>
              <a:ext cx="1006800" cy="600"/>
            </a:xfrm>
            <a:prstGeom prst="bentConnector3">
              <a:avLst>
                <a:gd name="adj1" fmla="val 49996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8" name="Google Shape;298;p38"/>
            <p:cNvCxnSpPr>
              <a:stCxn id="284" idx="3"/>
              <a:endCxn id="285" idx="1"/>
            </p:cNvCxnSpPr>
            <p:nvPr/>
          </p:nvCxnSpPr>
          <p:spPr>
            <a:xfrm flipH="1">
              <a:off x="1959625" y="3470850"/>
              <a:ext cx="5784300" cy="559500"/>
            </a:xfrm>
            <a:prstGeom prst="bentConnector5">
              <a:avLst>
                <a:gd name="adj1" fmla="val -1974"/>
                <a:gd name="adj2" fmla="val 49990"/>
                <a:gd name="adj3" fmla="val 104119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9" name="Google Shape;299;p38"/>
            <p:cNvCxnSpPr>
              <a:stCxn id="285" idx="3"/>
              <a:endCxn id="286" idx="1"/>
            </p:cNvCxnSpPr>
            <p:nvPr/>
          </p:nvCxnSpPr>
          <p:spPr>
            <a:xfrm>
              <a:off x="2657575" y="4030225"/>
              <a:ext cx="149700" cy="600"/>
            </a:xfrm>
            <a:prstGeom prst="bent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00" name="Google Shape;300;p38"/>
            <p:cNvCxnSpPr>
              <a:stCxn id="286" idx="3"/>
              <a:endCxn id="287" idx="1"/>
            </p:cNvCxnSpPr>
            <p:nvPr/>
          </p:nvCxnSpPr>
          <p:spPr>
            <a:xfrm>
              <a:off x="3505300" y="4030225"/>
              <a:ext cx="997500" cy="600"/>
            </a:xfrm>
            <a:prstGeom prst="bentConnector3">
              <a:avLst>
                <a:gd name="adj1" fmla="val 49992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01" name="Google Shape;301;p38"/>
            <p:cNvCxnSpPr>
              <a:endCxn id="288" idx="1"/>
            </p:cNvCxnSpPr>
            <p:nvPr/>
          </p:nvCxnSpPr>
          <p:spPr>
            <a:xfrm>
              <a:off x="5200600" y="4029625"/>
              <a:ext cx="140400" cy="6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02" name="Google Shape;302;p38"/>
            <p:cNvSpPr txBox="1"/>
            <p:nvPr/>
          </p:nvSpPr>
          <p:spPr>
            <a:xfrm>
              <a:off x="7880350" y="2801975"/>
              <a:ext cx="1082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900" i="0" u="none" strike="noStrike" cap="none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it.length &gt; 3</a:t>
              </a:r>
              <a:endParaRPr sz="900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303" name="Google Shape;303;p38"/>
            <p:cNvSpPr txBox="1"/>
            <p:nvPr/>
          </p:nvSpPr>
          <p:spPr>
            <a:xfrm>
              <a:off x="7880350" y="3421500"/>
              <a:ext cx="1082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900" i="0" u="none" strike="noStrike" cap="none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it.length</a:t>
              </a:r>
              <a:endParaRPr sz="900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cxnSp>
          <p:nvCxnSpPr>
            <p:cNvPr id="304" name="Google Shape;304;p38"/>
            <p:cNvCxnSpPr>
              <a:stCxn id="254" idx="0"/>
              <a:endCxn id="257" idx="1"/>
            </p:cNvCxnSpPr>
            <p:nvPr/>
          </p:nvCxnSpPr>
          <p:spPr>
            <a:xfrm rot="-5400000">
              <a:off x="778753" y="2243450"/>
              <a:ext cx="224400" cy="4416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595959"/>
                </a:solidFill>
              </a:rPr>
              <a:t> words = </a:t>
            </a:r>
            <a:r>
              <a:rPr lang="en" sz="1100" dirty="0">
                <a:solidFill>
                  <a:srgbClr val="008000"/>
                </a:solidFill>
              </a:rPr>
              <a:t>"The quick brown fox jumps over the lazy dog"</a:t>
            </a:r>
            <a:r>
              <a:rPr lang="en" sz="1100" dirty="0">
                <a:solidFill>
                  <a:srgbClr val="595959"/>
                </a:solidFill>
              </a:rPr>
              <a:t>.split(</a:t>
            </a:r>
            <a:r>
              <a:rPr lang="en" sz="1100" dirty="0">
                <a:solidFill>
                  <a:srgbClr val="008000"/>
                </a:solidFill>
              </a:rPr>
              <a:t>" "</a:t>
            </a:r>
            <a:r>
              <a:rPr lang="en" sz="1100" dirty="0">
                <a:solidFill>
                  <a:srgbClr val="595959"/>
                </a:solidFill>
              </a:rPr>
              <a:t>) </a:t>
            </a:r>
            <a:r>
              <a:rPr lang="en" sz="1100" dirty="0">
                <a:solidFill>
                  <a:srgbClr val="666666"/>
                </a:solidFill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</a:rPr>
              <a:t>返回一个</a:t>
            </a:r>
            <a:r>
              <a:rPr lang="zh-CN" altLang="en-US" sz="1100" b="1" dirty="0">
                <a:solidFill>
                  <a:srgbClr val="666666"/>
                </a:solidFill>
              </a:rPr>
              <a:t>列表</a:t>
            </a:r>
            <a:endParaRPr sz="1100" b="1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666666"/>
                </a:solidFill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</a:rPr>
              <a:t>将列表转换为序列</a:t>
            </a:r>
            <a:endParaRPr sz="1100" dirty="0">
              <a:solidFill>
                <a:srgbClr val="3F51B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</a:rPr>
              <a:t>val </a:t>
            </a:r>
            <a:r>
              <a:rPr lang="en" sz="1100" dirty="0">
                <a:solidFill>
                  <a:srgbClr val="595959"/>
                </a:solidFill>
              </a:rPr>
              <a:t>wordsSequence = words.asSequence()</a:t>
            </a:r>
            <a:endParaRPr sz="1100" dirty="0">
              <a:solidFill>
                <a:srgbClr val="3F51B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595959"/>
                </a:solidFill>
              </a:rPr>
              <a:t> lengthsSequence = wordsSequence.filter { println(</a:t>
            </a:r>
            <a:r>
              <a:rPr lang="en" sz="1100" dirty="0">
                <a:solidFill>
                  <a:srgbClr val="008000"/>
                </a:solidFill>
              </a:rPr>
              <a:t>"filter:</a:t>
            </a:r>
            <a:r>
              <a:rPr lang="en" sz="1100" dirty="0">
                <a:solidFill>
                  <a:srgbClr val="595959"/>
                </a:solidFill>
              </a:rPr>
              <a:t> $it</a:t>
            </a:r>
            <a:r>
              <a:rPr lang="en" sz="1100" dirty="0">
                <a:solidFill>
                  <a:srgbClr val="008000"/>
                </a:solidFill>
              </a:rPr>
              <a:t>"</a:t>
            </a:r>
            <a:r>
              <a:rPr lang="en" sz="1100" dirty="0">
                <a:solidFill>
                  <a:srgbClr val="595959"/>
                </a:solidFill>
              </a:rPr>
              <a:t>); it.length &gt; 3 }</a:t>
            </a:r>
            <a:endParaRPr sz="1100" dirty="0">
              <a:solidFill>
                <a:srgbClr val="595959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</a:rPr>
              <a:t>.map { println(</a:t>
            </a:r>
            <a:r>
              <a:rPr lang="en" sz="1100" dirty="0">
                <a:solidFill>
                  <a:srgbClr val="008000"/>
                </a:solidFill>
              </a:rPr>
              <a:t>"length: </a:t>
            </a:r>
            <a:r>
              <a:rPr lang="en" sz="1100" dirty="0">
                <a:solidFill>
                  <a:srgbClr val="595959"/>
                </a:solidFill>
              </a:rPr>
              <a:t>${it.length}</a:t>
            </a:r>
            <a:r>
              <a:rPr lang="en" sz="1100" dirty="0">
                <a:solidFill>
                  <a:srgbClr val="008000"/>
                </a:solidFill>
              </a:rPr>
              <a:t>"</a:t>
            </a:r>
            <a:r>
              <a:rPr lang="en" sz="1100" dirty="0">
                <a:solidFill>
                  <a:srgbClr val="595959"/>
                </a:solidFill>
              </a:rPr>
              <a:t>); it.length }</a:t>
            </a:r>
            <a:endParaRPr sz="1100" dirty="0">
              <a:solidFill>
                <a:srgbClr val="595959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</a:rPr>
              <a:t>.take(4)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</a:rPr>
              <a:t>println(lengthsSequence) </a:t>
            </a:r>
            <a:r>
              <a:rPr lang="en" sz="1100" dirty="0">
                <a:solidFill>
                  <a:srgbClr val="666666"/>
                </a:solidFill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</a:rPr>
              <a:t>打印 </a:t>
            </a:r>
            <a:r>
              <a:rPr lang="en" sz="1100" dirty="0">
                <a:solidFill>
                  <a:srgbClr val="666666"/>
                </a:solidFill>
              </a:rPr>
              <a:t>`kotlin.sequences.TakeSequence@MEMORY_ADDR`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95959"/>
                </a:solidFill>
              </a:rPr>
              <a:t>println(</a:t>
            </a:r>
            <a:r>
              <a:rPr lang="en" sz="1100" dirty="0">
                <a:solidFill>
                  <a:srgbClr val="008000"/>
                </a:solidFill>
              </a:rPr>
              <a:t>"Lengths of first 4 words longer than 3 chars:"</a:t>
            </a:r>
            <a:r>
              <a:rPr lang="en" sz="1100" dirty="0">
                <a:solidFill>
                  <a:srgbClr val="595959"/>
                </a:solidFill>
              </a:rPr>
              <a:t>)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666666"/>
                </a:solidFill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</a:rPr>
              <a:t>终端操作：将结果转换为 </a:t>
            </a:r>
            <a:r>
              <a:rPr lang="en-US" altLang="zh-CN" sz="1100" dirty="0">
                <a:solidFill>
                  <a:srgbClr val="666666"/>
                </a:solidFill>
              </a:rPr>
              <a:t>List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100" dirty="0">
                <a:solidFill>
                  <a:srgbClr val="595959"/>
                </a:solidFill>
              </a:rPr>
              <a:t>println(lengthsSequence.toList()) </a:t>
            </a:r>
            <a:r>
              <a:rPr lang="en" sz="1100" dirty="0">
                <a:solidFill>
                  <a:srgbClr val="666666"/>
                </a:solidFill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</a:rPr>
              <a:t>顶部的代码被执行，随后打印 </a:t>
            </a:r>
            <a:r>
              <a:rPr lang="en-US" altLang="zh-CN" sz="1100" dirty="0">
                <a:solidFill>
                  <a:srgbClr val="666666"/>
                </a:solidFill>
              </a:rPr>
              <a:t>`[5, 5, 5, 4]`</a:t>
            </a:r>
            <a:endParaRPr sz="1100" dirty="0">
              <a:solidFill>
                <a:srgbClr val="3F51B5"/>
              </a:solidFill>
            </a:endParaRPr>
          </a:p>
        </p:txBody>
      </p:sp>
      <p:sp>
        <p:nvSpPr>
          <p:cNvPr id="310" name="Google Shape;310;p39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序列 </a:t>
            </a:r>
            <a:r>
              <a:rPr lang="en-US" dirty="0"/>
              <a:t>vs </a:t>
            </a:r>
            <a:r>
              <a:rPr lang="zh-CN" altLang="en-US" dirty="0"/>
              <a:t>列表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>
            <a:spLocks noGrp="1"/>
          </p:cNvSpPr>
          <p:nvPr>
            <p:ph type="body" idx="1"/>
          </p:nvPr>
        </p:nvSpPr>
        <p:spPr>
          <a:xfrm>
            <a:off x="292600" y="1335024"/>
            <a:ext cx="8328900" cy="6843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595959"/>
                </a:solidFill>
              </a:rPr>
              <a:t> words = </a:t>
            </a:r>
            <a:r>
              <a:rPr lang="en" sz="1100" dirty="0">
                <a:solidFill>
                  <a:srgbClr val="008000"/>
                </a:solidFill>
              </a:rPr>
              <a:t>"The quick brown fox jumps over the lazy dog"</a:t>
            </a:r>
            <a:r>
              <a:rPr lang="en" sz="1100" dirty="0">
                <a:solidFill>
                  <a:srgbClr val="595959"/>
                </a:solidFill>
              </a:rPr>
              <a:t>.split(</a:t>
            </a:r>
            <a:r>
              <a:rPr lang="en" sz="1100" dirty="0">
                <a:solidFill>
                  <a:srgbClr val="008000"/>
                </a:solidFill>
              </a:rPr>
              <a:t>" "</a:t>
            </a:r>
            <a:r>
              <a:rPr lang="en" sz="1100" dirty="0">
                <a:solidFill>
                  <a:srgbClr val="595959"/>
                </a:solidFill>
              </a:rPr>
              <a:t>) </a:t>
            </a:r>
            <a:r>
              <a:rPr lang="en" sz="1100" dirty="0">
                <a:solidFill>
                  <a:srgbClr val="666666"/>
                </a:solidFill>
              </a:rPr>
              <a:t>// </a:t>
            </a:r>
            <a:r>
              <a:rPr lang="zh-CN" altLang="en-US" sz="1100" dirty="0">
                <a:solidFill>
                  <a:srgbClr val="666666"/>
                </a:solidFill>
              </a:rPr>
              <a:t>返回一个</a:t>
            </a:r>
            <a:r>
              <a:rPr lang="zh-CN" altLang="en-US" sz="1100" b="1" dirty="0">
                <a:solidFill>
                  <a:srgbClr val="666666"/>
                </a:solidFill>
              </a:rPr>
              <a:t>列表</a:t>
            </a:r>
            <a:endParaRPr sz="1100" b="1" dirty="0">
              <a:solidFill>
                <a:srgbClr val="3F51B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100" dirty="0">
                <a:solidFill>
                  <a:srgbClr val="3F51B5"/>
                </a:solidFill>
              </a:rPr>
              <a:t>val </a:t>
            </a:r>
            <a:r>
              <a:rPr lang="en" sz="1100" dirty="0">
                <a:solidFill>
                  <a:srgbClr val="595959"/>
                </a:solidFill>
              </a:rPr>
              <a:t>wordsSequence = words.asSequence()</a:t>
            </a:r>
            <a:endParaRPr sz="1100" dirty="0">
              <a:solidFill>
                <a:srgbClr val="3F51B5"/>
              </a:solidFill>
            </a:endParaRPr>
          </a:p>
        </p:txBody>
      </p:sp>
      <p:sp>
        <p:nvSpPr>
          <p:cNvPr id="316" name="Google Shape;316;p40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序列 </a:t>
            </a:r>
            <a:r>
              <a:rPr lang="en-US" dirty="0"/>
              <a:t>vs </a:t>
            </a:r>
            <a:r>
              <a:rPr lang="zh-CN" altLang="en-US" dirty="0"/>
              <a:t>列表</a:t>
            </a:r>
            <a:endParaRPr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BF01E47-BD5B-80B0-1190-E74BF7A37389}"/>
              </a:ext>
            </a:extLst>
          </p:cNvPr>
          <p:cNvGrpSpPr/>
          <p:nvPr/>
        </p:nvGrpSpPr>
        <p:grpSpPr>
          <a:xfrm>
            <a:off x="260278" y="1949538"/>
            <a:ext cx="8723097" cy="2978312"/>
            <a:chOff x="260278" y="1949538"/>
            <a:chExt cx="8723097" cy="2978312"/>
          </a:xfrm>
        </p:grpSpPr>
        <p:sp>
          <p:nvSpPr>
            <p:cNvPr id="317" name="Google Shape;317;p40"/>
            <p:cNvSpPr/>
            <p:nvPr/>
          </p:nvSpPr>
          <p:spPr>
            <a:xfrm>
              <a:off x="292603" y="2957450"/>
              <a:ext cx="755100" cy="308100"/>
            </a:xfrm>
            <a:prstGeom prst="roundRect">
              <a:avLst>
                <a:gd name="adj" fmla="val 16667"/>
              </a:avLst>
            </a:prstGeom>
            <a:solidFill>
              <a:srgbClr val="E8E8E8"/>
            </a:solidFill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filter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18" name="Google Shape;318;p40"/>
            <p:cNvSpPr/>
            <p:nvPr/>
          </p:nvSpPr>
          <p:spPr>
            <a:xfrm>
              <a:off x="260278" y="3511550"/>
              <a:ext cx="755100" cy="308100"/>
            </a:xfrm>
            <a:prstGeom prst="roundRect">
              <a:avLst>
                <a:gd name="adj" fmla="val 16667"/>
              </a:avLst>
            </a:prstGeom>
            <a:solidFill>
              <a:srgbClr val="E8E8E8"/>
            </a:solidFill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map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19" name="Google Shape;319;p40"/>
            <p:cNvSpPr/>
            <p:nvPr/>
          </p:nvSpPr>
          <p:spPr>
            <a:xfrm>
              <a:off x="260278" y="4065650"/>
              <a:ext cx="755100" cy="308100"/>
            </a:xfrm>
            <a:prstGeom prst="roundRect">
              <a:avLst>
                <a:gd name="adj" fmla="val 16667"/>
              </a:avLst>
            </a:prstGeom>
            <a:solidFill>
              <a:srgbClr val="E8E8E8"/>
            </a:solidFill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take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20" name="Google Shape;320;p40"/>
            <p:cNvSpPr/>
            <p:nvPr/>
          </p:nvSpPr>
          <p:spPr>
            <a:xfrm>
              <a:off x="260278" y="4619750"/>
              <a:ext cx="755100" cy="308100"/>
            </a:xfrm>
            <a:prstGeom prst="roundRect">
              <a:avLst>
                <a:gd name="adj" fmla="val 16667"/>
              </a:avLst>
            </a:prstGeom>
            <a:solidFill>
              <a:srgbClr val="E8E8E8"/>
            </a:solidFill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toList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21" name="Google Shape;321;p40"/>
            <p:cNvSpPr/>
            <p:nvPr/>
          </p:nvSpPr>
          <p:spPr>
            <a:xfrm>
              <a:off x="1111750" y="25028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rgbClr val="FEDEDB"/>
            </a:solidFill>
            <a:ln w="9525" cap="flat" cmpd="sng">
              <a:solidFill>
                <a:srgbClr val="FEDED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The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22" name="Google Shape;322;p40"/>
            <p:cNvSpPr/>
            <p:nvPr/>
          </p:nvSpPr>
          <p:spPr>
            <a:xfrm>
              <a:off x="1959475" y="25028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quick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23" name="Google Shape;323;p40"/>
            <p:cNvSpPr/>
            <p:nvPr/>
          </p:nvSpPr>
          <p:spPr>
            <a:xfrm>
              <a:off x="2807200" y="25028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brown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24" name="Google Shape;324;p40"/>
            <p:cNvSpPr/>
            <p:nvPr/>
          </p:nvSpPr>
          <p:spPr>
            <a:xfrm>
              <a:off x="3654925" y="25028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rgbClr val="FEDEDB"/>
            </a:solidFill>
            <a:ln w="9525" cap="flat" cmpd="sng">
              <a:solidFill>
                <a:srgbClr val="FEDED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fox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25" name="Google Shape;325;p40"/>
            <p:cNvSpPr/>
            <p:nvPr/>
          </p:nvSpPr>
          <p:spPr>
            <a:xfrm>
              <a:off x="4502650" y="25028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jumps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26" name="Google Shape;326;p40"/>
            <p:cNvSpPr/>
            <p:nvPr/>
          </p:nvSpPr>
          <p:spPr>
            <a:xfrm>
              <a:off x="5350375" y="25028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over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27" name="Google Shape;327;p40"/>
            <p:cNvSpPr/>
            <p:nvPr/>
          </p:nvSpPr>
          <p:spPr>
            <a:xfrm>
              <a:off x="6198100" y="25028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rgbClr val="FEDEDB"/>
            </a:solidFill>
            <a:ln w="9525" cap="flat" cmpd="sng">
              <a:solidFill>
                <a:srgbClr val="FEDED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the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28" name="Google Shape;328;p40"/>
            <p:cNvSpPr/>
            <p:nvPr/>
          </p:nvSpPr>
          <p:spPr>
            <a:xfrm>
              <a:off x="7045825" y="25028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rgbClr val="FEDEDB"/>
            </a:solidFill>
            <a:ln w="9525" cap="flat" cmpd="sng">
              <a:solidFill>
                <a:srgbClr val="FEDED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lazy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29" name="Google Shape;329;p40"/>
            <p:cNvSpPr/>
            <p:nvPr/>
          </p:nvSpPr>
          <p:spPr>
            <a:xfrm>
              <a:off x="7893550" y="250285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rgbClr val="FEDEDB"/>
            </a:solidFill>
            <a:ln w="9525" cap="flat" cmpd="sng">
              <a:solidFill>
                <a:srgbClr val="FEDED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dog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30" name="Google Shape;330;p40"/>
            <p:cNvSpPr/>
            <p:nvPr/>
          </p:nvSpPr>
          <p:spPr>
            <a:xfrm>
              <a:off x="1959475" y="306222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quick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31" name="Google Shape;331;p40"/>
            <p:cNvSpPr/>
            <p:nvPr/>
          </p:nvSpPr>
          <p:spPr>
            <a:xfrm>
              <a:off x="2807200" y="306222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brown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32" name="Google Shape;332;p40"/>
            <p:cNvSpPr/>
            <p:nvPr/>
          </p:nvSpPr>
          <p:spPr>
            <a:xfrm>
              <a:off x="4502650" y="306222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jumps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33" name="Google Shape;333;p40"/>
            <p:cNvSpPr/>
            <p:nvPr/>
          </p:nvSpPr>
          <p:spPr>
            <a:xfrm>
              <a:off x="5350375" y="306222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over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34" name="Google Shape;334;p40"/>
            <p:cNvSpPr/>
            <p:nvPr/>
          </p:nvSpPr>
          <p:spPr>
            <a:xfrm>
              <a:off x="1959475" y="362160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5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35" name="Google Shape;335;p40"/>
            <p:cNvSpPr/>
            <p:nvPr/>
          </p:nvSpPr>
          <p:spPr>
            <a:xfrm>
              <a:off x="2807200" y="362160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5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36" name="Google Shape;336;p40"/>
            <p:cNvSpPr/>
            <p:nvPr/>
          </p:nvSpPr>
          <p:spPr>
            <a:xfrm>
              <a:off x="4502650" y="362160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5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37" name="Google Shape;337;p40"/>
            <p:cNvSpPr/>
            <p:nvPr/>
          </p:nvSpPr>
          <p:spPr>
            <a:xfrm>
              <a:off x="5350375" y="362160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4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38" name="Google Shape;338;p40"/>
            <p:cNvSpPr/>
            <p:nvPr/>
          </p:nvSpPr>
          <p:spPr>
            <a:xfrm>
              <a:off x="1959475" y="418097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5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39" name="Google Shape;339;p40"/>
            <p:cNvSpPr/>
            <p:nvPr/>
          </p:nvSpPr>
          <p:spPr>
            <a:xfrm>
              <a:off x="2807200" y="418097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5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40" name="Google Shape;340;p40"/>
            <p:cNvSpPr/>
            <p:nvPr/>
          </p:nvSpPr>
          <p:spPr>
            <a:xfrm>
              <a:off x="4502650" y="418097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5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41" name="Google Shape;341;p40"/>
            <p:cNvSpPr/>
            <p:nvPr/>
          </p:nvSpPr>
          <p:spPr>
            <a:xfrm>
              <a:off x="5350375" y="418097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4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cxnSp>
          <p:nvCxnSpPr>
            <p:cNvPr id="342" name="Google Shape;342;p40"/>
            <p:cNvCxnSpPr>
              <a:stCxn id="321" idx="3"/>
              <a:endCxn id="322" idx="1"/>
            </p:cNvCxnSpPr>
            <p:nvPr/>
          </p:nvCxnSpPr>
          <p:spPr>
            <a:xfrm>
              <a:off x="1809850" y="2656900"/>
              <a:ext cx="149700" cy="600"/>
            </a:xfrm>
            <a:prstGeom prst="bent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3" name="Google Shape;343;p40"/>
            <p:cNvCxnSpPr>
              <a:stCxn id="322" idx="2"/>
              <a:endCxn id="330" idx="0"/>
            </p:cNvCxnSpPr>
            <p:nvPr/>
          </p:nvCxnSpPr>
          <p:spPr>
            <a:xfrm rot="-5400000" flipH="1">
              <a:off x="2183125" y="2936350"/>
              <a:ext cx="251400" cy="600"/>
            </a:xfrm>
            <a:prstGeom prst="bent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4" name="Google Shape;344;p40"/>
            <p:cNvCxnSpPr>
              <a:stCxn id="330" idx="2"/>
              <a:endCxn id="334" idx="0"/>
            </p:cNvCxnSpPr>
            <p:nvPr/>
          </p:nvCxnSpPr>
          <p:spPr>
            <a:xfrm rot="-5400000" flipH="1">
              <a:off x="2183125" y="3495725"/>
              <a:ext cx="251400" cy="600"/>
            </a:xfrm>
            <a:prstGeom prst="bent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5" name="Google Shape;345;p40"/>
            <p:cNvCxnSpPr>
              <a:stCxn id="334" idx="2"/>
              <a:endCxn id="338" idx="0"/>
            </p:cNvCxnSpPr>
            <p:nvPr/>
          </p:nvCxnSpPr>
          <p:spPr>
            <a:xfrm rot="-5400000" flipH="1">
              <a:off x="2183125" y="4055100"/>
              <a:ext cx="251400" cy="600"/>
            </a:xfrm>
            <a:prstGeom prst="bent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6" name="Google Shape;346;p40"/>
            <p:cNvCxnSpPr>
              <a:stCxn id="338" idx="2"/>
              <a:endCxn id="323" idx="0"/>
            </p:cNvCxnSpPr>
            <p:nvPr/>
          </p:nvCxnSpPr>
          <p:spPr>
            <a:xfrm rot="-5400000">
              <a:off x="1739275" y="3072025"/>
              <a:ext cx="1986300" cy="847800"/>
            </a:xfrm>
            <a:prstGeom prst="bentConnector5">
              <a:avLst>
                <a:gd name="adj1" fmla="val -10751"/>
                <a:gd name="adj2" fmla="val 49996"/>
                <a:gd name="adj3" fmla="val 105639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7" name="Google Shape;347;p40"/>
            <p:cNvCxnSpPr>
              <a:stCxn id="323" idx="2"/>
              <a:endCxn id="331" idx="0"/>
            </p:cNvCxnSpPr>
            <p:nvPr/>
          </p:nvCxnSpPr>
          <p:spPr>
            <a:xfrm rot="-5400000" flipH="1">
              <a:off x="3030850" y="2936350"/>
              <a:ext cx="251400" cy="600"/>
            </a:xfrm>
            <a:prstGeom prst="bent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8" name="Google Shape;348;p40"/>
            <p:cNvCxnSpPr>
              <a:stCxn id="331" idx="2"/>
              <a:endCxn id="335" idx="0"/>
            </p:cNvCxnSpPr>
            <p:nvPr/>
          </p:nvCxnSpPr>
          <p:spPr>
            <a:xfrm rot="-5400000" flipH="1">
              <a:off x="3030850" y="3495725"/>
              <a:ext cx="251400" cy="600"/>
            </a:xfrm>
            <a:prstGeom prst="bent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9" name="Google Shape;349;p40"/>
            <p:cNvCxnSpPr>
              <a:stCxn id="335" idx="2"/>
              <a:endCxn id="339" idx="0"/>
            </p:cNvCxnSpPr>
            <p:nvPr/>
          </p:nvCxnSpPr>
          <p:spPr>
            <a:xfrm rot="-5400000" flipH="1">
              <a:off x="3030850" y="4055100"/>
              <a:ext cx="251400" cy="600"/>
            </a:xfrm>
            <a:prstGeom prst="bent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0" name="Google Shape;350;p40"/>
            <p:cNvCxnSpPr>
              <a:stCxn id="339" idx="2"/>
              <a:endCxn id="324" idx="0"/>
            </p:cNvCxnSpPr>
            <p:nvPr/>
          </p:nvCxnSpPr>
          <p:spPr>
            <a:xfrm rot="-5400000">
              <a:off x="2587000" y="3072025"/>
              <a:ext cx="1986300" cy="847800"/>
            </a:xfrm>
            <a:prstGeom prst="bentConnector5">
              <a:avLst>
                <a:gd name="adj1" fmla="val -10751"/>
                <a:gd name="adj2" fmla="val 49996"/>
                <a:gd name="adj3" fmla="val 105639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1" name="Google Shape;351;p40"/>
            <p:cNvCxnSpPr>
              <a:stCxn id="324" idx="3"/>
              <a:endCxn id="325" idx="1"/>
            </p:cNvCxnSpPr>
            <p:nvPr/>
          </p:nvCxnSpPr>
          <p:spPr>
            <a:xfrm>
              <a:off x="4353025" y="2656900"/>
              <a:ext cx="149700" cy="600"/>
            </a:xfrm>
            <a:prstGeom prst="bent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2" name="Google Shape;352;p40"/>
            <p:cNvCxnSpPr>
              <a:stCxn id="325" idx="2"/>
              <a:endCxn id="332" idx="0"/>
            </p:cNvCxnSpPr>
            <p:nvPr/>
          </p:nvCxnSpPr>
          <p:spPr>
            <a:xfrm rot="-5400000" flipH="1">
              <a:off x="4726300" y="2936350"/>
              <a:ext cx="251400" cy="600"/>
            </a:xfrm>
            <a:prstGeom prst="bent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3" name="Google Shape;353;p40"/>
            <p:cNvCxnSpPr>
              <a:stCxn id="332" idx="2"/>
              <a:endCxn id="336" idx="0"/>
            </p:cNvCxnSpPr>
            <p:nvPr/>
          </p:nvCxnSpPr>
          <p:spPr>
            <a:xfrm rot="-5400000" flipH="1">
              <a:off x="4726300" y="3495725"/>
              <a:ext cx="251400" cy="600"/>
            </a:xfrm>
            <a:prstGeom prst="bent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4" name="Google Shape;354;p40"/>
            <p:cNvCxnSpPr>
              <a:stCxn id="336" idx="2"/>
              <a:endCxn id="340" idx="0"/>
            </p:cNvCxnSpPr>
            <p:nvPr/>
          </p:nvCxnSpPr>
          <p:spPr>
            <a:xfrm rot="-5400000" flipH="1">
              <a:off x="4726300" y="4055100"/>
              <a:ext cx="251400" cy="600"/>
            </a:xfrm>
            <a:prstGeom prst="bent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5" name="Google Shape;355;p40"/>
            <p:cNvCxnSpPr>
              <a:stCxn id="340" idx="2"/>
              <a:endCxn id="326" idx="0"/>
            </p:cNvCxnSpPr>
            <p:nvPr/>
          </p:nvCxnSpPr>
          <p:spPr>
            <a:xfrm rot="-5400000">
              <a:off x="4282450" y="3072025"/>
              <a:ext cx="1986300" cy="847800"/>
            </a:xfrm>
            <a:prstGeom prst="bentConnector5">
              <a:avLst>
                <a:gd name="adj1" fmla="val -10751"/>
                <a:gd name="adj2" fmla="val 49996"/>
                <a:gd name="adj3" fmla="val 105639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6" name="Google Shape;356;p40"/>
            <p:cNvCxnSpPr>
              <a:stCxn id="326" idx="2"/>
              <a:endCxn id="333" idx="0"/>
            </p:cNvCxnSpPr>
            <p:nvPr/>
          </p:nvCxnSpPr>
          <p:spPr>
            <a:xfrm rot="-5400000" flipH="1">
              <a:off x="5574025" y="2936350"/>
              <a:ext cx="251400" cy="600"/>
            </a:xfrm>
            <a:prstGeom prst="bent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7" name="Google Shape;357;p40"/>
            <p:cNvCxnSpPr>
              <a:stCxn id="333" idx="2"/>
              <a:endCxn id="337" idx="0"/>
            </p:cNvCxnSpPr>
            <p:nvPr/>
          </p:nvCxnSpPr>
          <p:spPr>
            <a:xfrm rot="-5400000" flipH="1">
              <a:off x="5574025" y="3495725"/>
              <a:ext cx="251400" cy="600"/>
            </a:xfrm>
            <a:prstGeom prst="bent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8" name="Google Shape;358;p40"/>
            <p:cNvCxnSpPr>
              <a:stCxn id="337" idx="2"/>
              <a:endCxn id="341" idx="0"/>
            </p:cNvCxnSpPr>
            <p:nvPr/>
          </p:nvCxnSpPr>
          <p:spPr>
            <a:xfrm rot="-5400000" flipH="1">
              <a:off x="5574025" y="4055100"/>
              <a:ext cx="251400" cy="600"/>
            </a:xfrm>
            <a:prstGeom prst="bent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9" name="Google Shape;359;p40"/>
            <p:cNvCxnSpPr>
              <a:stCxn id="320" idx="3"/>
              <a:endCxn id="321" idx="2"/>
            </p:cNvCxnSpPr>
            <p:nvPr/>
          </p:nvCxnSpPr>
          <p:spPr>
            <a:xfrm rot="10800000" flipH="1">
              <a:off x="1015378" y="2810900"/>
              <a:ext cx="445500" cy="19629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0" name="Google Shape;360;p40"/>
            <p:cNvSpPr txBox="1"/>
            <p:nvPr/>
          </p:nvSpPr>
          <p:spPr>
            <a:xfrm>
              <a:off x="6110425" y="1949538"/>
              <a:ext cx="2774700" cy="369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CN" altLang="en-US" sz="8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按</a:t>
              </a:r>
              <a:r>
                <a:rPr lang="zh-CN" altLang="en-US" sz="800" b="1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顺序</a:t>
              </a:r>
              <a:r>
                <a:rPr lang="zh-CN" altLang="en-US" sz="8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处理，执行</a:t>
              </a:r>
              <a:r>
                <a:rPr lang="zh-CN" altLang="en-US" sz="800" b="1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所有</a:t>
              </a:r>
              <a:r>
                <a:rPr lang="zh-CN" altLang="en-US" sz="800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操作 </a:t>
              </a:r>
            </a:p>
          </p:txBody>
        </p:sp>
        <p:cxnSp>
          <p:nvCxnSpPr>
            <p:cNvPr id="361" name="Google Shape;361;p40"/>
            <p:cNvCxnSpPr>
              <a:stCxn id="360" idx="1"/>
              <a:endCxn id="322" idx="0"/>
            </p:cNvCxnSpPr>
            <p:nvPr/>
          </p:nvCxnSpPr>
          <p:spPr>
            <a:xfrm rot="10800000" flipV="1">
              <a:off x="2308525" y="2134188"/>
              <a:ext cx="3801900" cy="368661"/>
            </a:xfrm>
            <a:prstGeom prst="bentConnector2">
              <a:avLst/>
            </a:prstGeom>
            <a:noFill/>
            <a:ln w="9525" cap="flat" cmpd="sng">
              <a:solidFill>
                <a:srgbClr val="A3A3A4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362" name="Google Shape;362;p40"/>
            <p:cNvSpPr txBox="1"/>
            <p:nvPr/>
          </p:nvSpPr>
          <p:spPr>
            <a:xfrm>
              <a:off x="7141075" y="3312975"/>
              <a:ext cx="1842300" cy="326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altLang="en-US" sz="800" i="0" u="none" strike="noStrike" cap="none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不处理元素，因为我们</a:t>
              </a:r>
              <a:r>
                <a:rPr lang="zh-CN" altLang="en-US" sz="800" b="1" i="0" u="none" strike="noStrike" cap="none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已经</a:t>
              </a:r>
              <a:r>
                <a:rPr lang="zh-CN" altLang="en-US" sz="800" i="0" u="none" strike="noStrike" cap="none" dirty="0">
                  <a:solidFill>
                    <a:schemeClr val="dk1"/>
                  </a:solidFill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有四个了</a:t>
              </a:r>
              <a:endParaRPr sz="800" i="0" u="none" strike="noStrike" cap="none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cxnSp>
          <p:nvCxnSpPr>
            <p:cNvPr id="363" name="Google Shape;363;p40"/>
            <p:cNvCxnSpPr>
              <a:stCxn id="362" idx="0"/>
              <a:endCxn id="328" idx="2"/>
            </p:cNvCxnSpPr>
            <p:nvPr/>
          </p:nvCxnSpPr>
          <p:spPr>
            <a:xfrm rot="16200000" flipV="1">
              <a:off x="7477538" y="2728288"/>
              <a:ext cx="502025" cy="66735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A3A3A4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1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处理集合时可以使用</a:t>
            </a:r>
            <a:r>
              <a:rPr lang="zh-CN" altLang="en-US" sz="11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许多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不同的函数。如果你需要对集合进行某种操作，建议先在 </a:t>
            </a:r>
            <a:r>
              <a:rPr lang="en-US" altLang="zh-C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Google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上搜索一下。大多数情况下，标准库中已经包含了你所需的函数，例如：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public</a:t>
            </a:r>
            <a:r>
              <a:rPr lang="en" sz="1100" dirty="0">
                <a:solidFill>
                  <a:srgbClr val="595959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595959"/>
                </a:solidFill>
              </a:rPr>
              <a:t> &lt;T : Comparable&lt;T&gt;&gt; List&lt;T?&gt;.binarySearch(element: T?, fromIndex: Int = 0, toIndex: Int = size): Int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public</a:t>
            </a:r>
            <a:r>
              <a:rPr lang="en" sz="1100" dirty="0">
                <a:solidFill>
                  <a:srgbClr val="595959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actual</a:t>
            </a:r>
            <a:r>
              <a:rPr lang="en" sz="1100" dirty="0">
                <a:solidFill>
                  <a:srgbClr val="595959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595959"/>
                </a:solidFill>
              </a:rPr>
              <a:t> &lt;T : Comparable&lt;T&gt;&gt; MutableList&lt;T&gt;.sort(): Unit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public</a:t>
            </a:r>
            <a:r>
              <a:rPr lang="en" sz="1100" dirty="0">
                <a:solidFill>
                  <a:srgbClr val="595959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inline</a:t>
            </a:r>
            <a:r>
              <a:rPr lang="en" sz="1100" dirty="0">
                <a:solidFill>
                  <a:srgbClr val="595959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595959"/>
                </a:solidFill>
              </a:rPr>
              <a:t> &lt;T, K, V&gt; Iterable&lt;T&gt;.groupBy(keySelector: (T) -&gt; K, valueTransform: (T) -&gt; V): Map&lt;K, List&lt;V&gt;&gt;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public</a:t>
            </a:r>
            <a:r>
              <a:rPr lang="en" sz="1100" dirty="0">
                <a:solidFill>
                  <a:srgbClr val="595959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inline</a:t>
            </a:r>
            <a:r>
              <a:rPr lang="en" sz="1100" dirty="0">
                <a:solidFill>
                  <a:srgbClr val="595959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595959"/>
                </a:solidFill>
              </a:rPr>
              <a:t> &lt;T&gt; Iterable&lt;T&gt;.partition(predicate: (T) -&gt; Boolean): Pair&lt;List&lt;T&gt;, List&lt;T&gt;&gt;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100" dirty="0"/>
          </a:p>
        </p:txBody>
      </p:sp>
      <p:sp>
        <p:nvSpPr>
          <p:cNvPr id="369" name="Google Shape;369;p41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集合操作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8675100" cy="7092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exampleList = listOf(1, 2, 3, 4, 5, 6)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exampleList.chunked(2)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exampleList.chunked(2) { it.sum()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exampleList.windowed(2)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exampleList.drop(1).intersect(List(6) { it - 1 })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在未来的函数式编程课程中，我们将探讨更多操作。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379" name="Google Shape;379;p42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集合操作</a:t>
            </a:r>
            <a:endParaRPr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C12CBFA-0C23-B2A9-8220-AA29B7ADCE55}"/>
              </a:ext>
            </a:extLst>
          </p:cNvPr>
          <p:cNvGrpSpPr/>
          <p:nvPr/>
        </p:nvGrpSpPr>
        <p:grpSpPr>
          <a:xfrm>
            <a:off x="3981975" y="1337630"/>
            <a:ext cx="4936725" cy="308100"/>
            <a:chOff x="3981975" y="1337630"/>
            <a:chExt cx="4936725" cy="308100"/>
          </a:xfrm>
        </p:grpSpPr>
        <p:sp>
          <p:nvSpPr>
            <p:cNvPr id="380" name="Google Shape;380;p42"/>
            <p:cNvSpPr/>
            <p:nvPr/>
          </p:nvSpPr>
          <p:spPr>
            <a:xfrm>
              <a:off x="3981975" y="133763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1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81" name="Google Shape;381;p42"/>
            <p:cNvSpPr/>
            <p:nvPr/>
          </p:nvSpPr>
          <p:spPr>
            <a:xfrm>
              <a:off x="4829700" y="133763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2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82" name="Google Shape;382;p42"/>
            <p:cNvSpPr/>
            <p:nvPr/>
          </p:nvSpPr>
          <p:spPr>
            <a:xfrm>
              <a:off x="5677425" y="133763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3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83" name="Google Shape;383;p42"/>
            <p:cNvSpPr/>
            <p:nvPr/>
          </p:nvSpPr>
          <p:spPr>
            <a:xfrm>
              <a:off x="6525150" y="133763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4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84" name="Google Shape;384;p42"/>
            <p:cNvSpPr/>
            <p:nvPr/>
          </p:nvSpPr>
          <p:spPr>
            <a:xfrm>
              <a:off x="7372875" y="133763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5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85" name="Google Shape;385;p42"/>
            <p:cNvSpPr/>
            <p:nvPr/>
          </p:nvSpPr>
          <p:spPr>
            <a:xfrm>
              <a:off x="8220600" y="133763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6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cxnSp>
          <p:nvCxnSpPr>
            <p:cNvPr id="386" name="Google Shape;386;p42"/>
            <p:cNvCxnSpPr>
              <a:endCxn id="381" idx="1"/>
            </p:cNvCxnSpPr>
            <p:nvPr/>
          </p:nvCxnSpPr>
          <p:spPr>
            <a:xfrm>
              <a:off x="4680000" y="1491080"/>
              <a:ext cx="149700" cy="6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7" name="Google Shape;387;p42"/>
            <p:cNvCxnSpPr>
              <a:stCxn id="381" idx="3"/>
              <a:endCxn id="382" idx="1"/>
            </p:cNvCxnSpPr>
            <p:nvPr/>
          </p:nvCxnSpPr>
          <p:spPr>
            <a:xfrm>
              <a:off x="5527800" y="1491680"/>
              <a:ext cx="149700" cy="600"/>
            </a:xfrm>
            <a:prstGeom prst="curved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8" name="Google Shape;388;p42"/>
            <p:cNvCxnSpPr>
              <a:endCxn id="383" idx="1"/>
            </p:cNvCxnSpPr>
            <p:nvPr/>
          </p:nvCxnSpPr>
          <p:spPr>
            <a:xfrm>
              <a:off x="6375450" y="1491080"/>
              <a:ext cx="149700" cy="6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9" name="Google Shape;389;p42"/>
            <p:cNvCxnSpPr>
              <a:stCxn id="383" idx="3"/>
              <a:endCxn id="384" idx="1"/>
            </p:cNvCxnSpPr>
            <p:nvPr/>
          </p:nvCxnSpPr>
          <p:spPr>
            <a:xfrm>
              <a:off x="7223250" y="1491680"/>
              <a:ext cx="149700" cy="600"/>
            </a:xfrm>
            <a:prstGeom prst="curved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0" name="Google Shape;390;p42"/>
            <p:cNvCxnSpPr>
              <a:stCxn id="384" idx="3"/>
              <a:endCxn id="385" idx="1"/>
            </p:cNvCxnSpPr>
            <p:nvPr/>
          </p:nvCxnSpPr>
          <p:spPr>
            <a:xfrm>
              <a:off x="8070975" y="1491680"/>
              <a:ext cx="149700" cy="600"/>
            </a:xfrm>
            <a:prstGeom prst="curved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AB3C590-7C86-63E2-44FC-AC9974E3368D}"/>
              </a:ext>
            </a:extLst>
          </p:cNvPr>
          <p:cNvGrpSpPr/>
          <p:nvPr/>
        </p:nvGrpSpPr>
        <p:grpSpPr>
          <a:xfrm>
            <a:off x="3914804" y="1840133"/>
            <a:ext cx="5054650" cy="550125"/>
            <a:chOff x="3914804" y="1840133"/>
            <a:chExt cx="5054650" cy="550125"/>
          </a:xfrm>
        </p:grpSpPr>
        <p:sp>
          <p:nvSpPr>
            <p:cNvPr id="374" name="Google Shape;374;p42"/>
            <p:cNvSpPr/>
            <p:nvPr/>
          </p:nvSpPr>
          <p:spPr>
            <a:xfrm>
              <a:off x="7315554" y="1845158"/>
              <a:ext cx="1653900" cy="5451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75" name="Google Shape;375;p42"/>
            <p:cNvSpPr/>
            <p:nvPr/>
          </p:nvSpPr>
          <p:spPr>
            <a:xfrm>
              <a:off x="5615176" y="1840133"/>
              <a:ext cx="1653900" cy="5451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76" name="Google Shape;376;p42"/>
            <p:cNvSpPr/>
            <p:nvPr/>
          </p:nvSpPr>
          <p:spPr>
            <a:xfrm>
              <a:off x="3914804" y="1845158"/>
              <a:ext cx="1653900" cy="5451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91" name="Google Shape;391;p42"/>
            <p:cNvSpPr/>
            <p:nvPr/>
          </p:nvSpPr>
          <p:spPr>
            <a:xfrm>
              <a:off x="3981938" y="195893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1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92" name="Google Shape;392;p42"/>
            <p:cNvSpPr/>
            <p:nvPr/>
          </p:nvSpPr>
          <p:spPr>
            <a:xfrm>
              <a:off x="4829663" y="195893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2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93" name="Google Shape;393;p42"/>
            <p:cNvSpPr/>
            <p:nvPr/>
          </p:nvSpPr>
          <p:spPr>
            <a:xfrm>
              <a:off x="5677388" y="195893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3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94" name="Google Shape;394;p42"/>
            <p:cNvSpPr/>
            <p:nvPr/>
          </p:nvSpPr>
          <p:spPr>
            <a:xfrm>
              <a:off x="6525113" y="195893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4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95" name="Google Shape;395;p42"/>
            <p:cNvSpPr/>
            <p:nvPr/>
          </p:nvSpPr>
          <p:spPr>
            <a:xfrm>
              <a:off x="7372838" y="195893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5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396" name="Google Shape;396;p42"/>
            <p:cNvSpPr/>
            <p:nvPr/>
          </p:nvSpPr>
          <p:spPr>
            <a:xfrm>
              <a:off x="8220563" y="1958930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6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cxnSp>
          <p:nvCxnSpPr>
            <p:cNvPr id="397" name="Google Shape;397;p42"/>
            <p:cNvCxnSpPr>
              <a:endCxn id="392" idx="1"/>
            </p:cNvCxnSpPr>
            <p:nvPr/>
          </p:nvCxnSpPr>
          <p:spPr>
            <a:xfrm>
              <a:off x="4679963" y="2112380"/>
              <a:ext cx="149700" cy="6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8" name="Google Shape;398;p42"/>
            <p:cNvCxnSpPr>
              <a:endCxn id="394" idx="1"/>
            </p:cNvCxnSpPr>
            <p:nvPr/>
          </p:nvCxnSpPr>
          <p:spPr>
            <a:xfrm>
              <a:off x="6375413" y="2112380"/>
              <a:ext cx="149700" cy="6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Google Shape;399;p42"/>
            <p:cNvCxnSpPr>
              <a:stCxn id="395" idx="3"/>
              <a:endCxn id="396" idx="1"/>
            </p:cNvCxnSpPr>
            <p:nvPr/>
          </p:nvCxnSpPr>
          <p:spPr>
            <a:xfrm>
              <a:off x="8070938" y="2112980"/>
              <a:ext cx="149700" cy="600"/>
            </a:xfrm>
            <a:prstGeom prst="curved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BA2B972-A0DA-CBA5-3DF0-04465F72EFF5}"/>
              </a:ext>
            </a:extLst>
          </p:cNvPr>
          <p:cNvGrpSpPr/>
          <p:nvPr/>
        </p:nvGrpSpPr>
        <p:grpSpPr>
          <a:xfrm>
            <a:off x="3192676" y="3392175"/>
            <a:ext cx="5774900" cy="559275"/>
            <a:chOff x="3192676" y="3392175"/>
            <a:chExt cx="5774900" cy="559275"/>
          </a:xfrm>
        </p:grpSpPr>
        <p:sp>
          <p:nvSpPr>
            <p:cNvPr id="377" name="Google Shape;377;p42"/>
            <p:cNvSpPr/>
            <p:nvPr/>
          </p:nvSpPr>
          <p:spPr>
            <a:xfrm>
              <a:off x="3192676" y="3406350"/>
              <a:ext cx="1109100" cy="5451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00" name="Google Shape;400;p42"/>
            <p:cNvSpPr/>
            <p:nvPr/>
          </p:nvSpPr>
          <p:spPr>
            <a:xfrm>
              <a:off x="3259820" y="3520125"/>
              <a:ext cx="4203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1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01" name="Google Shape;401;p42"/>
            <p:cNvSpPr/>
            <p:nvPr/>
          </p:nvSpPr>
          <p:spPr>
            <a:xfrm>
              <a:off x="3809470" y="3524850"/>
              <a:ext cx="4203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2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02" name="Google Shape;402;p42"/>
            <p:cNvSpPr/>
            <p:nvPr/>
          </p:nvSpPr>
          <p:spPr>
            <a:xfrm>
              <a:off x="4359126" y="3401625"/>
              <a:ext cx="1109100" cy="5451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03" name="Google Shape;403;p42"/>
            <p:cNvSpPr/>
            <p:nvPr/>
          </p:nvSpPr>
          <p:spPr>
            <a:xfrm>
              <a:off x="4426270" y="3515400"/>
              <a:ext cx="4203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2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04" name="Google Shape;404;p42"/>
            <p:cNvSpPr/>
            <p:nvPr/>
          </p:nvSpPr>
          <p:spPr>
            <a:xfrm>
              <a:off x="4975920" y="3520125"/>
              <a:ext cx="4203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3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05" name="Google Shape;405;p42"/>
            <p:cNvSpPr/>
            <p:nvPr/>
          </p:nvSpPr>
          <p:spPr>
            <a:xfrm>
              <a:off x="5525576" y="3401625"/>
              <a:ext cx="1109100" cy="5451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06" name="Google Shape;406;p42"/>
            <p:cNvSpPr/>
            <p:nvPr/>
          </p:nvSpPr>
          <p:spPr>
            <a:xfrm>
              <a:off x="5592720" y="3515400"/>
              <a:ext cx="4203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3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07" name="Google Shape;407;p42"/>
            <p:cNvSpPr/>
            <p:nvPr/>
          </p:nvSpPr>
          <p:spPr>
            <a:xfrm>
              <a:off x="6142370" y="3520125"/>
              <a:ext cx="4203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4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08" name="Google Shape;408;p42"/>
            <p:cNvSpPr/>
            <p:nvPr/>
          </p:nvSpPr>
          <p:spPr>
            <a:xfrm>
              <a:off x="6692026" y="3396900"/>
              <a:ext cx="1109100" cy="5451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09" name="Google Shape;409;p42"/>
            <p:cNvSpPr/>
            <p:nvPr/>
          </p:nvSpPr>
          <p:spPr>
            <a:xfrm>
              <a:off x="6759170" y="3510675"/>
              <a:ext cx="4203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4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10" name="Google Shape;410;p42"/>
            <p:cNvSpPr/>
            <p:nvPr/>
          </p:nvSpPr>
          <p:spPr>
            <a:xfrm>
              <a:off x="7308820" y="3515400"/>
              <a:ext cx="4203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5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11" name="Google Shape;411;p42"/>
            <p:cNvSpPr/>
            <p:nvPr/>
          </p:nvSpPr>
          <p:spPr>
            <a:xfrm>
              <a:off x="7858476" y="3392175"/>
              <a:ext cx="1109100" cy="5451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12" name="Google Shape;412;p42"/>
            <p:cNvSpPr/>
            <p:nvPr/>
          </p:nvSpPr>
          <p:spPr>
            <a:xfrm>
              <a:off x="7925620" y="3505950"/>
              <a:ext cx="4203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5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13" name="Google Shape;413;p42"/>
            <p:cNvSpPr/>
            <p:nvPr/>
          </p:nvSpPr>
          <p:spPr>
            <a:xfrm>
              <a:off x="8475270" y="3510675"/>
              <a:ext cx="4203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6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5552B8F-C6EF-2D7C-5C0D-00D2698A6678}"/>
              </a:ext>
            </a:extLst>
          </p:cNvPr>
          <p:cNvGrpSpPr/>
          <p:nvPr/>
        </p:nvGrpSpPr>
        <p:grpSpPr>
          <a:xfrm>
            <a:off x="5568700" y="4248695"/>
            <a:ext cx="2393550" cy="308100"/>
            <a:chOff x="5568700" y="4248695"/>
            <a:chExt cx="2393550" cy="308100"/>
          </a:xfrm>
        </p:grpSpPr>
        <p:sp>
          <p:nvSpPr>
            <p:cNvPr id="414" name="Google Shape;414;p42"/>
            <p:cNvSpPr/>
            <p:nvPr/>
          </p:nvSpPr>
          <p:spPr>
            <a:xfrm>
              <a:off x="5568700" y="424869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2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15" name="Google Shape;415;p42"/>
            <p:cNvSpPr/>
            <p:nvPr/>
          </p:nvSpPr>
          <p:spPr>
            <a:xfrm>
              <a:off x="6416425" y="424869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3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16" name="Google Shape;416;p42"/>
            <p:cNvSpPr/>
            <p:nvPr/>
          </p:nvSpPr>
          <p:spPr>
            <a:xfrm>
              <a:off x="7264150" y="4248695"/>
              <a:ext cx="698100" cy="30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4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cxnSp>
          <p:nvCxnSpPr>
            <p:cNvPr id="417" name="Google Shape;417;p42"/>
            <p:cNvCxnSpPr>
              <a:stCxn id="414" idx="3"/>
              <a:endCxn id="415" idx="1"/>
            </p:cNvCxnSpPr>
            <p:nvPr/>
          </p:nvCxnSpPr>
          <p:spPr>
            <a:xfrm>
              <a:off x="6266800" y="4402745"/>
              <a:ext cx="149700" cy="600"/>
            </a:xfrm>
            <a:prstGeom prst="curved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8" name="Google Shape;418;p42"/>
            <p:cNvCxnSpPr>
              <a:stCxn id="415" idx="3"/>
              <a:endCxn id="416" idx="1"/>
            </p:cNvCxnSpPr>
            <p:nvPr/>
          </p:nvCxnSpPr>
          <p:spPr>
            <a:xfrm>
              <a:off x="7114525" y="4402745"/>
              <a:ext cx="149700" cy="600"/>
            </a:xfrm>
            <a:prstGeom prst="curvedConnector3">
              <a:avLst>
                <a:gd name="adj1" fmla="val 4997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93E8922-5240-07C1-9EE5-614926DE74F8}"/>
              </a:ext>
            </a:extLst>
          </p:cNvPr>
          <p:cNvGrpSpPr/>
          <p:nvPr/>
        </p:nvGrpSpPr>
        <p:grpSpPr>
          <a:xfrm>
            <a:off x="3914804" y="2554546"/>
            <a:ext cx="5054650" cy="550125"/>
            <a:chOff x="3914804" y="2554546"/>
            <a:chExt cx="5054650" cy="550125"/>
          </a:xfrm>
        </p:grpSpPr>
        <p:sp>
          <p:nvSpPr>
            <p:cNvPr id="419" name="Google Shape;419;p42"/>
            <p:cNvSpPr/>
            <p:nvPr/>
          </p:nvSpPr>
          <p:spPr>
            <a:xfrm>
              <a:off x="7315554" y="2559571"/>
              <a:ext cx="1653900" cy="5451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11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20" name="Google Shape;420;p42"/>
            <p:cNvSpPr/>
            <p:nvPr/>
          </p:nvSpPr>
          <p:spPr>
            <a:xfrm>
              <a:off x="5615176" y="2554546"/>
              <a:ext cx="1653900" cy="5451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7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  <p:sp>
          <p:nvSpPr>
            <p:cNvPr id="421" name="Google Shape;421;p42"/>
            <p:cNvSpPr/>
            <p:nvPr/>
          </p:nvSpPr>
          <p:spPr>
            <a:xfrm>
              <a:off x="3914804" y="2559571"/>
              <a:ext cx="1653900" cy="5451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HONOR Sans CN" panose="02000500000000000000" pitchFamily="2" charset="-122"/>
                  <a:ea typeface="HONOR Sans CN" panose="02000500000000000000" pitchFamily="2" charset="-122"/>
                  <a:cs typeface="Open Sans"/>
                  <a:sym typeface="Open Sans"/>
                </a:rPr>
                <a:t>3</a:t>
              </a:r>
              <a:endParaRPr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3"/>
          <p:cNvSpPr txBox="1"/>
          <p:nvPr/>
        </p:nvSpPr>
        <p:spPr>
          <a:xfrm>
            <a:off x="276225" y="285750"/>
            <a:ext cx="7153200" cy="19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 b="0" i="0" u="none" strike="noStrike" cap="none" dirty="0">
                <a:solidFill>
                  <a:schemeClr val="lt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Thanks!</a:t>
            </a:r>
            <a:endParaRPr sz="4800" b="0" i="0" u="none" strike="noStrike" cap="none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sp>
        <p:nvSpPr>
          <p:cNvPr id="427" name="Google Shape;427;p43">
            <a:hlinkClick r:id="rId3"/>
          </p:cNvPr>
          <p:cNvSpPr txBox="1"/>
          <p:nvPr/>
        </p:nvSpPr>
        <p:spPr>
          <a:xfrm>
            <a:off x="238875" y="4469150"/>
            <a:ext cx="216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@kotlin</a:t>
            </a:r>
            <a:endParaRPr sz="17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sp>
        <p:nvSpPr>
          <p:cNvPr id="428" name="Google Shape;428;p43"/>
          <p:cNvSpPr txBox="1"/>
          <p:nvPr/>
        </p:nvSpPr>
        <p:spPr>
          <a:xfrm>
            <a:off x="1079350" y="4469150"/>
            <a:ext cx="39678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|  Developed by JetBrains </a:t>
            </a:r>
            <a:endParaRPr sz="17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 White Theme">
  <a:themeElements>
    <a:clrScheme name="Simple Light">
      <a:dk1>
        <a:srgbClr val="000000"/>
      </a:dk1>
      <a:lt1>
        <a:srgbClr val="FFFFFF"/>
      </a:lt1>
      <a:dk2>
        <a:srgbClr val="27282C"/>
      </a:dk2>
      <a:lt2>
        <a:srgbClr val="000000"/>
      </a:lt2>
      <a:accent1>
        <a:srgbClr val="28B8A0"/>
      </a:accent1>
      <a:accent2>
        <a:srgbClr val="FC801D"/>
      </a:accent2>
      <a:accent3>
        <a:srgbClr val="FF318C"/>
      </a:accent3>
      <a:accent4>
        <a:srgbClr val="6B57FF"/>
      </a:accent4>
      <a:accent5>
        <a:srgbClr val="087CFA"/>
      </a:accent5>
      <a:accent6>
        <a:srgbClr val="000000"/>
      </a:accent6>
      <a:hlink>
        <a:srgbClr val="FF31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8107</Words>
  <PresentationFormat>全屏显示(16:9)</PresentationFormat>
  <Paragraphs>824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0" baseType="lpstr">
      <vt:lpstr>Open Sans</vt:lpstr>
      <vt:lpstr>JetBrains Mono</vt:lpstr>
      <vt:lpstr>HONOR Sans CN</vt:lpstr>
      <vt:lpstr>Inter</vt:lpstr>
      <vt:lpstr>Arial</vt:lpstr>
      <vt:lpstr>Raleway</vt:lpstr>
      <vt:lpstr>Standard White Theme</vt:lpstr>
      <vt:lpstr>PowerPoint 演示文稿</vt:lpstr>
      <vt:lpstr>什么是集合？</vt:lpstr>
      <vt:lpstr>如何使用它们？</vt:lpstr>
      <vt:lpstr>集合的分类</vt:lpstr>
      <vt:lpstr>集合的分类</vt:lpstr>
      <vt:lpstr>可迭代对象</vt:lpstr>
      <vt:lpstr>可迭代对象</vt:lpstr>
      <vt:lpstr>可迭代对象 vs 可变迭代对象</vt:lpstr>
      <vt:lpstr>不同类型的集合</vt:lpstr>
      <vt:lpstr>可变集合 ≠ 可变变量</vt:lpstr>
      <vt:lpstr>集合的结构</vt:lpstr>
      <vt:lpstr>集合的结构</vt:lpstr>
      <vt:lpstr>集合的结构</vt:lpstr>
      <vt:lpstr>集合内部原理：列表</vt:lpstr>
      <vt:lpstr>集合内部原理：列表</vt:lpstr>
      <vt:lpstr>集合内部原理：去重集合</vt:lpstr>
      <vt:lpstr>集合内部原理：去重集合</vt:lpstr>
      <vt:lpstr>集合内部原理：去重集合</vt:lpstr>
      <vt:lpstr>集合内部原理：去重集合</vt:lpstr>
      <vt:lpstr>集合内部原理：映射</vt:lpstr>
      <vt:lpstr>集合内部原理：映射</vt:lpstr>
      <vt:lpstr>数组</vt:lpstr>
      <vt:lpstr>数组</vt:lpstr>
      <vt:lpstr>区间</vt:lpstr>
      <vt:lpstr>序列</vt:lpstr>
      <vt:lpstr>序列</vt:lpstr>
      <vt:lpstr>序列 vs 列表</vt:lpstr>
      <vt:lpstr>序列 vs 列表</vt:lpstr>
      <vt:lpstr>序列 vs 列表</vt:lpstr>
      <vt:lpstr>序列 vs 列表</vt:lpstr>
      <vt:lpstr>集合操作</vt:lpstr>
      <vt:lpstr>集合操作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modified xsi:type="dcterms:W3CDTF">2026-05-03T14:21:48Z</dcterms:modified>
</cp:coreProperties>
</file>