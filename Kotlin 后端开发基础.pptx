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5143500" type="screen16x9"/>
  <p:notesSz cx="6858000" cy="9144000"/>
  <p:embeddedFontLst>
    <p:embeddedFont>
      <p:font typeface="JetBrains Mono" panose="020B0604020202020204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62" autoAdjust="0"/>
  </p:normalViewPr>
  <p:slideViewPr>
    <p:cSldViewPr snapToGrid="0">
      <p:cViewPr varScale="1">
        <p:scale>
          <a:sx n="148" d="100"/>
          <a:sy n="148" d="100"/>
        </p:scale>
        <p:origin x="78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server-overview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Overview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5491a8b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5491a8b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5491a8b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5491a8b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5491a8b4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5491a8b4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5491a8b4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5491a8b4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5491a8b4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5491a8b4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5491a8b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5491a8b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5491a8b4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5491a8b4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4cef992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4cef992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4cef9923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4cef9923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4cef9923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4cef9923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4cef992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4cef992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4cef9923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4cef9923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4cef9923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4cef9923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4cef9923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4cef9923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4cef9923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4cef9923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4cef9923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4cef9923f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4cef9923f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4cef9923f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4cef9923f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4cef9923f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4cef9923f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4cef9923f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4cef9923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4cef9923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4cef9923f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4cef9923f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4cef9923f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4cef9923f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4cef9923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54cef9923f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4cef9923f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4cef9923f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4cef9923f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4cef9923f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4cef9923f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4cef9923f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4cef9923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4cef9923f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4cef9923f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4cef9923f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4cef9923f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4cef9923f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4cef9923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4cef9923f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4cef9923f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4cef9923f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4cef9923f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4cef9923f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4cef9923f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4cef9923f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4cef9923f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54cef9923f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4cef9923f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54cef9923f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4cef9923f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54cef9923f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4cef9923f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4cef9923f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4cef9923f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4cef9923f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4cef9923f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4cef9923f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4cef9923f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54cef9923f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4cef9923f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54cef9923f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4cef9923f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54cef9923f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4cef9923f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54cef9923f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54cef9923f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54cef9923f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4cef9923f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54cef9923f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4cef9923f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4cef9923f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4cef9923f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54cef9923f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4cef9923f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54cef9923f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4cef9923f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54cef9923f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4cef9923f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54cef9923f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54cef9923f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54cef9923f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4cef9923f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54cef9923f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54cef9923f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54cef9923f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4cef9923f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54cef9923f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54cef9923f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54cef9923f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54cef9923f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54cef9923f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etBrains Mono"/>
              <a:buNone/>
              <a:defRPr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etBrains Mono"/>
              <a:buChar char="●"/>
              <a:defRPr sz="1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○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■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●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○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■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●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○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■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t.ktor.io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TP/Guides/Content_negotiation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TP/Guides/Authentication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ktor.io/docs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tart.ktor.io/" TargetMode="External"/><Relationship Id="rId5" Type="http://schemas.openxmlformats.org/officeDocument/2006/relationships/hyperlink" Target="https://github.com/ktorio/ktor-samples" TargetMode="External"/><Relationship Id="rId4" Type="http://schemas.openxmlformats.org/officeDocument/2006/relationships/hyperlink" Target="https://github.com/ktorio/k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Kotlin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后端开发</a:t>
            </a:r>
            <a:endParaRPr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网络基础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3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计算机网络</a:t>
            </a:r>
            <a:r>
              <a:rPr lang="zh-CN" altLang="en-US" sz="1300" dirty="0">
                <a:solidFill>
                  <a:srgbClr val="3B3B3B"/>
                </a:solidFill>
                <a:highlight>
                  <a:srgbClr val="FFFFFF"/>
                </a:highlight>
              </a:rPr>
              <a:t>：使计算机能够相互通信的</a:t>
            </a:r>
            <a:r>
              <a:rPr lang="zh-CN" altLang="en-US" sz="13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系统</a:t>
            </a:r>
            <a:endParaRPr sz="1300" dirty="0">
              <a:solidFill>
                <a:schemeClr val="accent5">
                  <a:lumMod val="75000"/>
                </a:schemeClr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/>
              <a:t>互联网协议（</a:t>
            </a:r>
            <a:r>
              <a:rPr lang="en-US" altLang="zh-CN" sz="1100" b="1" dirty="0"/>
              <a:t>IP</a:t>
            </a:r>
            <a:r>
              <a:rPr lang="zh-CN" altLang="en-US" sz="1100" b="1" dirty="0"/>
              <a:t>）</a:t>
            </a:r>
            <a:r>
              <a:rPr lang="zh-CN" altLang="en-US" sz="1100" dirty="0"/>
              <a:t>：用于识别计算机的系统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/>
              <a:t>端口：</a:t>
            </a:r>
            <a:r>
              <a:rPr lang="zh-CN" altLang="en-US" sz="1100" dirty="0"/>
              <a:t>计算机上的通信通道（</a:t>
            </a:r>
            <a:r>
              <a:rPr lang="en-US" altLang="zh-CN" sz="1100" dirty="0"/>
              <a:t>0-65535</a:t>
            </a:r>
            <a:r>
              <a:rPr lang="zh-CN" altLang="en-US" sz="1100" b="1" dirty="0"/>
              <a:t>）</a:t>
            </a:r>
            <a:endParaRPr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连接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- 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连接</a:t>
            </a:r>
            <a:r>
              <a:rPr lang="zh-CN" altLang="en-US" sz="1200" dirty="0"/>
              <a:t>：两个程序之间的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</a:rPr>
              <a:t>通信</a:t>
            </a:r>
            <a:r>
              <a:rPr lang="zh-CN" altLang="en-US" sz="1200" dirty="0"/>
              <a:t>通道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/>
              <a:t>  </a:t>
            </a:r>
            <a:r>
              <a:rPr lang="en-US" altLang="zh-CN" sz="1200" dirty="0"/>
              <a:t>- 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</a:rPr>
              <a:t>类似于</a:t>
            </a:r>
            <a:r>
              <a:rPr lang="zh-CN" altLang="en-US" sz="1200" dirty="0"/>
              <a:t>两台计算机之间的电话通话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- 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连接信息</a:t>
            </a:r>
            <a:r>
              <a:rPr lang="zh-CN" altLang="en-US" sz="1200" dirty="0"/>
              <a:t>：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/>
              <a:t>  </a:t>
            </a:r>
            <a:r>
              <a:rPr lang="en-US" altLang="zh-CN" sz="1200" dirty="0"/>
              <a:t>- 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</a:rPr>
              <a:t>源 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</a:rPr>
              <a:t>IP</a:t>
            </a:r>
            <a:r>
              <a:rPr lang="en-US" altLang="zh-CN" sz="1200" dirty="0"/>
              <a:t> </a:t>
            </a:r>
            <a:r>
              <a:rPr lang="zh-CN" altLang="en-US" sz="1200" dirty="0"/>
              <a:t>和端口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/>
              <a:t>  </a:t>
            </a:r>
            <a:r>
              <a:rPr lang="en-US" altLang="zh-CN" sz="1200" dirty="0"/>
              <a:t>- 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</a:rPr>
              <a:t>目标 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</a:rPr>
              <a:t>IP </a:t>
            </a:r>
            <a:r>
              <a:rPr lang="zh-CN" altLang="en-US" sz="1200" dirty="0"/>
              <a:t>和端口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- 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TCP 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协议</a:t>
            </a:r>
            <a:r>
              <a:rPr lang="zh-CN" altLang="en-US" sz="1200" dirty="0"/>
              <a:t>：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</a:rPr>
              <a:t>可靠</a:t>
            </a:r>
            <a:r>
              <a:rPr lang="zh-CN" altLang="en-US" sz="1200" dirty="0"/>
              <a:t>、有序的传输</a:t>
            </a:r>
            <a:endParaRPr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IPv4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200" b="1" dirty="0">
                <a:solidFill>
                  <a:srgbClr val="3B3B3B"/>
                </a:solidFill>
                <a:highlight>
                  <a:srgbClr val="FFFFFF"/>
                </a:highlight>
              </a:rPr>
              <a:t>互联网协议地址（</a:t>
            </a:r>
            <a:r>
              <a:rPr lang="en-US" altLang="zh-CN" sz="1200" b="1" dirty="0">
                <a:solidFill>
                  <a:srgbClr val="3B3B3B"/>
                </a:solidFill>
                <a:highlight>
                  <a:srgbClr val="FFFFFF"/>
                </a:highlight>
              </a:rPr>
              <a:t>IP </a:t>
            </a:r>
            <a:r>
              <a:rPr lang="zh-CN" altLang="en-US" sz="1200" b="1" dirty="0">
                <a:solidFill>
                  <a:srgbClr val="3B3B3B"/>
                </a:solidFill>
                <a:highlight>
                  <a:srgbClr val="FFFFFF"/>
                </a:highlight>
              </a:rPr>
              <a:t>地址）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altLang="zh-CN" sz="1200" b="1" dirty="0" err="1">
                <a:solidFill>
                  <a:srgbClr val="098658"/>
                </a:solidFill>
                <a:highlight>
                  <a:srgbClr val="FFFFFF"/>
                </a:highlight>
              </a:rPr>
              <a:t>x.x.x.x</a:t>
            </a:r>
            <a:r>
              <a:rPr lang="zh-CN" altLang="en-US" sz="1200" b="1" dirty="0">
                <a:solidFill>
                  <a:srgbClr val="3B3B3B"/>
                </a:solidFill>
                <a:highlight>
                  <a:srgbClr val="FFFFFF"/>
                </a:highlight>
              </a:rPr>
              <a:t>（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地址结构</a:t>
            </a:r>
            <a:r>
              <a:rPr lang="zh-CN" altLang="en-US" sz="1200" b="1" dirty="0">
                <a:solidFill>
                  <a:srgbClr val="3B3B3B"/>
                </a:solidFill>
                <a:highlight>
                  <a:srgbClr val="FFFFFF"/>
                </a:highlight>
              </a:rPr>
              <a:t>）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  - </a:t>
            </a:r>
            <a:r>
              <a:rPr lang="en-US" altLang="zh-CN" sz="1200" b="1" dirty="0">
                <a:solidFill>
                  <a:srgbClr val="098658"/>
                </a:solidFill>
                <a:highlight>
                  <a:srgbClr val="FFFFFF"/>
                </a:highlight>
              </a:rPr>
              <a:t>127.0.0.1</a:t>
            </a:r>
            <a:r>
              <a:rPr lang="zh-CN" altLang="en-US" sz="1200" b="1" dirty="0">
                <a:solidFill>
                  <a:srgbClr val="3B3B3B"/>
                </a:solidFill>
                <a:highlight>
                  <a:srgbClr val="FFFFFF"/>
                </a:highlight>
              </a:rPr>
              <a:t>（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本地主机</a:t>
            </a:r>
            <a:r>
              <a:rPr lang="zh-CN" altLang="en-US" sz="1200" b="1" dirty="0">
                <a:solidFill>
                  <a:srgbClr val="3B3B3B"/>
                </a:solidFill>
                <a:highlight>
                  <a:srgbClr val="FFFFFF"/>
                </a:highlight>
              </a:rPr>
              <a:t>）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    - 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始终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指代您自己的计算机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适用于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无需网络连接的测试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也可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通过 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</a:rPr>
              <a:t>`localhost`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访问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altLang="zh-CN" sz="1200" b="1" dirty="0">
                <a:solidFill>
                  <a:srgbClr val="098658"/>
                </a:solidFill>
                <a:highlight>
                  <a:srgbClr val="FFFFFF"/>
                </a:highlight>
              </a:rPr>
              <a:t>0.0.0.0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    - 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表示</a:t>
            </a:r>
            <a:r>
              <a:rPr lang="zh-CN" altLang="en-US" sz="1200" dirty="0">
                <a:solidFill>
                  <a:srgbClr val="A31515"/>
                </a:solidFill>
                <a:highlight>
                  <a:srgbClr val="FFFFFF"/>
                </a:highlight>
              </a:rPr>
              <a:t>“所有可用网络接口”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当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服务器监听 </a:t>
            </a:r>
            <a:r>
              <a:rPr lang="en-US" altLang="zh-CN" sz="1200" dirty="0">
                <a:solidFill>
                  <a:srgbClr val="098658"/>
                </a:solidFill>
                <a:highlight>
                  <a:srgbClr val="FFFFFF"/>
                </a:highlight>
              </a:rPr>
              <a:t>0.0.0.0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时，它将接受来自任何网络接口的连接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用于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使服务器可从其他计算机访问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altLang="zh-CN" sz="1200" b="1" dirty="0">
                <a:solidFill>
                  <a:srgbClr val="098658"/>
                </a:solidFill>
                <a:highlight>
                  <a:srgbClr val="FFFFFF"/>
                </a:highlight>
              </a:rPr>
              <a:t>255.255.255.255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广播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地址（发送给本地网络上的所有设备）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altLang="zh-CN" sz="1200" b="1" dirty="0">
                <a:solidFill>
                  <a:srgbClr val="098658"/>
                </a:solidFill>
                <a:highlight>
                  <a:srgbClr val="FFFFFF"/>
                </a:highlight>
              </a:rPr>
              <a:t>192.168</a:t>
            </a:r>
            <a:r>
              <a:rPr lang="en-US" altLang="zh-CN" sz="1200" b="1" dirty="0">
                <a:solidFill>
                  <a:srgbClr val="3B3B3B"/>
                </a:solidFill>
                <a:highlight>
                  <a:srgbClr val="FFFFFF"/>
                </a:highlight>
              </a:rPr>
              <a:t>.x.x </a:t>
            </a:r>
            <a:r>
              <a:rPr lang="zh-CN" altLang="en-US" sz="1200" b="1" dirty="0">
                <a:solidFill>
                  <a:srgbClr val="3B3B3B"/>
                </a:solidFill>
                <a:highlight>
                  <a:srgbClr val="FFFFFF"/>
                </a:highlight>
              </a:rPr>
              <a:t>和 </a:t>
            </a:r>
            <a:r>
              <a:rPr lang="en-US" altLang="zh-CN" sz="1200" b="1" dirty="0">
                <a:solidFill>
                  <a:srgbClr val="098658"/>
                </a:solidFill>
                <a:highlight>
                  <a:srgbClr val="FFFFFF"/>
                </a:highlight>
              </a:rPr>
              <a:t>10</a:t>
            </a:r>
            <a:r>
              <a:rPr lang="en-US" altLang="zh-CN" sz="1200" b="1" dirty="0">
                <a:solidFill>
                  <a:srgbClr val="3B3B3B"/>
                </a:solidFill>
                <a:highlight>
                  <a:srgbClr val="FFFFFF"/>
                </a:highlight>
              </a:rPr>
              <a:t>.x.x.x 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私有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地址（仅在本地网络中有效）</a:t>
            </a:r>
            <a:endParaRPr sz="12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Sockets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Socket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r>
              <a:rPr lang="zh-CN" altLang="en-US" sz="1400" dirty="0">
                <a:solidFill>
                  <a:srgbClr val="AF00DB"/>
                </a:solidFill>
                <a:highlight>
                  <a:srgbClr val="FFFFFF"/>
                </a:highlight>
              </a:rPr>
              <a:t>用于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网络通信的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编程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工具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sz="14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Sockets 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的功能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endParaRPr lang="en-US" altLang="zh-CN" sz="14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  - 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建立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网络连接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通过网络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发送</a:t>
            </a:r>
            <a:r>
              <a:rPr lang="zh-CN" altLang="en-US" sz="1400" dirty="0">
                <a:solidFill>
                  <a:srgbClr val="0000FF"/>
                </a:solidFill>
                <a:highlight>
                  <a:srgbClr val="FFFFFF"/>
                </a:highlight>
              </a:rPr>
              <a:t>数据</a:t>
            </a:r>
          </a:p>
          <a:p>
            <a:pPr marL="0" indent="0">
              <a:lnSpc>
                <a:spcPct val="150000"/>
              </a:lnSpc>
              <a:buSzPts val="1100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从网络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接收</a:t>
            </a:r>
            <a:r>
              <a:rPr lang="zh-CN" altLang="en-US" sz="1400" dirty="0">
                <a:solidFill>
                  <a:srgbClr val="0000FF"/>
                </a:solidFill>
                <a:highlight>
                  <a:srgbClr val="FFFFFF"/>
                </a:highlight>
              </a:rPr>
              <a:t>数据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sz="14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Kotlin 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中的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Socket 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类型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endParaRPr lang="en-US" altLang="zh-CN" sz="14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  -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Socket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用于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TCP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连接（可靠）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ServerSocket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用于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接受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TCP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连接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DatagramSocket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用于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UDP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通信（更简单、更快）</a:t>
            </a:r>
            <a:endParaRPr sz="14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客户端</a:t>
            </a:r>
            <a:r>
              <a:rPr lang="en-US" altLang="zh-CN" dirty="0"/>
              <a:t>-</a:t>
            </a:r>
            <a:r>
              <a:rPr lang="zh-CN" altLang="en-US" dirty="0"/>
              <a:t>服务器模型</a:t>
            </a:r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- </a:t>
            </a:r>
            <a:r>
              <a:rPr lang="zh-CN" altLang="en-US" sz="1500" b="1" dirty="0">
                <a:solidFill>
                  <a:srgbClr val="267F99"/>
                </a:solidFill>
                <a:highlight>
                  <a:srgbClr val="FFFFFF"/>
                </a:highlight>
              </a:rPr>
              <a:t>服务器 </a:t>
            </a:r>
            <a:r>
              <a:rPr lang="en-US" altLang="zh-CN" sz="1500" b="1" dirty="0">
                <a:solidFill>
                  <a:srgbClr val="267F99"/>
                </a:solidFill>
                <a:highlight>
                  <a:srgbClr val="FFFFFF"/>
                </a:highlight>
              </a:rPr>
              <a:t>Server</a:t>
            </a:r>
            <a:r>
              <a:rPr lang="zh-CN" altLang="en-US" sz="1400" dirty="0"/>
              <a:t>：等待连接并提供服务的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程序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在特定端口上监听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处理多个客户端连接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示例：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</a:rPr>
              <a:t>Web</a:t>
            </a:r>
            <a:r>
              <a:rPr lang="en-US" altLang="zh-CN" sz="1400" dirty="0"/>
              <a:t> </a:t>
            </a:r>
            <a:r>
              <a:rPr lang="zh-CN" altLang="en-US" sz="1400" dirty="0"/>
              <a:t>服务器、游戏服务器、聊天服务器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- </a:t>
            </a:r>
            <a:r>
              <a:rPr lang="zh-CN" altLang="en-US" sz="1500" b="1" dirty="0">
                <a:solidFill>
                  <a:srgbClr val="267F99"/>
                </a:solidFill>
                <a:highlight>
                  <a:srgbClr val="FFFFFF"/>
                </a:highlight>
              </a:rPr>
              <a:t>客户端 </a:t>
            </a:r>
            <a:r>
              <a:rPr lang="en-US" altLang="zh-CN" sz="1500" b="1" dirty="0">
                <a:solidFill>
                  <a:srgbClr val="267F99"/>
                </a:solidFill>
                <a:highlight>
                  <a:srgbClr val="FFFFFF"/>
                </a:highlight>
              </a:rPr>
              <a:t>Client</a:t>
            </a:r>
            <a:r>
              <a:rPr lang="zh-CN" altLang="en-US" sz="1400" dirty="0"/>
              <a:t>：连接到服务器以使用其服务的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程序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主动发起与服务器的连接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通常具有用户界面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示例：</a:t>
            </a:r>
            <a:r>
              <a:rPr lang="en-US" altLang="zh-CN" sz="1500" dirty="0">
                <a:solidFill>
                  <a:schemeClr val="accent5">
                    <a:lumMod val="75000"/>
                  </a:schemeClr>
                </a:solidFill>
              </a:rPr>
              <a:t>Web</a:t>
            </a:r>
            <a:r>
              <a:rPr lang="en-US" altLang="zh-CN" sz="1400" dirty="0"/>
              <a:t> </a:t>
            </a:r>
            <a:r>
              <a:rPr lang="zh-CN" altLang="en-US" sz="1400" dirty="0"/>
              <a:t>浏览器、游戏客户端、聊天应用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- </a:t>
            </a:r>
            <a:r>
              <a:rPr lang="zh-CN" altLang="en-US" sz="1500" b="1" dirty="0">
                <a:solidFill>
                  <a:srgbClr val="267F99"/>
                </a:solidFill>
                <a:highlight>
                  <a:srgbClr val="FFFFFF"/>
                </a:highlight>
              </a:rPr>
              <a:t>通信</a:t>
            </a:r>
            <a:r>
              <a:rPr lang="zh-CN" altLang="en-US" sz="1400" dirty="0"/>
              <a:t>：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双</a:t>
            </a:r>
            <a:r>
              <a:rPr lang="zh-CN" altLang="en-US" sz="1400" dirty="0"/>
              <a:t>向</a:t>
            </a:r>
            <a:r>
              <a:rPr lang="zh-CN" altLang="en-US" sz="1500" dirty="0">
                <a:solidFill>
                  <a:srgbClr val="0000FF"/>
                </a:solidFill>
                <a:highlight>
                  <a:srgbClr val="FFFFFF"/>
                </a:highlight>
              </a:rPr>
              <a:t>数据</a:t>
            </a:r>
            <a:r>
              <a:rPr lang="zh-CN" altLang="en-US" sz="1400" dirty="0"/>
              <a:t>交换</a:t>
            </a:r>
            <a:endParaRPr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服务器 </a:t>
            </a:r>
            <a:r>
              <a:rPr lang="en-US" dirty="0"/>
              <a:t>Socket</a:t>
            </a:r>
            <a:endParaRPr dirty="0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14" dirty="0">
                <a:solidFill>
                  <a:srgbClr val="008000"/>
                </a:solidFill>
                <a:highlight>
                  <a:srgbClr val="FFFFFF"/>
                </a:highlight>
              </a:rPr>
              <a:t>在 </a:t>
            </a:r>
            <a:r>
              <a:rPr lang="en-US" altLang="zh-CN" sz="1014" dirty="0">
                <a:solidFill>
                  <a:srgbClr val="008000"/>
                </a:solidFill>
                <a:highlight>
                  <a:srgbClr val="FFFFFF"/>
                </a:highlight>
              </a:rPr>
              <a:t>8080 </a:t>
            </a:r>
            <a:r>
              <a:rPr lang="zh-CN" altLang="en-US" sz="1014" dirty="0">
                <a:solidFill>
                  <a:srgbClr val="008000"/>
                </a:solidFill>
                <a:highlight>
                  <a:srgbClr val="FFFFFF"/>
                </a:highlight>
              </a:rPr>
              <a:t>端口上创建一个服务器 </a:t>
            </a:r>
            <a:r>
              <a:rPr lang="en-US" sz="1014" dirty="0">
                <a:solidFill>
                  <a:srgbClr val="008000"/>
                </a:solidFill>
                <a:highlight>
                  <a:srgbClr val="FFFFFF"/>
                </a:highlight>
              </a:rPr>
              <a:t>Socket</a:t>
            </a:r>
            <a:endParaRPr sz="1014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serverSocket </a:t>
            </a:r>
            <a:r>
              <a:rPr lang="en" sz="1014" dirty="0">
                <a:highlight>
                  <a:srgbClr val="FFFFFF"/>
                </a:highlight>
              </a:rPr>
              <a:t>=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014" dirty="0">
                <a:solidFill>
                  <a:srgbClr val="267F99"/>
                </a:solidFill>
                <a:highlight>
                  <a:srgbClr val="FFFFFF"/>
                </a:highlight>
              </a:rPr>
              <a:t>ServerSocket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14" dirty="0">
                <a:solidFill>
                  <a:srgbClr val="098658"/>
                </a:solidFill>
                <a:highlight>
                  <a:srgbClr val="FFFFFF"/>
                </a:highlight>
              </a:rPr>
              <a:t>8080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 dirty="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14" dirty="0">
                <a:solidFill>
                  <a:srgbClr val="A31515"/>
                </a:solidFill>
                <a:highlight>
                  <a:srgbClr val="FFFFFF"/>
                </a:highlight>
              </a:rPr>
              <a:t>"Server started on port 8080"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14" dirty="0">
                <a:solidFill>
                  <a:srgbClr val="008000"/>
                </a:solidFill>
                <a:highlight>
                  <a:srgbClr val="FFFFFF"/>
                </a:highlight>
              </a:rPr>
              <a:t>接受一个客户端连接</a:t>
            </a:r>
            <a:endParaRPr sz="1014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clientSocket </a:t>
            </a:r>
            <a:r>
              <a:rPr lang="en" sz="1014" dirty="0">
                <a:highlight>
                  <a:srgbClr val="FFFFFF"/>
                </a:highlight>
              </a:rPr>
              <a:t>=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serverSocket.accept()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 dirty="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14" dirty="0">
                <a:solidFill>
                  <a:srgbClr val="A31515"/>
                </a:solidFill>
                <a:highlight>
                  <a:srgbClr val="FFFFFF"/>
                </a:highlight>
              </a:rPr>
              <a:t>"Client connected!"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14" dirty="0">
                <a:solidFill>
                  <a:srgbClr val="008000"/>
                </a:solidFill>
                <a:highlight>
                  <a:srgbClr val="FFFFFF"/>
                </a:highlight>
              </a:rPr>
              <a:t>创建一个 </a:t>
            </a:r>
            <a:r>
              <a:rPr lang="en-US" altLang="zh-CN" sz="1014" dirty="0">
                <a:solidFill>
                  <a:srgbClr val="008000"/>
                </a:solidFill>
                <a:highlight>
                  <a:srgbClr val="FFFFFF"/>
                </a:highlight>
              </a:rPr>
              <a:t>Writer</a:t>
            </a:r>
            <a:r>
              <a:rPr lang="zh-CN" altLang="en-US" sz="1014" dirty="0">
                <a:solidFill>
                  <a:srgbClr val="008000"/>
                </a:solidFill>
                <a:highlight>
                  <a:srgbClr val="FFFFFF"/>
                </a:highlight>
              </a:rPr>
              <a:t>，用于将数据发送给客户端</a:t>
            </a:r>
            <a:endParaRPr sz="1014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writer </a:t>
            </a:r>
            <a:r>
              <a:rPr lang="en" sz="1014" dirty="0">
                <a:highlight>
                  <a:srgbClr val="FFFFFF"/>
                </a:highlight>
              </a:rPr>
              <a:t>=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014" dirty="0">
                <a:solidFill>
                  <a:srgbClr val="267F99"/>
                </a:solidFill>
                <a:highlight>
                  <a:srgbClr val="FFFFFF"/>
                </a:highlight>
              </a:rPr>
              <a:t>PrintWriter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(clientSocket.getOutputStream(), </a:t>
            </a:r>
            <a:r>
              <a:rPr lang="en" sz="1014" dirty="0">
                <a:solidFill>
                  <a:srgbClr val="0000FF"/>
                </a:solidFill>
                <a:highlight>
                  <a:srgbClr val="FFFFFF"/>
                </a:highlight>
              </a:rPr>
              <a:t>true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14" dirty="0">
                <a:solidFill>
                  <a:srgbClr val="008000"/>
                </a:solidFill>
                <a:highlight>
                  <a:srgbClr val="FFFFFF"/>
                </a:highlight>
              </a:rPr>
              <a:t>发送信息</a:t>
            </a:r>
            <a:endParaRPr sz="1014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writer.</a:t>
            </a:r>
            <a:r>
              <a:rPr lang="en" sz="1014" dirty="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14" dirty="0">
                <a:solidFill>
                  <a:srgbClr val="A31515"/>
                </a:solidFill>
                <a:highlight>
                  <a:srgbClr val="FFFFFF"/>
                </a:highlight>
              </a:rPr>
              <a:t>"Hello from Kotlin server!"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14" dirty="0">
                <a:solidFill>
                  <a:srgbClr val="008000"/>
                </a:solidFill>
                <a:highlight>
                  <a:srgbClr val="FFFFFF"/>
                </a:highlight>
              </a:rPr>
              <a:t>清理</a:t>
            </a:r>
            <a:endParaRPr sz="1014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clientSocket.close()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serverSocket.close()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 dirty="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14" dirty="0">
                <a:solidFill>
                  <a:srgbClr val="A31515"/>
                </a:solidFill>
                <a:highlight>
                  <a:srgbClr val="FFFFFF"/>
                </a:highlight>
              </a:rPr>
              <a:t>"Server stopped"</a:t>
            </a:r>
            <a:r>
              <a:rPr lang="en" sz="1014" dirty="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853"/>
              <a:buNone/>
            </a:pPr>
            <a:endParaRPr sz="1014" dirty="0">
              <a:solidFill>
                <a:srgbClr val="008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客户端 </a:t>
            </a:r>
            <a:r>
              <a:rPr lang="en-US" dirty="0"/>
              <a:t>Socket</a:t>
            </a:r>
            <a:endParaRPr dirty="0"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00" dirty="0">
                <a:solidFill>
                  <a:srgbClr val="008000"/>
                </a:solidFill>
                <a:highlight>
                  <a:srgbClr val="FFFFFF"/>
                </a:highlight>
              </a:rPr>
              <a:t>连接到服务器（</a:t>
            </a:r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</a:rPr>
              <a:t>localhost = 127.0.0.1）</a:t>
            </a:r>
            <a:endParaRPr sz="10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socket </a:t>
            </a:r>
            <a:r>
              <a:rPr lang="en" sz="1000" dirty="0">
                <a:highlight>
                  <a:srgbClr val="FFFFFF"/>
                </a:highlight>
              </a:rPr>
              <a:t>=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000" dirty="0">
                <a:solidFill>
                  <a:srgbClr val="267F99"/>
                </a:solidFill>
                <a:highlight>
                  <a:srgbClr val="FFFFFF"/>
                </a:highlight>
              </a:rPr>
              <a:t>Socket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00" dirty="0">
                <a:solidFill>
                  <a:srgbClr val="A31515"/>
                </a:solidFill>
                <a:highlight>
                  <a:srgbClr val="FFFFFF"/>
                </a:highlight>
              </a:rPr>
              <a:t>"localhost"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, </a:t>
            </a:r>
            <a:r>
              <a:rPr lang="en" sz="1000" dirty="0">
                <a:solidFill>
                  <a:srgbClr val="098658"/>
                </a:solidFill>
                <a:highlight>
                  <a:srgbClr val="FFFFFF"/>
                </a:highlight>
              </a:rPr>
              <a:t>8080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 dirty="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00" dirty="0">
                <a:solidFill>
                  <a:srgbClr val="A31515"/>
                </a:solidFill>
                <a:highlight>
                  <a:srgbClr val="FFFFFF"/>
                </a:highlight>
              </a:rPr>
              <a:t>"Connected to server"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00" dirty="0">
                <a:solidFill>
                  <a:srgbClr val="008000"/>
                </a:solidFill>
                <a:highlight>
                  <a:srgbClr val="FFFFFF"/>
                </a:highlight>
              </a:rPr>
              <a:t>配置 </a:t>
            </a:r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</a:rPr>
              <a:t>Reader </a:t>
            </a:r>
            <a:r>
              <a:rPr lang="zh-CN" altLang="en-US" sz="1000" dirty="0">
                <a:solidFill>
                  <a:srgbClr val="008000"/>
                </a:solidFill>
                <a:highlight>
                  <a:srgbClr val="FFFFFF"/>
                </a:highlight>
              </a:rPr>
              <a:t>以接收数据</a:t>
            </a:r>
            <a:endParaRPr sz="10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reader </a:t>
            </a:r>
            <a:r>
              <a:rPr lang="en" sz="1000" dirty="0">
                <a:highlight>
                  <a:srgbClr val="FFFFFF"/>
                </a:highlight>
              </a:rPr>
              <a:t>=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000" dirty="0">
                <a:solidFill>
                  <a:srgbClr val="267F99"/>
                </a:solidFill>
                <a:highlight>
                  <a:srgbClr val="FFFFFF"/>
                </a:highlight>
              </a:rPr>
              <a:t>BufferedReader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00" dirty="0">
                <a:solidFill>
                  <a:srgbClr val="267F99"/>
                </a:solidFill>
                <a:highlight>
                  <a:srgbClr val="FFFFFF"/>
                </a:highlight>
              </a:rPr>
              <a:t>InputStreamReader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(socket.getInputStream()))</a:t>
            </a:r>
            <a:endParaRPr sz="10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00" dirty="0">
                <a:solidFill>
                  <a:srgbClr val="008000"/>
                </a:solidFill>
                <a:highlight>
                  <a:srgbClr val="FFFFFF"/>
                </a:highlight>
              </a:rPr>
              <a:t>读取并打印来自服务器的消息</a:t>
            </a:r>
            <a:endParaRPr sz="10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message </a:t>
            </a:r>
            <a:r>
              <a:rPr lang="en" sz="1000" dirty="0">
                <a:highlight>
                  <a:srgbClr val="FFFFFF"/>
                </a:highlight>
              </a:rPr>
              <a:t>=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reader.readLine()</a:t>
            </a:r>
            <a:endParaRPr sz="10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 dirty="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00" dirty="0">
                <a:solidFill>
                  <a:srgbClr val="A31515"/>
                </a:solidFill>
                <a:highlight>
                  <a:srgbClr val="FFFFFF"/>
                </a:highlight>
              </a:rPr>
              <a:t>"Server says: $message"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 dirty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000" dirty="0">
                <a:solidFill>
                  <a:srgbClr val="008000"/>
                </a:solidFill>
                <a:highlight>
                  <a:srgbClr val="FFFFFF"/>
                </a:highlight>
              </a:rPr>
              <a:t>清理</a:t>
            </a:r>
            <a:endParaRPr lang="en-US" sz="10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-US" sz="1000" dirty="0" err="1">
                <a:solidFill>
                  <a:srgbClr val="3B3B3B"/>
                </a:solidFill>
                <a:highlight>
                  <a:srgbClr val="FFFFFF"/>
                </a:highlight>
              </a:rPr>
              <a:t>socket.close</a:t>
            </a:r>
            <a:r>
              <a:rPr lang="en-US" sz="1000" dirty="0">
                <a:solidFill>
                  <a:srgbClr val="3B3B3B"/>
                </a:solidFill>
                <a:highlight>
                  <a:srgbClr val="FFFFFF"/>
                </a:highlight>
              </a:rPr>
              <a:t>()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 dirty="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00" dirty="0">
                <a:solidFill>
                  <a:srgbClr val="A31515"/>
                </a:solidFill>
                <a:highlight>
                  <a:srgbClr val="FFFFFF"/>
                </a:highlight>
              </a:rPr>
              <a:t>"Connection closed"</a:t>
            </a:r>
            <a:r>
              <a:rPr lang="en" sz="1000" dirty="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什么是后端？</a:t>
            </a:r>
            <a:endParaRPr dirty="0"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altLang="zh-CN" sz="1430" dirty="0"/>
              <a:t>- </a:t>
            </a:r>
            <a:r>
              <a:rPr lang="zh-CN" altLang="en-US" sz="1430" dirty="0"/>
              <a:t>应用程序中用户无法直接交互的服务端部分</a:t>
            </a:r>
            <a:endParaRPr lang="en-US" altLang="zh-CN" sz="1430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lang="zh-CN" altLang="en-US" sz="1430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altLang="zh-CN" sz="1430" dirty="0"/>
              <a:t>- </a:t>
            </a:r>
            <a:r>
              <a:rPr lang="zh-CN" altLang="en-US" sz="1430" dirty="0"/>
              <a:t>处理核心业务逻辑、数据存储和安全事务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lang="en-US" altLang="zh-CN" sz="1430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altLang="zh-CN" sz="1430" dirty="0"/>
              <a:t>- </a:t>
            </a:r>
            <a:r>
              <a:rPr lang="zh-CN" altLang="en-US" sz="1430" dirty="0"/>
              <a:t>与其他系统（数据库、服务等）进行通信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lang="en-US" altLang="zh-CN" sz="1430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altLang="zh-CN" sz="1430" dirty="0"/>
              <a:t>- </a:t>
            </a:r>
            <a:r>
              <a:rPr lang="zh-CN" altLang="en-US" sz="1430" dirty="0"/>
              <a:t>向前端（网页、移动应用）提供数据和功能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lang="en-US" altLang="zh-CN" sz="1430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altLang="zh-CN" sz="1430" dirty="0"/>
              <a:t>- </a:t>
            </a:r>
            <a:r>
              <a:rPr lang="zh-CN" altLang="en-US" sz="1430" dirty="0"/>
              <a:t>运行在服务器或云平台上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lang="en-US" altLang="zh-CN" sz="1430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altLang="zh-CN" sz="1430" dirty="0"/>
              <a:t>- </a:t>
            </a:r>
            <a:r>
              <a:rPr lang="zh-CN" altLang="en-US" sz="1430" dirty="0"/>
              <a:t>通常构建为一组服务或 </a:t>
            </a:r>
            <a:r>
              <a:rPr lang="en-US" altLang="zh-CN" sz="1430" dirty="0"/>
              <a:t>API</a:t>
            </a:r>
            <a:endParaRPr lang="en-US" sz="14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 APIs</a:t>
            </a:r>
            <a:endParaRPr dirty="0"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altLang="zh-CN" dirty="0"/>
              <a:t>- API </a:t>
            </a:r>
            <a:r>
              <a:rPr lang="zh-CN" altLang="en-US" dirty="0"/>
              <a:t>通过 </a:t>
            </a:r>
            <a:r>
              <a:rPr lang="en-US" altLang="zh-CN" dirty="0"/>
              <a:t>HTTP </a:t>
            </a:r>
            <a:r>
              <a:rPr lang="zh-CN" altLang="en-US" dirty="0"/>
              <a:t>在互联网上进行通信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altLang="zh-CN" dirty="0"/>
              <a:t>- </a:t>
            </a:r>
            <a:r>
              <a:rPr lang="zh-CN" altLang="en-US" dirty="0"/>
              <a:t>客户端</a:t>
            </a:r>
            <a:r>
              <a:rPr lang="en-US" altLang="zh-CN" dirty="0"/>
              <a:t>-</a:t>
            </a:r>
            <a:r>
              <a:rPr lang="zh-CN" altLang="en-US" dirty="0"/>
              <a:t>服务器通信模型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altLang="zh-CN" dirty="0"/>
              <a:t>- </a:t>
            </a:r>
            <a:r>
              <a:rPr lang="zh-CN" altLang="en-US" dirty="0"/>
              <a:t>常见格式：</a:t>
            </a:r>
            <a:r>
              <a:rPr lang="en-US" altLang="zh-CN" dirty="0"/>
              <a:t>JSON, XML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altLang="zh-CN" dirty="0"/>
              <a:t>- </a:t>
            </a:r>
            <a:r>
              <a:rPr lang="zh-CN" altLang="en-US" dirty="0"/>
              <a:t>技术无关（不同编程语言可以通信）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altLang="zh-CN" dirty="0"/>
              <a:t>- </a:t>
            </a:r>
            <a:r>
              <a:rPr lang="zh-CN" altLang="en-US" dirty="0"/>
              <a:t>类型：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 altLang="en-US" dirty="0"/>
              <a:t>  </a:t>
            </a:r>
            <a:r>
              <a:rPr lang="en-US" altLang="zh-CN" dirty="0"/>
              <a:t>- SOAP</a:t>
            </a:r>
            <a:r>
              <a:rPr lang="zh-CN" altLang="en-US" dirty="0"/>
              <a:t>：使用 </a:t>
            </a:r>
            <a:r>
              <a:rPr lang="en-US" altLang="zh-CN" dirty="0"/>
              <a:t>XML</a:t>
            </a:r>
            <a:r>
              <a:rPr lang="zh-CN" altLang="en-US" dirty="0"/>
              <a:t>，结构更为严格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 altLang="en-US" dirty="0"/>
              <a:t>  </a:t>
            </a:r>
            <a:r>
              <a:rPr lang="en-US" altLang="zh-CN" dirty="0"/>
              <a:t>- REST</a:t>
            </a:r>
            <a:r>
              <a:rPr lang="zh-CN" altLang="en-US" dirty="0"/>
              <a:t>：使用 </a:t>
            </a:r>
            <a:r>
              <a:rPr lang="en-US" altLang="zh-CN" dirty="0"/>
              <a:t>HTTP </a:t>
            </a:r>
            <a:r>
              <a:rPr lang="zh-CN" altLang="en-US" dirty="0"/>
              <a:t>方法，基于资源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en-US" altLang="zh-CN" dirty="0" err="1"/>
              <a:t>GraphQL</a:t>
            </a:r>
            <a:r>
              <a:rPr lang="zh-CN" altLang="en-US" dirty="0"/>
              <a:t>：</a:t>
            </a:r>
            <a:r>
              <a:rPr lang="en-US" altLang="zh-CN" dirty="0"/>
              <a:t>API </a:t>
            </a:r>
            <a:r>
              <a:rPr lang="zh-CN" altLang="en-US" dirty="0"/>
              <a:t>查询语言，数据获取灵活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 altLang="en-US" dirty="0"/>
              <a:t>  </a:t>
            </a:r>
            <a:r>
              <a:rPr lang="en-US" altLang="zh-CN" dirty="0"/>
              <a:t>- RPC</a:t>
            </a:r>
            <a:r>
              <a:rPr lang="zh-CN" altLang="en-US" dirty="0"/>
              <a:t>：远程过程调用，基于操作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- </a:t>
            </a:r>
            <a:r>
              <a:rPr lang="zh-CN" altLang="en-US" dirty="0"/>
              <a:t>基于文本的通信协议（</a:t>
            </a:r>
            <a:r>
              <a:rPr lang="en-US" altLang="zh-CN" dirty="0"/>
              <a:t>HTTP 1.*)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- </a:t>
            </a:r>
            <a:r>
              <a:rPr lang="zh-CN" altLang="en-US" dirty="0"/>
              <a:t>可处理文本和二进制数据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 </a:t>
            </a:r>
            <a:r>
              <a:rPr lang="zh-CN" altLang="en-US" dirty="0"/>
              <a:t>请求</a:t>
            </a:r>
            <a:endParaRPr dirty="0"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440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/>
              <a:t>curl -v http://google.com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/>
              <a:t>* Host google.com:80 was resolved.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/>
              <a:t>* IPv6: (none)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/>
              <a:t>* IPv4: 216.58.206.46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/>
              <a:t>*   Trying 216.58.206.46:80...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/>
              <a:t>* Connected to google.com (216.58.206.46) port 80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/>
              <a:t>&gt; GET / HTTP/1.1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/>
              <a:t>&gt; Host: google.com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/>
              <a:t>&gt; User-Agent: curl/8.7.1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/>
              <a:t>&gt; Accept: */*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/>
              <a:t>&gt; 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dirty="0"/>
              <a:t>* Request completely sent off</a:t>
            </a:r>
            <a:endParaRPr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 </a:t>
            </a:r>
            <a:r>
              <a:rPr lang="zh-CN" altLang="en-US" dirty="0"/>
              <a:t>响应</a:t>
            </a:r>
            <a:endParaRPr dirty="0"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311700" y="4666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HTTP/1.1 301 Moved Permanently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Location: http://www.google.com/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Content-Type: text/html; charset=UTF-8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Content-Security-Policy-Report-Only: object-src 'none';base-uri 'self';script-src 'nonce-z-LCHgth0elAZCmPgxyuFA' 'strict-dynamic' 'report-sample' 'unsafe-eval' 'unsafe-inline' https: http:;report-uri https://csp.withgoogle.com/csp/gws/other-hp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Date: Mon, 05 May 2025 10:57:07 GMT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Expires: Wed, 04 Jun 2025 10:57:07 GMT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Cache-Control: public, max-age=2592000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Server: gws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Content-Length: 219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X-XSS-Protection: 0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X-Frame-Options: SAMEORIGIN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 </a:t>
            </a:r>
            <a:r>
              <a:rPr lang="zh-CN" altLang="en-US" dirty="0"/>
              <a:t>响应</a:t>
            </a:r>
            <a:endParaRPr dirty="0"/>
          </a:p>
        </p:txBody>
      </p:sp>
      <p:sp>
        <p:nvSpPr>
          <p:cNvPr id="133" name="Google Shape;13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 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&lt;HTML&gt;&lt;HEAD&gt;&lt;meta http-equiv="content-type" content="text/html;charset=utf-8"&gt;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&lt;TITLE&gt;301 Moved&lt;/TITLE&gt;&lt;/HEAD&gt;&lt;BODY&gt;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&lt;H1&gt;301 Moved&lt;/H1&gt;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The document has moved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&lt;A HREF="http://www.google.com/"&gt;here&lt;/A&gt;.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&lt;/BODY&gt;&lt;/HTML&gt;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* Connection </a:t>
            </a:r>
            <a:r>
              <a:rPr lang="en-US" altLang="zh-CN" sz="1200" dirty="0"/>
              <a:t>#0 </a:t>
            </a:r>
            <a:r>
              <a:rPr lang="zh-CN" altLang="en-US" sz="1200" dirty="0"/>
              <a:t>指向 </a:t>
            </a:r>
            <a:r>
              <a:rPr lang="en-US" altLang="zh-CN" sz="1200" dirty="0"/>
              <a:t>google.com </a:t>
            </a:r>
            <a:r>
              <a:rPr lang="zh-CN" altLang="en-US" sz="1200" dirty="0"/>
              <a:t>的记录保持不变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REST</a:t>
            </a:r>
            <a:endParaRPr dirty="0"/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dirty="0"/>
              <a:t>- REST = </a:t>
            </a:r>
            <a:r>
              <a:rPr lang="zh-CN" altLang="en-US" dirty="0"/>
              <a:t>表述性状态转移（</a:t>
            </a:r>
            <a:r>
              <a:rPr lang="en-US" dirty="0"/>
              <a:t>Representational State Transfer）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dirty="0"/>
              <a:t>- </a:t>
            </a:r>
            <a:r>
              <a:rPr lang="zh-CN" altLang="en-US" dirty="0"/>
              <a:t>由 </a:t>
            </a:r>
            <a:r>
              <a:rPr lang="en-US" dirty="0"/>
              <a:t>Roy Fielding </a:t>
            </a:r>
            <a:r>
              <a:rPr lang="zh-CN" altLang="en-US" dirty="0"/>
              <a:t>在 </a:t>
            </a:r>
            <a:r>
              <a:rPr lang="en-US" altLang="zh-CN" dirty="0"/>
              <a:t>2000 </a:t>
            </a:r>
            <a:r>
              <a:rPr lang="zh-CN" altLang="en-US" dirty="0"/>
              <a:t>年提出的 </a:t>
            </a:r>
            <a:r>
              <a:rPr lang="en-US" dirty="0"/>
              <a:t>Web API </a:t>
            </a:r>
            <a:r>
              <a:rPr lang="zh-CN" altLang="en-US" dirty="0"/>
              <a:t>架构风格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altLang="zh-CN" dirty="0"/>
              <a:t>- </a:t>
            </a:r>
            <a:r>
              <a:rPr lang="zh-CN" altLang="en-US" dirty="0"/>
              <a:t>基于以下核心原则：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使用 </a:t>
            </a:r>
            <a:r>
              <a:rPr lang="en-US" dirty="0"/>
              <a:t>HTTP </a:t>
            </a:r>
            <a:r>
              <a:rPr lang="zh-CN" altLang="en-US" dirty="0"/>
              <a:t>方法（</a:t>
            </a:r>
            <a:r>
              <a:rPr lang="en-US" dirty="0"/>
              <a:t>GET、POST、PUT、DELETE）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dirty="0"/>
              <a:t>  - </a:t>
            </a:r>
            <a:r>
              <a:rPr lang="zh-CN" altLang="en-US" dirty="0"/>
              <a:t>基于资源（</a:t>
            </a:r>
            <a:r>
              <a:rPr lang="en-US" dirty="0"/>
              <a:t>URL </a:t>
            </a:r>
            <a:r>
              <a:rPr lang="zh-CN" altLang="en-US" dirty="0"/>
              <a:t>代表资源）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无状态（服务器不存储客户端状态）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统一接口（一致的交互模式）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客户端与服务器分离（独立演进）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REST </a:t>
            </a:r>
            <a:r>
              <a:rPr lang="zh-CN" altLang="en-US" dirty="0"/>
              <a:t>中的 </a:t>
            </a:r>
            <a:r>
              <a:rPr lang="en-US" dirty="0"/>
              <a:t>HTTP </a:t>
            </a:r>
            <a:r>
              <a:rPr lang="zh-CN" altLang="en-US" dirty="0"/>
              <a:t>方法</a:t>
            </a:r>
            <a:endParaRPr dirty="0"/>
          </a:p>
        </p:txBody>
      </p:sp>
      <p:sp>
        <p:nvSpPr>
          <p:cNvPr id="145" name="Google Shape;145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GET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检索数据（只读，安全）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示例：</a:t>
            </a:r>
            <a:r>
              <a:rPr lang="en-US" altLang="zh-CN" sz="1400" dirty="0">
                <a:solidFill>
                  <a:srgbClr val="800000"/>
                </a:solidFill>
                <a:highlight>
                  <a:srgbClr val="FFFFFF"/>
                </a:highlight>
              </a:rPr>
              <a:t>`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</a:rPr>
              <a:t>GET /users/123`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获取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ID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为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123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的用户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POST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创建新资源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示例：</a:t>
            </a:r>
            <a:r>
              <a:rPr lang="en-US" altLang="zh-CN" sz="1400" dirty="0">
                <a:solidFill>
                  <a:srgbClr val="800000"/>
                </a:solidFill>
                <a:highlight>
                  <a:srgbClr val="FFFFFF"/>
                </a:highlight>
              </a:rPr>
              <a:t>`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</a:rPr>
              <a:t>POST /users`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创建新用户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PUT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更新现有资源（完全替换）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示例：</a:t>
            </a:r>
            <a:r>
              <a:rPr lang="en-US" altLang="zh-CN" sz="1400" dirty="0">
                <a:solidFill>
                  <a:srgbClr val="800000"/>
                </a:solidFill>
                <a:highlight>
                  <a:srgbClr val="FFFFFF"/>
                </a:highlight>
              </a:rPr>
              <a:t>`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</a:rPr>
              <a:t>PUT /users/123`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更新用户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123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的全部数据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PATCH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部分更新资源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示例：</a:t>
            </a:r>
            <a:r>
              <a:rPr lang="en-US" altLang="zh-CN" sz="1400" dirty="0">
                <a:solidFill>
                  <a:srgbClr val="800000"/>
                </a:solidFill>
                <a:highlight>
                  <a:srgbClr val="FFFFFF"/>
                </a:highlight>
              </a:rPr>
              <a:t>`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</a:rPr>
              <a:t>PATCH /users/123`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更新用户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123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的部分数据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DELETE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：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删除资源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示例：</a:t>
            </a:r>
            <a:r>
              <a:rPr lang="en-US" altLang="zh-CN" sz="1400" dirty="0">
                <a:solidFill>
                  <a:srgbClr val="800000"/>
                </a:solidFill>
                <a:highlight>
                  <a:srgbClr val="FFFFFF"/>
                </a:highlight>
              </a:rPr>
              <a:t>`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</a:rPr>
              <a:t>DELETE /users/123`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删除用户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123</a:t>
            </a:r>
            <a:endParaRPr sz="14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REST </a:t>
            </a:r>
            <a:r>
              <a:rPr lang="zh-CN" altLang="en-US" dirty="0"/>
              <a:t>资源与 </a:t>
            </a:r>
            <a:r>
              <a:rPr lang="en-US" dirty="0"/>
              <a:t>URL</a:t>
            </a:r>
          </a:p>
        </p:txBody>
      </p:sp>
      <p:sp>
        <p:nvSpPr>
          <p:cNvPr id="151" name="Google Shape;151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资源是系统中的核心对象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示例：用户、产品、任务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URL（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端点）用于标识资源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集合：</a:t>
            </a:r>
            <a:r>
              <a:rPr lang="en-US" altLang="zh-CN" sz="1400" dirty="0">
                <a:solidFill>
                  <a:srgbClr val="800000"/>
                </a:solidFill>
                <a:highlight>
                  <a:srgbClr val="FFFFFF"/>
                </a:highlight>
              </a:rPr>
              <a:t>`/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</a:rPr>
              <a:t>users`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（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所有用户）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单个资源：</a:t>
            </a:r>
            <a:r>
              <a:rPr lang="en-US" altLang="zh-CN" sz="1400" dirty="0">
                <a:solidFill>
                  <a:srgbClr val="800000"/>
                </a:solidFill>
                <a:highlight>
                  <a:srgbClr val="FFFFFF"/>
                </a:highlight>
              </a:rPr>
              <a:t>`/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</a:rPr>
              <a:t>users/123`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（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特定用户）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层次关系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altLang="zh-CN" sz="1400" dirty="0">
                <a:solidFill>
                  <a:srgbClr val="800000"/>
                </a:solidFill>
                <a:highlight>
                  <a:srgbClr val="FFFFFF"/>
                </a:highlight>
              </a:rPr>
              <a:t>`/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</a:rPr>
              <a:t>users/123/orders`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（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用户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123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的订单）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用于筛选、排序和分页的查询参数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altLang="zh-CN" sz="1400" dirty="0">
                <a:solidFill>
                  <a:srgbClr val="800000"/>
                </a:solidFill>
                <a:highlight>
                  <a:srgbClr val="FFFFFF"/>
                </a:highlight>
              </a:rPr>
              <a:t>`/</a:t>
            </a:r>
            <a:r>
              <a:rPr lang="en-US" sz="1400" dirty="0" err="1">
                <a:solidFill>
                  <a:srgbClr val="800000"/>
                </a:solidFill>
                <a:highlight>
                  <a:srgbClr val="FFFFFF"/>
                </a:highlight>
              </a:rPr>
              <a:t>products?category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</a:rPr>
              <a:t>=</a:t>
            </a:r>
            <a:r>
              <a:rPr lang="en-US" sz="1400" dirty="0" err="1">
                <a:solidFill>
                  <a:srgbClr val="800000"/>
                </a:solidFill>
                <a:highlight>
                  <a:srgbClr val="FFFFFF"/>
                </a:highlight>
              </a:rPr>
              <a:t>electronics&amp;sort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</a:rPr>
              <a:t>=price`</a:t>
            </a:r>
            <a:endParaRPr sz="1400" dirty="0">
              <a:solidFill>
                <a:srgbClr val="8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 </a:t>
            </a:r>
            <a:r>
              <a:rPr lang="zh-CN" altLang="en-US" dirty="0"/>
              <a:t>状态码</a:t>
            </a:r>
            <a:endParaRPr dirty="0"/>
          </a:p>
        </p:txBody>
      </p:sp>
      <p:sp>
        <p:nvSpPr>
          <p:cNvPr id="157" name="Google Shape;157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表示请求结果的数字代码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按首位数字分组：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altLang="zh-CN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2xx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：成功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- 200 OK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，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201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已创建，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204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无内容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altLang="zh-CN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3xx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：重定向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- 301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永久移动，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304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未修改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altLang="zh-CN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4xx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：客户端错误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- 400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请求错误，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401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未授权，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404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未找到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altLang="zh-CN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5xx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：服务器错误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- 500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内部服务器错误，</a:t>
            </a: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503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服务不可用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200" dirty="0">
                <a:solidFill>
                  <a:srgbClr val="3B3B3B"/>
                </a:solidFill>
                <a:highlight>
                  <a:srgbClr val="FFFFFF"/>
                </a:highlight>
              </a:rPr>
              <a:t>帮助客户端理解发生了什么</a:t>
            </a:r>
            <a:endParaRPr lang="en" sz="1200" dirty="0">
              <a:solidFill>
                <a:srgbClr val="3B3B3B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REST API </a:t>
            </a:r>
            <a:r>
              <a:rPr lang="zh-CN" altLang="en-US" dirty="0"/>
              <a:t>的优势</a:t>
            </a:r>
            <a:endParaRPr dirty="0"/>
          </a:p>
        </p:txBody>
      </p:sp>
      <p:sp>
        <p:nvSpPr>
          <p:cNvPr id="163" name="Google Shape;163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- </a:t>
            </a:r>
            <a:r>
              <a:rPr lang="zh-CN" alt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可扩展性</a:t>
            </a:r>
            <a:r>
              <a:rPr lang="zh-CN" altLang="en-US" sz="1400" dirty="0"/>
              <a:t>：无状态特性有助于扩展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- </a:t>
            </a:r>
            <a:r>
              <a:rPr lang="zh-CN" alt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灵活性</a:t>
            </a:r>
            <a:r>
              <a:rPr lang="zh-CN" altLang="en-US" sz="1400" dirty="0"/>
              <a:t>：客户端可独立演进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- </a:t>
            </a:r>
            <a:r>
              <a:rPr lang="zh-CN" alt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可移植性</a:t>
            </a:r>
            <a:r>
              <a:rPr lang="zh-CN" altLang="en-US" sz="1400" dirty="0"/>
              <a:t>：支持跨平台和跨语言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- </a:t>
            </a:r>
            <a:r>
              <a:rPr lang="zh-CN" alt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可视性</a:t>
            </a:r>
            <a:r>
              <a:rPr lang="zh-CN" altLang="en-US" sz="1400" dirty="0"/>
              <a:t>：清晰的 </a:t>
            </a:r>
            <a:r>
              <a:rPr lang="en-US" altLang="zh-CN" sz="1400" dirty="0"/>
              <a:t>HTTP </a:t>
            </a:r>
            <a:r>
              <a:rPr lang="zh-CN" altLang="en-US" sz="1400" dirty="0"/>
              <a:t>交互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- </a:t>
            </a:r>
            <a:r>
              <a:rPr lang="zh-CN" alt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可靠性</a:t>
            </a:r>
            <a:r>
              <a:rPr lang="zh-CN" altLang="en-US" sz="1400" dirty="0"/>
              <a:t>：缓存和错误处理机制明确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- </a:t>
            </a:r>
            <a:r>
              <a:rPr lang="zh-CN" alt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简洁性</a:t>
            </a:r>
            <a:r>
              <a:rPr lang="zh-CN" altLang="en-US" sz="1400" dirty="0"/>
              <a:t>：更易于理解和实现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- </a:t>
            </a:r>
            <a:r>
              <a:rPr lang="zh-CN" alt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广泛采用</a:t>
            </a:r>
            <a:r>
              <a:rPr lang="zh-CN" altLang="en-US" sz="1400" dirty="0"/>
              <a:t>：行业标准</a:t>
            </a:r>
            <a:endParaRPr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后端框架基础</a:t>
            </a:r>
            <a:endParaRPr dirty="0"/>
          </a:p>
        </p:txBody>
      </p:sp>
      <p:sp>
        <p:nvSpPr>
          <p:cNvPr id="169" name="Google Shape;169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- </a:t>
            </a:r>
            <a:r>
              <a:rPr lang="zh-CN" altLang="en-US" sz="1200" dirty="0"/>
              <a:t>框架提供结构和通用功能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- </a:t>
            </a:r>
            <a:r>
              <a:rPr lang="zh-CN" altLang="en-US" sz="1200" dirty="0"/>
              <a:t>处理重复性任务（路由、序列化等）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- </a:t>
            </a:r>
            <a:r>
              <a:rPr lang="zh-CN" altLang="en-US" sz="1200" dirty="0"/>
              <a:t>常见功能：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/>
              <a:t>  </a:t>
            </a:r>
            <a:r>
              <a:rPr lang="en-US" altLang="zh-CN" sz="1200" dirty="0"/>
              <a:t>- HTTP </a:t>
            </a:r>
            <a:r>
              <a:rPr lang="zh-CN" altLang="en-US" sz="1200" dirty="0"/>
              <a:t>服务器功能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/>
              <a:t>  </a:t>
            </a:r>
            <a:r>
              <a:rPr lang="en-US" altLang="zh-CN" sz="1200" dirty="0"/>
              <a:t>- </a:t>
            </a:r>
            <a:r>
              <a:rPr lang="zh-CN" altLang="en-US" sz="1200" dirty="0"/>
              <a:t>路由系统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/>
              <a:t>  </a:t>
            </a:r>
            <a:r>
              <a:rPr lang="en-US" altLang="zh-CN" sz="1200" dirty="0"/>
              <a:t>- </a:t>
            </a:r>
            <a:r>
              <a:rPr lang="zh-CN" altLang="en-US" sz="1200" dirty="0"/>
              <a:t>请求</a:t>
            </a:r>
            <a:r>
              <a:rPr lang="en-US" altLang="zh-CN" sz="1200" dirty="0"/>
              <a:t>/</a:t>
            </a:r>
            <a:r>
              <a:rPr lang="zh-CN" altLang="en-US" sz="1200" dirty="0"/>
              <a:t>响应处理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/>
              <a:t>  </a:t>
            </a:r>
            <a:r>
              <a:rPr lang="en-US" altLang="zh-CN" sz="1200" dirty="0"/>
              <a:t>- </a:t>
            </a:r>
            <a:r>
              <a:rPr lang="zh-CN" altLang="en-US" sz="1200" dirty="0"/>
              <a:t>数据验证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/>
              <a:t>  </a:t>
            </a:r>
            <a:r>
              <a:rPr lang="en-US" altLang="zh-CN" sz="1200" dirty="0"/>
              <a:t>- </a:t>
            </a:r>
            <a:r>
              <a:rPr lang="zh-CN" altLang="en-US" sz="1200" dirty="0"/>
              <a:t>数据库集成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/>
              <a:t>  </a:t>
            </a:r>
            <a:r>
              <a:rPr lang="en-US" altLang="zh-CN" sz="1200" dirty="0"/>
              <a:t>- </a:t>
            </a:r>
            <a:r>
              <a:rPr lang="zh-CN" altLang="en-US" sz="1200" dirty="0"/>
              <a:t>身份验证</a:t>
            </a:r>
            <a:r>
              <a:rPr lang="en-US" altLang="zh-CN" sz="1200" dirty="0"/>
              <a:t>/</a:t>
            </a:r>
            <a:r>
              <a:rPr lang="zh-CN" altLang="en-US" sz="1200" dirty="0"/>
              <a:t>授权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/>
              <a:t>  </a:t>
            </a:r>
            <a:r>
              <a:rPr lang="en-US" altLang="zh-CN" sz="1200" dirty="0"/>
              <a:t>- </a:t>
            </a:r>
            <a:r>
              <a:rPr lang="zh-CN" altLang="en-US" sz="1200" dirty="0"/>
              <a:t>测试支持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/>
              <a:t>  </a:t>
            </a:r>
            <a:r>
              <a:rPr lang="en-US" altLang="zh-CN" sz="1200" dirty="0"/>
              <a:t>- </a:t>
            </a:r>
            <a:r>
              <a:rPr lang="zh-CN" altLang="en-US" sz="1200" dirty="0"/>
              <a:t>日志记录与监控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Ktor</a:t>
            </a:r>
            <a:r>
              <a:rPr lang="en-US" dirty="0"/>
              <a:t> </a:t>
            </a:r>
            <a:r>
              <a:rPr lang="zh-CN" altLang="en-US" dirty="0"/>
              <a:t>简介</a:t>
            </a:r>
            <a:endParaRPr dirty="0"/>
          </a:p>
        </p:txBody>
      </p:sp>
      <p:sp>
        <p:nvSpPr>
          <p:cNvPr id="175" name="Google Shape;17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贴近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HTTP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面向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Kotlin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的轻量级异步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Web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框架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由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JetBrains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开发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非常适合微服务、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HTTP API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和 </a:t>
            </a:r>
            <a:r>
              <a:rPr 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RESTful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应用程序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当前版本：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3.1.2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（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2025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年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3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月）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高度模块化，采用基于插件的架构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创建 </a:t>
            </a:r>
            <a:r>
              <a:rPr lang="en-US" dirty="0" err="1"/>
              <a:t>Ktor</a:t>
            </a:r>
            <a:r>
              <a:rPr lang="en-US" dirty="0"/>
              <a:t> </a:t>
            </a:r>
            <a:r>
              <a:rPr lang="zh-CN" altLang="en-US" dirty="0"/>
              <a:t>项目</a:t>
            </a:r>
            <a:endParaRPr dirty="0"/>
          </a:p>
        </p:txBody>
      </p:sp>
      <p:sp>
        <p:nvSpPr>
          <p:cNvPr id="181" name="Google Shape;181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访问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  <a:hlinkClick r:id="rId3"/>
              </a:rPr>
              <a:t>https://start.ktor.io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使用 </a:t>
            </a:r>
            <a:r>
              <a:rPr lang="en-US" altLang="zh-CN" sz="1400" dirty="0" err="1">
                <a:solidFill>
                  <a:srgbClr val="3B3B3B"/>
                </a:solidFill>
                <a:highlight>
                  <a:srgbClr val="FFFFFF"/>
                </a:highlight>
              </a:rPr>
              <a:t>Ktor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项目生成器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选择您的偏好设置：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构建系统（推荐使用带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Kotlin DSL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的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Gradle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en-US" altLang="zh-CN" sz="1400" dirty="0" err="1">
                <a:solidFill>
                  <a:srgbClr val="3B3B3B"/>
                </a:solidFill>
                <a:highlight>
                  <a:srgbClr val="FFFFFF"/>
                </a:highlight>
              </a:rPr>
              <a:t>Ktor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版本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服务器引擎（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Netty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、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CIO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、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Tomcat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等）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3B3B3B"/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rgbClr val="3B3B3B"/>
                </a:solidFill>
                <a:highlight>
                  <a:srgbClr val="FFFFFF"/>
                </a:highlight>
              </a:rPr>
              <a:t>所需插件</a:t>
            </a:r>
            <a:endParaRPr lang="en-US" sz="14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sz="1400" dirty="0"/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128" y="1017725"/>
            <a:ext cx="4540421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启动 </a:t>
            </a:r>
            <a:r>
              <a:rPr lang="en-US" altLang="zh-CN" dirty="0" err="1"/>
              <a:t>Ktor</a:t>
            </a:r>
            <a:r>
              <a:rPr lang="en-US" altLang="zh-CN" dirty="0"/>
              <a:t> </a:t>
            </a:r>
            <a:r>
              <a:rPr lang="zh-CN" altLang="en-US" dirty="0"/>
              <a:t>应用程序</a:t>
            </a:r>
            <a:endParaRPr dirty="0"/>
          </a:p>
        </p:txBody>
      </p:sp>
      <p:sp>
        <p:nvSpPr>
          <p:cNvPr id="188" name="Google Shape;18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400" dirty="0">
                <a:highlight>
                  <a:srgbClr val="FFFFFF"/>
                </a:highlight>
              </a:rPr>
              <a:t> </a:t>
            </a:r>
            <a:r>
              <a:rPr lang="en" sz="1400" dirty="0">
                <a:solidFill>
                  <a:srgbClr val="795E26"/>
                </a:solidFill>
                <a:highlight>
                  <a:srgbClr val="FFFFFF"/>
                </a:highlight>
              </a:rPr>
              <a:t>main</a:t>
            </a:r>
            <a:r>
              <a:rPr lang="en" sz="1400" dirty="0">
                <a:highlight>
                  <a:srgbClr val="FFFFFF"/>
                </a:highlight>
              </a:rPr>
              <a:t>() {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</a:t>
            </a:r>
            <a:r>
              <a:rPr lang="en" sz="14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使用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Netty 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引擎启动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</a:rPr>
              <a:t>Ktor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服务器</a:t>
            </a:r>
            <a:endParaRPr sz="14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embeddedServer(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    </a:t>
            </a:r>
            <a:r>
              <a:rPr lang="en" sz="1400" dirty="0">
                <a:solidFill>
                  <a:srgbClr val="267F99"/>
                </a:solidFill>
                <a:highlight>
                  <a:srgbClr val="FFFFFF"/>
                </a:highlight>
              </a:rPr>
              <a:t>Netty</a:t>
            </a:r>
            <a:r>
              <a:rPr lang="en" sz="1400" dirty="0">
                <a:highlight>
                  <a:srgbClr val="FFFFFF"/>
                </a:highlight>
              </a:rPr>
              <a:t>,           </a:t>
            </a:r>
            <a:r>
              <a:rPr lang="en" sz="14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引擎</a:t>
            </a:r>
            <a:endParaRPr sz="14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    port = </a:t>
            </a:r>
            <a:r>
              <a:rPr lang="en" sz="1400" dirty="0">
                <a:solidFill>
                  <a:srgbClr val="098658"/>
                </a:solidFill>
                <a:highlight>
                  <a:srgbClr val="FFFFFF"/>
                </a:highlight>
              </a:rPr>
              <a:t>8080</a:t>
            </a:r>
            <a:r>
              <a:rPr lang="en" sz="1400" dirty="0">
                <a:highlight>
                  <a:srgbClr val="FFFFFF"/>
                </a:highlight>
              </a:rPr>
              <a:t>,     </a:t>
            </a:r>
            <a:r>
              <a:rPr lang="en" sz="14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端口</a:t>
            </a:r>
            <a:endParaRPr sz="14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    host = </a:t>
            </a:r>
            <a:r>
              <a:rPr lang="en" sz="1400" dirty="0">
                <a:solidFill>
                  <a:srgbClr val="A31515"/>
                </a:solidFill>
                <a:highlight>
                  <a:srgbClr val="FFFFFF"/>
                </a:highlight>
              </a:rPr>
              <a:t>“0.0.0.0”</a:t>
            </a:r>
            <a:r>
              <a:rPr lang="en" sz="1400" dirty="0">
                <a:highlight>
                  <a:srgbClr val="FFFFFF"/>
                </a:highlight>
              </a:rPr>
              <a:t>,</a:t>
            </a:r>
            <a:r>
              <a:rPr lang="en" sz="14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主机</a:t>
            </a:r>
            <a:endParaRPr sz="14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    module = </a:t>
            </a:r>
            <a:r>
              <a:rPr lang="en" sz="1400" dirty="0">
                <a:solidFill>
                  <a:srgbClr val="001080"/>
                </a:solidFill>
                <a:highlight>
                  <a:srgbClr val="FFFFFF"/>
                </a:highlight>
              </a:rPr>
              <a:t>Application</a:t>
            </a:r>
            <a:r>
              <a:rPr lang="en" sz="1400" dirty="0">
                <a:highlight>
                  <a:srgbClr val="FFFFFF"/>
                </a:highlight>
              </a:rPr>
              <a:t>::module </a:t>
            </a:r>
            <a:r>
              <a:rPr lang="en" sz="14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模块函数</a:t>
            </a:r>
            <a:endParaRPr sz="14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).start(wait = </a:t>
            </a:r>
            <a:r>
              <a:rPr lang="en" sz="1400" dirty="0">
                <a:solidFill>
                  <a:srgbClr val="0000FF"/>
                </a:solidFill>
                <a:highlight>
                  <a:srgbClr val="FFFFFF"/>
                </a:highlight>
              </a:rPr>
              <a:t>true</a:t>
            </a:r>
            <a:r>
              <a:rPr lang="en" sz="1400" dirty="0">
                <a:highlight>
                  <a:srgbClr val="FFFFFF"/>
                </a:highlight>
              </a:rPr>
              <a:t>)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highlight>
                  <a:srgbClr val="FFFFFF"/>
                </a:highlight>
              </a:rPr>
              <a:t>}</a:t>
            </a:r>
            <a:endParaRPr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简单 </a:t>
            </a:r>
            <a:r>
              <a:rPr lang="en-US" altLang="zh-CN" dirty="0" err="1"/>
              <a:t>Ktor</a:t>
            </a:r>
            <a:r>
              <a:rPr lang="en-US" altLang="zh-CN" dirty="0"/>
              <a:t> </a:t>
            </a:r>
            <a:r>
              <a:rPr lang="zh-CN" altLang="en-US" dirty="0"/>
              <a:t>应用程序</a:t>
            </a:r>
            <a:endParaRPr dirty="0"/>
          </a:p>
        </p:txBody>
      </p:sp>
      <p:sp>
        <p:nvSpPr>
          <p:cNvPr id="194" name="Google Shape;194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033B3"/>
                </a:solidFill>
                <a:highlight>
                  <a:srgbClr val="FFFFFF"/>
                </a:highlight>
              </a:rPr>
              <a:t>fun </a:t>
            </a:r>
            <a:r>
              <a:rPr lang="en" sz="1200" dirty="0">
                <a:highlight>
                  <a:srgbClr val="FFFFFF"/>
                </a:highlight>
              </a:rPr>
              <a:t>Application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.</a:t>
            </a:r>
            <a:r>
              <a:rPr lang="en" sz="1200" dirty="0">
                <a:solidFill>
                  <a:srgbClr val="00627A"/>
                </a:solidFill>
                <a:highlight>
                  <a:srgbClr val="FFFFFF"/>
                </a:highlight>
              </a:rPr>
              <a:t>module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() {</a:t>
            </a:r>
            <a:endParaRPr sz="1200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33B3"/>
                </a:solidFill>
                <a:highlight>
                  <a:srgbClr val="FFFFFF"/>
                </a:highlight>
              </a:rPr>
              <a:t>routing </a:t>
            </a: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{</a:t>
            </a:r>
            <a:endParaRPr sz="1200" b="1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       </a:t>
            </a:r>
            <a:r>
              <a:rPr lang="en" sz="1200" dirty="0">
                <a:solidFill>
                  <a:srgbClr val="0033B3"/>
                </a:solidFill>
                <a:highlight>
                  <a:srgbClr val="FFFFFF"/>
                </a:highlight>
              </a:rPr>
              <a:t>get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(</a:t>
            </a:r>
            <a:r>
              <a:rPr lang="en" sz="1200" dirty="0">
                <a:solidFill>
                  <a:srgbClr val="067D17"/>
                </a:solidFill>
                <a:highlight>
                  <a:srgbClr val="FFFFFF"/>
                </a:highlight>
              </a:rPr>
              <a:t>"/"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) </a:t>
            </a: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{</a:t>
            </a:r>
            <a:endParaRPr sz="1200" b="1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           </a:t>
            </a:r>
            <a:r>
              <a:rPr lang="en" sz="1200" dirty="0">
                <a:solidFill>
                  <a:srgbClr val="871094"/>
                </a:solidFill>
                <a:highlight>
                  <a:srgbClr val="FFFFFF"/>
                </a:highlight>
              </a:rPr>
              <a:t>call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.respondText(</a:t>
            </a:r>
            <a:r>
              <a:rPr lang="en" sz="1200" dirty="0">
                <a:solidFill>
                  <a:srgbClr val="067D17"/>
                </a:solidFill>
                <a:highlight>
                  <a:srgbClr val="FFFFFF"/>
                </a:highlight>
              </a:rPr>
              <a:t>"Hello World!"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)</a:t>
            </a:r>
            <a:endParaRPr sz="1200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       </a:t>
            </a: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}</a:t>
            </a:r>
            <a:endParaRPr sz="1200" b="1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   }</a:t>
            </a:r>
            <a:endParaRPr sz="1200" b="1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}</a:t>
            </a:r>
            <a:endParaRPr sz="1200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构建路由</a:t>
            </a:r>
            <a:endParaRPr dirty="0"/>
          </a:p>
        </p:txBody>
      </p:sp>
      <p:sp>
        <p:nvSpPr>
          <p:cNvPr id="200" name="Google Shape;20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050" dirty="0">
                <a:highlight>
                  <a:srgbClr val="FFFFFF"/>
                </a:highlight>
              </a:rPr>
              <a:t> Application.</a:t>
            </a:r>
            <a:r>
              <a:rPr lang="en" sz="1050" dirty="0">
                <a:solidFill>
                  <a:srgbClr val="795E26"/>
                </a:solidFill>
                <a:highlight>
                  <a:srgbClr val="FFFFFF"/>
                </a:highlight>
              </a:rPr>
              <a:t>configureRouting</a:t>
            </a:r>
            <a:r>
              <a:rPr lang="en" sz="1050" dirty="0">
                <a:highlight>
                  <a:srgbClr val="FFFFFF"/>
                </a:highlight>
              </a:rPr>
              <a:t>()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routing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定义一个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GET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端点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get(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"/"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call.respondText(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"Hello, Ktor!"</a:t>
            </a:r>
            <a:r>
              <a:rPr lang="en" sz="1050" dirty="0">
                <a:highlight>
                  <a:srgbClr val="FFFFFF"/>
                </a:highlight>
              </a:rPr>
              <a:t>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定义一个返回 </a:t>
            </a:r>
            <a:r>
              <a:rPr lang="en-US" altLang="zh-CN" sz="1050" dirty="0">
                <a:solidFill>
                  <a:srgbClr val="008000"/>
                </a:solidFill>
                <a:highlight>
                  <a:srgbClr val="FFFFFF"/>
                </a:highlight>
              </a:rPr>
              <a:t>JSON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响应的 </a:t>
            </a:r>
            <a:r>
              <a:rPr lang="en-US" altLang="zh-CN" sz="1050" dirty="0">
                <a:solidFill>
                  <a:srgbClr val="008000"/>
                </a:solidFill>
                <a:highlight>
                  <a:srgbClr val="FFFFFF"/>
                </a:highlight>
              </a:rPr>
              <a:t>GET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端点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get(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"/info"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call.respond(</a:t>
            </a:r>
            <a:r>
              <a:rPr lang="en" sz="1050" dirty="0">
                <a:solidFill>
                  <a:srgbClr val="795E26"/>
                </a:solidFill>
                <a:highlight>
                  <a:srgbClr val="FFFFFF"/>
                </a:highlight>
              </a:rPr>
              <a:t>mapOf</a:t>
            </a:r>
            <a:r>
              <a:rPr lang="en" sz="1050" dirty="0">
                <a:highlight>
                  <a:srgbClr val="FFFFFF"/>
                </a:highlight>
              </a:rPr>
              <a:t>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"version"</a:t>
            </a:r>
            <a:r>
              <a:rPr lang="en" sz="1050" dirty="0">
                <a:highlight>
                  <a:srgbClr val="FFFFFF"/>
                </a:highlight>
              </a:rPr>
              <a:t> to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"1.0"</a:t>
            </a:r>
            <a:r>
              <a:rPr lang="en" sz="1050" dirty="0">
                <a:highlight>
                  <a:srgbClr val="FFFFFF"/>
                </a:highlight>
              </a:rPr>
              <a:t>))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highlight>
                  <a:srgbClr val="FFFFFF"/>
                </a:highlight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构建路由</a:t>
            </a:r>
            <a:endParaRPr dirty="0"/>
          </a:p>
        </p:txBody>
      </p:sp>
      <p:sp>
        <p:nvSpPr>
          <p:cNvPr id="206" name="Google Shape;206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b="1" dirty="0">
                <a:highlight>
                  <a:srgbClr val="FFFFFF"/>
                </a:highlight>
              </a:rPr>
              <a:t>route</a:t>
            </a:r>
            <a:r>
              <a:rPr lang="en" sz="1050" dirty="0">
                <a:highlight>
                  <a:srgbClr val="FFFFFF"/>
                </a:highlight>
              </a:rPr>
              <a:t>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"/api"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嵌套路由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route(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"/v1"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任务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API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端点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route(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"/tasks"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    </a:t>
            </a:r>
            <a:r>
              <a:rPr lang="en" sz="1050" b="1" dirty="0">
                <a:highlight>
                  <a:srgbClr val="FFFFFF"/>
                </a:highlight>
              </a:rPr>
              <a:t>get</a:t>
            </a:r>
            <a:r>
              <a:rPr lang="en" sz="1050" dirty="0">
                <a:highlight>
                  <a:srgbClr val="FFFFFF"/>
                </a:highlight>
              </a:rPr>
              <a:t> {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/*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获取所有任务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*/</a:t>
            </a:r>
            <a:r>
              <a:rPr lang="en" sz="1050" dirty="0">
                <a:highlight>
                  <a:srgbClr val="FFFFFF"/>
                </a:highlight>
              </a:rPr>
              <a:t>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    </a:t>
            </a:r>
            <a:r>
              <a:rPr lang="en" sz="1050" b="1" dirty="0">
                <a:highlight>
                  <a:srgbClr val="FFFFFF"/>
                </a:highlight>
              </a:rPr>
              <a:t>post</a:t>
            </a:r>
            <a:r>
              <a:rPr lang="en" sz="1050" dirty="0">
                <a:highlight>
                  <a:srgbClr val="FFFFFF"/>
                </a:highlight>
              </a:rPr>
              <a:t> {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/*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创建任务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*/</a:t>
            </a:r>
            <a:r>
              <a:rPr lang="en" sz="1050" dirty="0">
                <a:highlight>
                  <a:srgbClr val="FFFFFF"/>
                </a:highlight>
              </a:rPr>
              <a:t>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endParaRPr sz="105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路径参数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    route(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"/{id}"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        get {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/*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根据 </a:t>
            </a:r>
            <a:r>
              <a:rPr lang="en-US" altLang="zh-CN" sz="1050" dirty="0">
                <a:solidFill>
                  <a:srgbClr val="008000"/>
                </a:solidFill>
                <a:highlight>
                  <a:srgbClr val="FFFFFF"/>
                </a:highlight>
              </a:rPr>
              <a:t>ID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获取任务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*/</a:t>
            </a:r>
            <a:r>
              <a:rPr lang="en" sz="1050" dirty="0">
                <a:highlight>
                  <a:srgbClr val="FFFFFF"/>
                </a:highlight>
              </a:rPr>
              <a:t>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        </a:t>
            </a:r>
            <a:r>
              <a:rPr lang="en" sz="1050" b="1" dirty="0">
                <a:highlight>
                  <a:srgbClr val="FFFFFF"/>
                </a:highlight>
              </a:rPr>
              <a:t>put</a:t>
            </a:r>
            <a:r>
              <a:rPr lang="en" sz="1050" dirty="0">
                <a:highlight>
                  <a:srgbClr val="FFFFFF"/>
                </a:highlight>
              </a:rPr>
              <a:t> {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/*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更新任务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*/</a:t>
            </a:r>
            <a:r>
              <a:rPr lang="en" sz="1050" dirty="0">
                <a:highlight>
                  <a:srgbClr val="FFFFFF"/>
                </a:highlight>
              </a:rPr>
              <a:t>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        </a:t>
            </a:r>
            <a:r>
              <a:rPr lang="en" sz="1050" b="1" dirty="0">
                <a:highlight>
                  <a:srgbClr val="FFFFFF"/>
                </a:highlight>
              </a:rPr>
              <a:t>delete</a:t>
            </a:r>
            <a:r>
              <a:rPr lang="en" sz="1050" dirty="0">
                <a:highlight>
                  <a:srgbClr val="FFFFFF"/>
                </a:highlight>
              </a:rPr>
              <a:t> {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/*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删除任务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*/</a:t>
            </a:r>
            <a:r>
              <a:rPr lang="en" sz="1050" dirty="0">
                <a:highlight>
                  <a:srgbClr val="FFFFFF"/>
                </a:highlight>
              </a:rPr>
              <a:t>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 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highlight>
                  <a:srgbClr val="FFFFFF"/>
                </a:highlight>
              </a:rPr>
              <a:t>       }</a:t>
            </a:r>
            <a:endParaRPr sz="1050" dirty="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请求参数</a:t>
            </a:r>
            <a:endParaRPr dirty="0"/>
          </a:p>
        </p:txBody>
      </p:sp>
      <p:sp>
        <p:nvSpPr>
          <p:cNvPr id="212" name="Google Shape;212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8000"/>
                </a:solidFill>
                <a:highlight>
                  <a:srgbClr val="FFFFFF"/>
                </a:highlight>
              </a:rPr>
              <a:t>// /tasks/42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get(</a:t>
            </a:r>
            <a:r>
              <a:rPr lang="en" sz="1400" dirty="0">
                <a:solidFill>
                  <a:srgbClr val="A31515"/>
                </a:solidFill>
                <a:highlight>
                  <a:srgbClr val="FFFFFF"/>
                </a:highlight>
              </a:rPr>
              <a:t>"/tasks/{id}"</a:t>
            </a:r>
            <a:r>
              <a:rPr lang="en" sz="1400" dirty="0">
                <a:highlight>
                  <a:srgbClr val="FFFFFF"/>
                </a:highlight>
              </a:rPr>
              <a:t>) {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</a:t>
            </a:r>
            <a:r>
              <a:rPr lang="en" sz="14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400" dirty="0">
                <a:highlight>
                  <a:srgbClr val="FFFFFF"/>
                </a:highlight>
              </a:rPr>
              <a:t> id = call.parameters[</a:t>
            </a:r>
            <a:r>
              <a:rPr lang="en" sz="1400" dirty="0">
                <a:solidFill>
                  <a:srgbClr val="A31515"/>
                </a:solidFill>
                <a:highlight>
                  <a:srgbClr val="FFFFFF"/>
                </a:highlight>
              </a:rPr>
              <a:t>"id"</a:t>
            </a:r>
            <a:r>
              <a:rPr lang="en" sz="1400" dirty="0">
                <a:highlight>
                  <a:srgbClr val="FFFFFF"/>
                </a:highlight>
              </a:rPr>
              <a:t>]?.toIntOrNull()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</a:t>
            </a:r>
            <a:r>
              <a:rPr lang="en" sz="1400" dirty="0">
                <a:solidFill>
                  <a:srgbClr val="AF00DB"/>
                </a:solidFill>
                <a:highlight>
                  <a:srgbClr val="FFFFFF"/>
                </a:highlight>
              </a:rPr>
              <a:t>if</a:t>
            </a:r>
            <a:r>
              <a:rPr lang="en" sz="1400" dirty="0">
                <a:highlight>
                  <a:srgbClr val="FFFFFF"/>
                </a:highlight>
              </a:rPr>
              <a:t> (id == </a:t>
            </a:r>
            <a:r>
              <a:rPr lang="en" sz="1400" dirty="0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r>
              <a:rPr lang="en" sz="1400" dirty="0">
                <a:highlight>
                  <a:srgbClr val="FFFFFF"/>
                </a:highlight>
              </a:rPr>
              <a:t>) {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    call.respond(</a:t>
            </a:r>
            <a:r>
              <a:rPr lang="en" sz="1400" dirty="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400" dirty="0">
                <a:highlight>
                  <a:srgbClr val="FFFFFF"/>
                </a:highlight>
              </a:rPr>
              <a:t>.</a:t>
            </a:r>
            <a:r>
              <a:rPr lang="en" sz="1400" dirty="0">
                <a:solidFill>
                  <a:srgbClr val="267F99"/>
                </a:solidFill>
                <a:highlight>
                  <a:srgbClr val="FFFFFF"/>
                </a:highlight>
              </a:rPr>
              <a:t>BadRequest</a:t>
            </a:r>
            <a:r>
              <a:rPr lang="en" sz="1400" dirty="0">
                <a:highlight>
                  <a:srgbClr val="FFFFFF"/>
                </a:highlight>
              </a:rPr>
              <a:t>, </a:t>
            </a:r>
            <a:r>
              <a:rPr lang="en" sz="1400" dirty="0">
                <a:solidFill>
                  <a:srgbClr val="A31515"/>
                </a:solidFill>
                <a:highlight>
                  <a:srgbClr val="FFFFFF"/>
                </a:highlight>
              </a:rPr>
              <a:t>"Invalid ID format"</a:t>
            </a:r>
            <a:r>
              <a:rPr lang="en" sz="1400" dirty="0">
                <a:highlight>
                  <a:srgbClr val="FFFFFF"/>
                </a:highlight>
              </a:rPr>
              <a:t>)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    </a:t>
            </a:r>
            <a:r>
              <a:rPr lang="en" sz="1400" dirty="0">
                <a:solidFill>
                  <a:srgbClr val="AF00DB"/>
                </a:solidFill>
                <a:highlight>
                  <a:srgbClr val="FFFFFF"/>
                </a:highlight>
              </a:rPr>
              <a:t>return</a:t>
            </a:r>
            <a:r>
              <a:rPr lang="en" sz="1400" dirty="0">
                <a:solidFill>
                  <a:srgbClr val="0000FF"/>
                </a:solidFill>
                <a:highlight>
                  <a:srgbClr val="FFFFFF"/>
                </a:highlight>
              </a:rPr>
              <a:t>@get</a:t>
            </a:r>
            <a:endParaRPr sz="1400" dirty="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}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</a:t>
            </a:r>
            <a:r>
              <a:rPr lang="en" sz="14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使用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ID 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参数</a:t>
            </a:r>
            <a:endParaRPr sz="14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}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查询参数</a:t>
            </a:r>
            <a:endParaRPr dirty="0"/>
          </a:p>
        </p:txBody>
      </p:sp>
      <p:sp>
        <p:nvSpPr>
          <p:cNvPr id="218" name="Google Shape;218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8000"/>
                </a:solidFill>
                <a:highlight>
                  <a:srgbClr val="FFFFFF"/>
                </a:highlight>
              </a:rPr>
              <a:t>// /tasks?id=42</a:t>
            </a:r>
            <a:endParaRPr sz="14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get(</a:t>
            </a:r>
            <a:r>
              <a:rPr lang="en" sz="1400" dirty="0">
                <a:solidFill>
                  <a:srgbClr val="A31515"/>
                </a:solidFill>
                <a:highlight>
                  <a:srgbClr val="FFFFFF"/>
                </a:highlight>
              </a:rPr>
              <a:t>"/tasks"</a:t>
            </a:r>
            <a:r>
              <a:rPr lang="en" sz="1400" dirty="0">
                <a:highlight>
                  <a:srgbClr val="FFFFFF"/>
                </a:highlight>
              </a:rPr>
              <a:t>) {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</a:t>
            </a:r>
            <a:r>
              <a:rPr lang="en" sz="14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400" dirty="0">
                <a:highlight>
                  <a:srgbClr val="FFFFFF"/>
                </a:highlight>
              </a:rPr>
              <a:t> id = call.queryParameters[</a:t>
            </a:r>
            <a:r>
              <a:rPr lang="en" sz="1400" dirty="0">
                <a:solidFill>
                  <a:srgbClr val="A31515"/>
                </a:solidFill>
                <a:highlight>
                  <a:srgbClr val="FFFFFF"/>
                </a:highlight>
              </a:rPr>
              <a:t>"id"</a:t>
            </a:r>
            <a:r>
              <a:rPr lang="en" sz="1400" dirty="0">
                <a:highlight>
                  <a:srgbClr val="FFFFFF"/>
                </a:highlight>
              </a:rPr>
              <a:t>]?.toIntOrNull()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</a:t>
            </a:r>
            <a:r>
              <a:rPr lang="en" sz="1400" dirty="0">
                <a:solidFill>
                  <a:srgbClr val="AF00DB"/>
                </a:solidFill>
                <a:highlight>
                  <a:srgbClr val="FFFFFF"/>
                </a:highlight>
              </a:rPr>
              <a:t>if</a:t>
            </a:r>
            <a:r>
              <a:rPr lang="en" sz="1400" dirty="0">
                <a:highlight>
                  <a:srgbClr val="FFFFFF"/>
                </a:highlight>
              </a:rPr>
              <a:t> (id == </a:t>
            </a:r>
            <a:r>
              <a:rPr lang="en" sz="1400" dirty="0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r>
              <a:rPr lang="en" sz="1400" dirty="0">
                <a:highlight>
                  <a:srgbClr val="FFFFFF"/>
                </a:highlight>
              </a:rPr>
              <a:t>) {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    call.respond(</a:t>
            </a:r>
            <a:r>
              <a:rPr lang="en" sz="1400" dirty="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400" dirty="0">
                <a:highlight>
                  <a:srgbClr val="FFFFFF"/>
                </a:highlight>
              </a:rPr>
              <a:t>.</a:t>
            </a:r>
            <a:r>
              <a:rPr lang="en" sz="1400" dirty="0">
                <a:solidFill>
                  <a:srgbClr val="267F99"/>
                </a:solidFill>
                <a:highlight>
                  <a:srgbClr val="FFFFFF"/>
                </a:highlight>
              </a:rPr>
              <a:t>BadRequest</a:t>
            </a:r>
            <a:r>
              <a:rPr lang="en" sz="1400" dirty="0">
                <a:highlight>
                  <a:srgbClr val="FFFFFF"/>
                </a:highlight>
              </a:rPr>
              <a:t>, </a:t>
            </a:r>
            <a:r>
              <a:rPr lang="en" sz="1400" dirty="0">
                <a:solidFill>
                  <a:srgbClr val="A31515"/>
                </a:solidFill>
                <a:highlight>
                  <a:srgbClr val="FFFFFF"/>
                </a:highlight>
              </a:rPr>
              <a:t>"Invalid ID format"</a:t>
            </a:r>
            <a:r>
              <a:rPr lang="en" sz="1400" dirty="0">
                <a:highlight>
                  <a:srgbClr val="FFFFFF"/>
                </a:highlight>
              </a:rPr>
              <a:t>)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    </a:t>
            </a:r>
            <a:r>
              <a:rPr lang="en" sz="1400" dirty="0">
                <a:solidFill>
                  <a:srgbClr val="AF00DB"/>
                </a:solidFill>
                <a:highlight>
                  <a:srgbClr val="FFFFFF"/>
                </a:highlight>
              </a:rPr>
              <a:t>return</a:t>
            </a:r>
            <a:r>
              <a:rPr lang="en" sz="1400" dirty="0">
                <a:solidFill>
                  <a:srgbClr val="0000FF"/>
                </a:solidFill>
                <a:highlight>
                  <a:srgbClr val="FFFFFF"/>
                </a:highlight>
              </a:rPr>
              <a:t>@get</a:t>
            </a:r>
            <a:endParaRPr sz="1400" dirty="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}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   </a:t>
            </a:r>
            <a:r>
              <a:rPr lang="en" sz="14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使用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ID 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参数</a:t>
            </a:r>
            <a:endParaRPr sz="14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highlight>
                  <a:srgbClr val="FFFFFF"/>
                </a:highlight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Ktor</a:t>
            </a:r>
            <a:r>
              <a:rPr lang="en-US" dirty="0"/>
              <a:t> </a:t>
            </a:r>
            <a:r>
              <a:rPr lang="zh-CN" altLang="en-US" dirty="0"/>
              <a:t>中的插件</a:t>
            </a:r>
            <a:endParaRPr dirty="0"/>
          </a:p>
        </p:txBody>
      </p:sp>
      <p:sp>
        <p:nvSpPr>
          <p:cNvPr id="224" name="Google Shape;224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400" dirty="0"/>
              <a:t>- </a:t>
            </a:r>
            <a:r>
              <a:rPr lang="en-US" sz="1400" dirty="0" err="1"/>
              <a:t>ContentNegotiation</a:t>
            </a:r>
            <a:r>
              <a:rPr lang="en-US" sz="1400" dirty="0"/>
              <a:t>：</a:t>
            </a:r>
            <a:r>
              <a:rPr lang="zh-CN" altLang="en-US" sz="1400" dirty="0"/>
              <a:t>处理序列化和反序列化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400" dirty="0"/>
              <a:t>- </a:t>
            </a:r>
            <a:r>
              <a:rPr lang="en-US" sz="1400" dirty="0"/>
              <a:t>Routing：</a:t>
            </a:r>
            <a:r>
              <a:rPr lang="zh-CN" altLang="en-US" sz="1400" dirty="0"/>
              <a:t>管理 </a:t>
            </a:r>
            <a:r>
              <a:rPr lang="en-US" sz="1400" dirty="0"/>
              <a:t>HTTP </a:t>
            </a:r>
            <a:r>
              <a:rPr lang="zh-CN" altLang="en-US" sz="1400" dirty="0"/>
              <a:t>路由定义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400" dirty="0"/>
              <a:t>- </a:t>
            </a:r>
            <a:r>
              <a:rPr lang="en-US" sz="1400" dirty="0"/>
              <a:t>Authentication：</a:t>
            </a:r>
            <a:r>
              <a:rPr lang="zh-CN" altLang="en-US" sz="1400" dirty="0"/>
              <a:t>处理用户身份验证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400" dirty="0"/>
              <a:t>- </a:t>
            </a:r>
            <a:r>
              <a:rPr lang="en-US" sz="1400" dirty="0"/>
              <a:t>CORS：</a:t>
            </a:r>
            <a:r>
              <a:rPr lang="zh-CN" altLang="en-US" sz="1400" dirty="0"/>
              <a:t>管理跨源资源共享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400" dirty="0"/>
              <a:t>- </a:t>
            </a:r>
            <a:r>
              <a:rPr lang="en-US" sz="1400" dirty="0" err="1"/>
              <a:t>StatusPages</a:t>
            </a:r>
            <a:r>
              <a:rPr lang="en-US" sz="1400" dirty="0"/>
              <a:t>：</a:t>
            </a:r>
            <a:r>
              <a:rPr lang="zh-CN" altLang="en-US" sz="1400" dirty="0"/>
              <a:t>处理错误和异常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400" dirty="0"/>
              <a:t>- </a:t>
            </a:r>
            <a:r>
              <a:rPr lang="en-US" sz="1400" dirty="0"/>
              <a:t>Compression：</a:t>
            </a:r>
            <a:r>
              <a:rPr lang="zh-CN" altLang="en-US" sz="1400" dirty="0"/>
              <a:t>压缩 </a:t>
            </a:r>
            <a:r>
              <a:rPr lang="en-US" sz="1400" dirty="0"/>
              <a:t>HTTP </a:t>
            </a:r>
            <a:r>
              <a:rPr lang="zh-CN" altLang="en-US" sz="1400" dirty="0"/>
              <a:t>响应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400" dirty="0"/>
              <a:t>- </a:t>
            </a:r>
            <a:r>
              <a:rPr lang="en-US" sz="1400" dirty="0" err="1"/>
              <a:t>CallLogging</a:t>
            </a:r>
            <a:r>
              <a:rPr lang="en-US" sz="1400" dirty="0"/>
              <a:t>：</a:t>
            </a:r>
            <a:r>
              <a:rPr lang="zh-CN" altLang="en-US" sz="1400" dirty="0"/>
              <a:t>记录 </a:t>
            </a:r>
            <a:r>
              <a:rPr lang="en-US" sz="1400" dirty="0"/>
              <a:t>HTTP </a:t>
            </a:r>
            <a:r>
              <a:rPr lang="zh-CN" altLang="en-US" sz="1400" dirty="0"/>
              <a:t>请求和响应</a:t>
            </a:r>
            <a:endParaRPr sz="140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内容协商</a:t>
            </a:r>
            <a:endParaRPr dirty="0"/>
          </a:p>
        </p:txBody>
      </p:sp>
      <p:sp>
        <p:nvSpPr>
          <p:cNvPr id="230" name="Google Shape;230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u="sng" dirty="0">
                <a:solidFill>
                  <a:schemeClr val="hlink"/>
                </a:solidFill>
                <a:hlinkClick r:id="rId3"/>
              </a:rPr>
              <a:t>https://developer.mozilla.org/en-US/docs/Web/HTTP/Guides/Content_negotiation</a:t>
            </a:r>
            <a:endParaRPr sz="1300" dirty="0"/>
          </a:p>
        </p:txBody>
      </p:sp>
      <p:pic>
        <p:nvPicPr>
          <p:cNvPr id="231" name="Google Shape;23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075" y="1485850"/>
            <a:ext cx="567052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内容协商</a:t>
            </a:r>
            <a:endParaRPr lang="en-US" dirty="0"/>
          </a:p>
        </p:txBody>
      </p:sp>
      <p:sp>
        <p:nvSpPr>
          <p:cNvPr id="237" name="Google Shape;237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050" dirty="0">
                <a:highlight>
                  <a:srgbClr val="FFFFFF"/>
                </a:highlight>
              </a:rPr>
              <a:t> Application.</a:t>
            </a:r>
            <a:r>
              <a:rPr lang="en" sz="1050" dirty="0">
                <a:solidFill>
                  <a:srgbClr val="795E26"/>
                </a:solidFill>
                <a:highlight>
                  <a:srgbClr val="FFFFFF"/>
                </a:highlight>
              </a:rPr>
              <a:t>configureSerialization</a:t>
            </a:r>
            <a:r>
              <a:rPr lang="en" sz="1050" dirty="0">
                <a:highlight>
                  <a:srgbClr val="FFFFFF"/>
                </a:highlight>
              </a:rPr>
              <a:t>()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install(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ContentNegotiation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使用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</a:rPr>
              <a:t>kotlinx.serialization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处理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JSON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json()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替代方案：使用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</a:rPr>
              <a:t>Gson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gson()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替代方案：使用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Jackson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jackson()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内容协商</a:t>
            </a:r>
            <a:endParaRPr dirty="0"/>
          </a:p>
        </p:txBody>
      </p:sp>
      <p:sp>
        <p:nvSpPr>
          <p:cNvPr id="243" name="Google Shape;243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@Serializable</a:t>
            </a:r>
            <a:endParaRPr sz="1050" dirty="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data</a:t>
            </a:r>
            <a:r>
              <a:rPr lang="en" sz="1050" dirty="0">
                <a:highlight>
                  <a:srgbClr val="FFFFFF"/>
                </a:highlight>
              </a:rPr>
              <a:t> </a:t>
            </a: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class</a:t>
            </a:r>
            <a:r>
              <a:rPr lang="en" sz="1050" dirty="0">
                <a:highlight>
                  <a:srgbClr val="FFFFFF"/>
                </a:highlight>
              </a:rPr>
              <a:t>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050" dirty="0">
                <a:highlight>
                  <a:srgbClr val="FFFFFF"/>
                </a:highlight>
              </a:rPr>
              <a:t>(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</a:t>
            </a: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 dirty="0">
                <a:highlight>
                  <a:srgbClr val="FFFFFF"/>
                </a:highlight>
              </a:rPr>
              <a:t> </a:t>
            </a:r>
            <a:r>
              <a:rPr lang="en" sz="1050" dirty="0">
                <a:solidFill>
                  <a:srgbClr val="001080"/>
                </a:solidFill>
                <a:highlight>
                  <a:srgbClr val="FFFFFF"/>
                </a:highlight>
              </a:rPr>
              <a:t>id</a:t>
            </a:r>
            <a:r>
              <a:rPr lang="en" sz="1050" dirty="0">
                <a:highlight>
                  <a:srgbClr val="FFFFFF"/>
                </a:highlight>
              </a:rPr>
              <a:t>: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Int?</a:t>
            </a:r>
            <a:r>
              <a:rPr lang="en" sz="1050" dirty="0">
                <a:highlight>
                  <a:srgbClr val="FFFFFF"/>
                </a:highlight>
              </a:rPr>
              <a:t> = </a:t>
            </a: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r>
              <a:rPr lang="en" sz="1050" dirty="0">
                <a:highlight>
                  <a:srgbClr val="FFFFFF"/>
                </a:highlight>
              </a:rPr>
              <a:t>,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</a:t>
            </a: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 dirty="0">
                <a:highlight>
                  <a:srgbClr val="FFFFFF"/>
                </a:highlight>
              </a:rPr>
              <a:t> </a:t>
            </a:r>
            <a:r>
              <a:rPr lang="en" sz="1050" dirty="0">
                <a:solidFill>
                  <a:srgbClr val="001080"/>
                </a:solidFill>
                <a:highlight>
                  <a:srgbClr val="FFFFFF"/>
                </a:highlight>
              </a:rPr>
              <a:t>title</a:t>
            </a:r>
            <a:r>
              <a:rPr lang="en" sz="1050" dirty="0">
                <a:highlight>
                  <a:srgbClr val="FFFFFF"/>
                </a:highlight>
              </a:rPr>
              <a:t>: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String</a:t>
            </a:r>
            <a:r>
              <a:rPr lang="en" sz="1050" dirty="0">
                <a:highlight>
                  <a:srgbClr val="FFFFFF"/>
                </a:highlight>
              </a:rPr>
              <a:t>,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</a:t>
            </a: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 dirty="0">
                <a:highlight>
                  <a:srgbClr val="FFFFFF"/>
                </a:highlight>
              </a:rPr>
              <a:t> </a:t>
            </a:r>
            <a:r>
              <a:rPr lang="en" sz="1050" dirty="0">
                <a:solidFill>
                  <a:srgbClr val="001080"/>
                </a:solidFill>
                <a:highlight>
                  <a:srgbClr val="FFFFFF"/>
                </a:highlight>
              </a:rPr>
              <a:t>description</a:t>
            </a:r>
            <a:r>
              <a:rPr lang="en" sz="1050" dirty="0">
                <a:highlight>
                  <a:srgbClr val="FFFFFF"/>
                </a:highlight>
              </a:rPr>
              <a:t>: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String</a:t>
            </a:r>
            <a:r>
              <a:rPr lang="en" sz="1050" dirty="0">
                <a:highlight>
                  <a:srgbClr val="FFFFFF"/>
                </a:highlight>
              </a:rPr>
              <a:t>,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</a:t>
            </a: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 dirty="0">
                <a:highlight>
                  <a:srgbClr val="FFFFFF"/>
                </a:highlight>
              </a:rPr>
              <a:t> </a:t>
            </a:r>
            <a:r>
              <a:rPr lang="en" sz="1050" dirty="0">
                <a:solidFill>
                  <a:srgbClr val="001080"/>
                </a:solidFill>
                <a:highlight>
                  <a:srgbClr val="FFFFFF"/>
                </a:highlight>
              </a:rPr>
              <a:t>completed</a:t>
            </a:r>
            <a:r>
              <a:rPr lang="en" sz="1050" dirty="0">
                <a:highlight>
                  <a:srgbClr val="FFFFFF"/>
                </a:highlight>
              </a:rPr>
              <a:t>: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Boolean</a:t>
            </a:r>
            <a:r>
              <a:rPr lang="en" sz="1050" dirty="0">
                <a:highlight>
                  <a:srgbClr val="FFFFFF"/>
                </a:highlight>
              </a:rPr>
              <a:t> = </a:t>
            </a: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false</a:t>
            </a:r>
            <a:endParaRPr sz="1050" dirty="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内容协商：发送</a:t>
            </a:r>
            <a:endParaRPr dirty="0"/>
          </a:p>
        </p:txBody>
      </p:sp>
      <p:sp>
        <p:nvSpPr>
          <p:cNvPr id="249" name="Google Shape;249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033B3"/>
                </a:solidFill>
                <a:highlight>
                  <a:srgbClr val="FFFFFF"/>
                </a:highlight>
              </a:rPr>
              <a:t>fun </a:t>
            </a:r>
            <a:r>
              <a:rPr lang="en" sz="1200" dirty="0">
                <a:highlight>
                  <a:srgbClr val="FFFFFF"/>
                </a:highlight>
              </a:rPr>
              <a:t>Application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.</a:t>
            </a:r>
            <a:r>
              <a:rPr lang="en" sz="1200" dirty="0">
                <a:solidFill>
                  <a:srgbClr val="00627A"/>
                </a:solidFill>
                <a:highlight>
                  <a:srgbClr val="FFFFFF"/>
                </a:highlight>
              </a:rPr>
              <a:t>module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() {</a:t>
            </a:r>
            <a:endParaRPr sz="1200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33B3"/>
                </a:solidFill>
                <a:highlight>
                  <a:srgbClr val="FFFFFF"/>
                </a:highlight>
              </a:rPr>
              <a:t>routing </a:t>
            </a: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{</a:t>
            </a:r>
            <a:endParaRPr sz="1200" b="1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       </a:t>
            </a:r>
            <a:r>
              <a:rPr lang="en" sz="1200" dirty="0">
                <a:solidFill>
                  <a:srgbClr val="0033B3"/>
                </a:solidFill>
                <a:highlight>
                  <a:srgbClr val="FFFFFF"/>
                </a:highlight>
              </a:rPr>
              <a:t>get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(</a:t>
            </a:r>
            <a:r>
              <a:rPr lang="en" sz="1200" dirty="0">
                <a:solidFill>
                  <a:srgbClr val="067D17"/>
                </a:solidFill>
                <a:highlight>
                  <a:srgbClr val="FFFFFF"/>
                </a:highlight>
              </a:rPr>
              <a:t>"/"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) </a:t>
            </a: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{</a:t>
            </a:r>
            <a:endParaRPr sz="1200" b="1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           </a:t>
            </a:r>
            <a:r>
              <a:rPr lang="en" sz="1200" dirty="0">
                <a:solidFill>
                  <a:srgbClr val="871094"/>
                </a:solidFill>
                <a:highlight>
                  <a:srgbClr val="FFFFFF"/>
                </a:highlight>
              </a:rPr>
              <a:t>call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.respond(</a:t>
            </a:r>
            <a:r>
              <a:rPr lang="en" sz="1200" dirty="0">
                <a:solidFill>
                  <a:srgbClr val="067D17"/>
                </a:solidFill>
                <a:highlight>
                  <a:srgbClr val="FFFFFF"/>
                </a:highlight>
              </a:rPr>
              <a:t>HttpStatusCode.OK, Task(....)</a:t>
            </a: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)</a:t>
            </a:r>
            <a:endParaRPr sz="1200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       </a:t>
            </a: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}</a:t>
            </a:r>
            <a:endParaRPr sz="1200" b="1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080808"/>
                </a:solidFill>
                <a:highlight>
                  <a:srgbClr val="FFFFFF"/>
                </a:highlight>
              </a:rPr>
              <a:t>   }</a:t>
            </a:r>
            <a:endParaRPr sz="1200" b="1" dirty="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80808"/>
                </a:solidFill>
                <a:highlight>
                  <a:srgbClr val="FFFFFF"/>
                </a:highlight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内容协商：接收</a:t>
            </a:r>
            <a:endParaRPr dirty="0"/>
          </a:p>
        </p:txBody>
      </p:sp>
      <p:sp>
        <p:nvSpPr>
          <p:cNvPr id="255" name="Google Shape;255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post(</a:t>
            </a:r>
            <a:r>
              <a:rPr lang="en" sz="900" dirty="0">
                <a:solidFill>
                  <a:srgbClr val="A31515"/>
                </a:solidFill>
                <a:highlight>
                  <a:srgbClr val="FFFFFF"/>
                </a:highlight>
              </a:rPr>
              <a:t>"/tasks"</a:t>
            </a:r>
            <a:r>
              <a:rPr lang="en" sz="900" dirty="0">
                <a:highlight>
                  <a:srgbClr val="FFFFFF"/>
                </a:highlight>
              </a:rPr>
              <a:t>) {</a:t>
            </a:r>
            <a:endParaRPr sz="9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</a:t>
            </a:r>
            <a:r>
              <a:rPr lang="en" sz="900" dirty="0">
                <a:solidFill>
                  <a:srgbClr val="AF00DB"/>
                </a:solidFill>
                <a:highlight>
                  <a:srgbClr val="FFFFFF"/>
                </a:highlight>
              </a:rPr>
              <a:t>try</a:t>
            </a:r>
            <a:r>
              <a:rPr lang="en" sz="900" dirty="0">
                <a:highlight>
                  <a:srgbClr val="FFFFFF"/>
                </a:highlight>
              </a:rPr>
              <a:t> {</a:t>
            </a:r>
            <a:endParaRPr sz="9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    </a:t>
            </a:r>
            <a:r>
              <a:rPr lang="en" sz="9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900" dirty="0">
                <a:solidFill>
                  <a:srgbClr val="008000"/>
                </a:solidFill>
                <a:highlight>
                  <a:srgbClr val="FFFFFF"/>
                </a:highlight>
              </a:rPr>
              <a:t>将请求正文解析为任务 </a:t>
            </a:r>
            <a:r>
              <a:rPr lang="en-US" altLang="zh-CN" sz="900" dirty="0">
                <a:solidFill>
                  <a:srgbClr val="008000"/>
                </a:solidFill>
                <a:highlight>
                  <a:srgbClr val="FFFFFF"/>
                </a:highlight>
              </a:rPr>
              <a:t>Task </a:t>
            </a:r>
            <a:r>
              <a:rPr lang="zh-CN" altLang="en-US" sz="900" dirty="0">
                <a:solidFill>
                  <a:srgbClr val="008000"/>
                </a:solidFill>
                <a:highlight>
                  <a:srgbClr val="FFFFFF"/>
                </a:highlight>
              </a:rPr>
              <a:t>对象</a:t>
            </a:r>
            <a:endParaRPr sz="9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    </a:t>
            </a:r>
            <a:r>
              <a:rPr lang="en" sz="9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900" dirty="0">
                <a:highlight>
                  <a:srgbClr val="FFFFFF"/>
                </a:highlight>
              </a:rPr>
              <a:t> task = call.receive&lt;</a:t>
            </a:r>
            <a:r>
              <a:rPr lang="en" sz="900" dirty="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900" dirty="0">
                <a:highlight>
                  <a:srgbClr val="FFFFFF"/>
                </a:highlight>
              </a:rPr>
              <a:t>&gt;()</a:t>
            </a:r>
            <a:endParaRPr sz="9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    </a:t>
            </a:r>
            <a:r>
              <a:rPr lang="en" sz="900" dirty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zh-CN" altLang="en-US" sz="900" dirty="0">
                <a:solidFill>
                  <a:srgbClr val="008000"/>
                </a:solidFill>
                <a:highlight>
                  <a:srgbClr val="FFFFFF"/>
                </a:highlight>
              </a:rPr>
              <a:t>处理任务</a:t>
            </a:r>
            <a:endParaRPr lang="en-US" sz="9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highlight>
                  <a:srgbClr val="FFFFFF"/>
                </a:highlight>
              </a:rPr>
              <a:t>    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</a:rPr>
              <a:t>// ...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    </a:t>
            </a:r>
            <a:r>
              <a:rPr lang="en" sz="9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900" dirty="0">
                <a:solidFill>
                  <a:srgbClr val="008000"/>
                </a:solidFill>
                <a:highlight>
                  <a:srgbClr val="FFFFFF"/>
                </a:highlight>
              </a:rPr>
              <a:t>返回已创建的任务</a:t>
            </a:r>
            <a:endParaRPr sz="9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    call.respond(</a:t>
            </a:r>
            <a:r>
              <a:rPr lang="en" sz="900" dirty="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900" dirty="0">
                <a:highlight>
                  <a:srgbClr val="FFFFFF"/>
                </a:highlight>
              </a:rPr>
              <a:t>.</a:t>
            </a:r>
            <a:r>
              <a:rPr lang="en" sz="900" dirty="0">
                <a:solidFill>
                  <a:srgbClr val="267F99"/>
                </a:solidFill>
                <a:highlight>
                  <a:srgbClr val="FFFFFF"/>
                </a:highlight>
              </a:rPr>
              <a:t>Created</a:t>
            </a:r>
            <a:r>
              <a:rPr lang="en" sz="900" dirty="0">
                <a:highlight>
                  <a:srgbClr val="FFFFFF"/>
                </a:highlight>
              </a:rPr>
              <a:t>, task)</a:t>
            </a:r>
            <a:endParaRPr sz="9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} </a:t>
            </a:r>
            <a:r>
              <a:rPr lang="en" sz="900" dirty="0">
                <a:solidFill>
                  <a:srgbClr val="AF00DB"/>
                </a:solidFill>
                <a:highlight>
                  <a:srgbClr val="FFFFFF"/>
                </a:highlight>
              </a:rPr>
              <a:t>catch</a:t>
            </a:r>
            <a:r>
              <a:rPr lang="en" sz="900" dirty="0">
                <a:highlight>
                  <a:srgbClr val="FFFFFF"/>
                </a:highlight>
              </a:rPr>
              <a:t> (</a:t>
            </a:r>
            <a:r>
              <a:rPr lang="en" sz="900" dirty="0">
                <a:solidFill>
                  <a:srgbClr val="001080"/>
                </a:solidFill>
                <a:highlight>
                  <a:srgbClr val="FFFFFF"/>
                </a:highlight>
              </a:rPr>
              <a:t>e</a:t>
            </a:r>
            <a:r>
              <a:rPr lang="en" sz="900" dirty="0">
                <a:highlight>
                  <a:srgbClr val="FFFFFF"/>
                </a:highlight>
              </a:rPr>
              <a:t>: </a:t>
            </a:r>
            <a:r>
              <a:rPr lang="en" sz="900" dirty="0">
                <a:solidFill>
                  <a:srgbClr val="267F99"/>
                </a:solidFill>
                <a:highlight>
                  <a:srgbClr val="FFFFFF"/>
                </a:highlight>
              </a:rPr>
              <a:t>ContentTransformationException</a:t>
            </a:r>
            <a:r>
              <a:rPr lang="en" sz="900" dirty="0">
                <a:highlight>
                  <a:srgbClr val="FFFFFF"/>
                </a:highlight>
              </a:rPr>
              <a:t>) {</a:t>
            </a:r>
            <a:endParaRPr sz="9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    call.respond(</a:t>
            </a:r>
            <a:endParaRPr sz="9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        </a:t>
            </a:r>
            <a:r>
              <a:rPr lang="en" sz="900" dirty="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900" dirty="0">
                <a:highlight>
                  <a:srgbClr val="FFFFFF"/>
                </a:highlight>
              </a:rPr>
              <a:t>.</a:t>
            </a:r>
            <a:r>
              <a:rPr lang="en" sz="900" dirty="0">
                <a:solidFill>
                  <a:srgbClr val="267F99"/>
                </a:solidFill>
                <a:highlight>
                  <a:srgbClr val="FFFFFF"/>
                </a:highlight>
              </a:rPr>
              <a:t>BadRequest</a:t>
            </a:r>
            <a:r>
              <a:rPr lang="en" sz="900" dirty="0">
                <a:highlight>
                  <a:srgbClr val="FFFFFF"/>
                </a:highlight>
              </a:rPr>
              <a:t>,</a:t>
            </a:r>
            <a:endParaRPr sz="9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        </a:t>
            </a:r>
            <a:r>
              <a:rPr lang="en" sz="900" dirty="0">
                <a:solidFill>
                  <a:srgbClr val="A31515"/>
                </a:solidFill>
                <a:highlight>
                  <a:srgbClr val="FFFFFF"/>
                </a:highlight>
              </a:rPr>
              <a:t>"Invalid task format: ${e.message}"</a:t>
            </a:r>
            <a:endParaRPr sz="900" dirty="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    )</a:t>
            </a:r>
            <a:endParaRPr sz="9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   }</a:t>
            </a:r>
            <a:endParaRPr sz="9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highlight>
                  <a:srgbClr val="FFFFFF"/>
                </a:highlight>
              </a:rPr>
              <a:t>}</a:t>
            </a:r>
            <a:endParaRPr sz="9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错误处理</a:t>
            </a:r>
            <a:endParaRPr dirty="0"/>
          </a:p>
        </p:txBody>
      </p:sp>
      <p:sp>
        <p:nvSpPr>
          <p:cNvPr id="261" name="Google Shape;261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 dirty="0">
                <a:highlight>
                  <a:srgbClr val="FFFFFF"/>
                </a:highlight>
              </a:rPr>
              <a:t> Application.</a:t>
            </a:r>
            <a:r>
              <a:rPr lang="en" sz="1200" dirty="0">
                <a:solidFill>
                  <a:srgbClr val="795E26"/>
                </a:solidFill>
                <a:highlight>
                  <a:srgbClr val="FFFFFF"/>
                </a:highlight>
              </a:rPr>
              <a:t>configureStatusPages</a:t>
            </a:r>
            <a:r>
              <a:rPr lang="en" sz="1200" dirty="0">
                <a:highlight>
                  <a:srgbClr val="FFFFFF"/>
                </a:highlight>
              </a:rPr>
              <a:t>()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install(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StatusPages</a:t>
            </a:r>
            <a:r>
              <a:rPr lang="en" sz="1200" dirty="0">
                <a:highlight>
                  <a:srgbClr val="FFFFFF"/>
                </a:highlight>
              </a:rPr>
              <a:t>)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</a:t>
            </a:r>
            <a:r>
              <a:rPr lang="en" sz="12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highlight>
                  <a:srgbClr val="FFFFFF"/>
                </a:highlight>
              </a:rPr>
              <a:t>处理路由过程中抛出的异常</a:t>
            </a:r>
            <a:endParaRPr sz="12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exception&lt;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Throwable</a:t>
            </a:r>
            <a:r>
              <a:rPr lang="en" sz="1200" dirty="0">
                <a:highlight>
                  <a:srgbClr val="FFFFFF"/>
                </a:highlight>
              </a:rPr>
              <a:t>&gt; { call, cause -&gt;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    call.respond(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200" dirty="0">
                <a:highlight>
                  <a:srgbClr val="FFFFFF"/>
                </a:highlight>
              </a:rPr>
              <a:t>.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BadRequest</a:t>
            </a:r>
            <a:r>
              <a:rPr lang="en" sz="1200" dirty="0">
                <a:highlight>
                  <a:srgbClr val="FFFFFF"/>
                </a:highlight>
              </a:rPr>
              <a:t>, 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"Invalid request format"</a:t>
            </a:r>
            <a:r>
              <a:rPr lang="en" sz="1200" dirty="0">
                <a:highlight>
                  <a:srgbClr val="FFFFFF"/>
                </a:highlight>
              </a:rPr>
              <a:t>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    }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...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    status(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200" dirty="0">
                <a:highlight>
                  <a:srgbClr val="FFFFFF"/>
                </a:highlight>
              </a:rPr>
              <a:t>.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NotFound</a:t>
            </a:r>
            <a:r>
              <a:rPr lang="en" sz="1200" dirty="0">
                <a:highlight>
                  <a:srgbClr val="FFFFFF"/>
                </a:highlight>
              </a:rPr>
              <a:t>) { call, status -&gt;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        call.respond(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            status,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            </a:t>
            </a:r>
            <a:r>
              <a:rPr lang="en" sz="1200" dirty="0">
                <a:solidFill>
                  <a:srgbClr val="795E26"/>
                </a:solidFill>
                <a:highlight>
                  <a:srgbClr val="FFFFFF"/>
                </a:highlight>
              </a:rPr>
              <a:t>mapOf</a:t>
            </a:r>
            <a:r>
              <a:rPr lang="en" sz="1200" dirty="0">
                <a:highlight>
                  <a:srgbClr val="FFFFFF"/>
                </a:highlight>
              </a:rPr>
              <a:t>(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"error"</a:t>
            </a:r>
            <a:r>
              <a:rPr lang="en" sz="1200" dirty="0">
                <a:highlight>
                  <a:srgbClr val="FFFFFF"/>
                </a:highlight>
              </a:rPr>
              <a:t> to 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"The requested resource was not found"</a:t>
            </a:r>
            <a:r>
              <a:rPr lang="en" sz="1200" dirty="0">
                <a:highlight>
                  <a:srgbClr val="FFFFFF"/>
                </a:highlight>
              </a:rPr>
              <a:t>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        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    }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身份验证</a:t>
            </a:r>
            <a:endParaRPr dirty="0"/>
          </a:p>
        </p:txBody>
      </p:sp>
      <p:sp>
        <p:nvSpPr>
          <p:cNvPr id="267" name="Google Shape;267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112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 u="sng" dirty="0">
                <a:solidFill>
                  <a:schemeClr val="hlink"/>
                </a:solidFill>
                <a:hlinkClick r:id="rId3"/>
              </a:rPr>
              <a:t>https://developer.mozilla.org/en-US/docs/Web/HTTP/Guides/Authentication</a:t>
            </a:r>
            <a:endParaRPr sz="1400" dirty="0"/>
          </a:p>
        </p:txBody>
      </p:sp>
      <p:pic>
        <p:nvPicPr>
          <p:cNvPr id="268" name="Google Shape;26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1507" y="-24175"/>
            <a:ext cx="513458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身份验证基础配置</a:t>
            </a:r>
            <a:endParaRPr dirty="0"/>
          </a:p>
        </p:txBody>
      </p:sp>
      <p:sp>
        <p:nvSpPr>
          <p:cNvPr id="274" name="Google Shape;274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 dirty="0">
                <a:highlight>
                  <a:srgbClr val="FFFFFF"/>
                </a:highlight>
              </a:rPr>
              <a:t> Application.</a:t>
            </a:r>
            <a:r>
              <a:rPr lang="en" sz="1200" dirty="0">
                <a:solidFill>
                  <a:srgbClr val="795E26"/>
                </a:solidFill>
                <a:highlight>
                  <a:srgbClr val="FFFFFF"/>
                </a:highlight>
              </a:rPr>
              <a:t>configureAuthentication</a:t>
            </a:r>
            <a:r>
              <a:rPr lang="en" sz="1200" dirty="0">
                <a:highlight>
                  <a:srgbClr val="FFFFFF"/>
                </a:highlight>
              </a:rPr>
              <a:t>()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install(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Authentication</a:t>
            </a:r>
            <a:r>
              <a:rPr lang="en" sz="1200" dirty="0">
                <a:highlight>
                  <a:srgbClr val="FFFFFF"/>
                </a:highlight>
              </a:rPr>
              <a:t>)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</a:t>
            </a:r>
            <a:r>
              <a:rPr lang="en" sz="12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highlight>
                  <a:srgbClr val="FFFFFF"/>
                </a:highlight>
              </a:rPr>
              <a:t>基础身份验证</a:t>
            </a:r>
            <a:endParaRPr sz="12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basic(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"auth-basic"</a:t>
            </a:r>
            <a:r>
              <a:rPr lang="en" sz="1200" dirty="0">
                <a:highlight>
                  <a:srgbClr val="FFFFFF"/>
                </a:highlight>
              </a:rPr>
              <a:t>)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    validate { credentials -&gt;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        </a:t>
            </a:r>
            <a:r>
              <a:rPr lang="en" sz="1200" dirty="0">
                <a:solidFill>
                  <a:srgbClr val="AF00DB"/>
                </a:solidFill>
                <a:highlight>
                  <a:srgbClr val="FFFFFF"/>
                </a:highlight>
              </a:rPr>
              <a:t>if</a:t>
            </a:r>
            <a:r>
              <a:rPr lang="en" sz="1200" dirty="0">
                <a:highlight>
                  <a:srgbClr val="FFFFFF"/>
                </a:highlight>
              </a:rPr>
              <a:t> (credentials.name == 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"admin"</a:t>
            </a:r>
            <a:r>
              <a:rPr lang="en" sz="1200" dirty="0">
                <a:highlight>
                  <a:srgbClr val="FFFFFF"/>
                </a:highlight>
              </a:rPr>
              <a:t> &amp;&amp;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            credentials.password == 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"password"</a:t>
            </a:r>
            <a:r>
              <a:rPr lang="en" sz="1200" dirty="0">
                <a:highlight>
                  <a:srgbClr val="FFFFFF"/>
                </a:highlight>
              </a:rPr>
              <a:t>)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           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UserIdPrincipal</a:t>
            </a:r>
            <a:r>
              <a:rPr lang="en" sz="1200" dirty="0">
                <a:highlight>
                  <a:srgbClr val="FFFFFF"/>
                </a:highlight>
              </a:rPr>
              <a:t>(credentials.name)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        } </a:t>
            </a:r>
            <a:r>
              <a:rPr lang="en" sz="1200" dirty="0">
                <a:solidFill>
                  <a:srgbClr val="AF00DB"/>
                </a:solidFill>
                <a:highlight>
                  <a:srgbClr val="FFFFFF"/>
                </a:highlight>
              </a:rPr>
              <a:t>else</a:t>
            </a:r>
            <a:r>
              <a:rPr lang="en" sz="1200" dirty="0">
                <a:highlight>
                  <a:srgbClr val="FFFFFF"/>
                </a:highlight>
              </a:rPr>
              <a:t>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         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endParaRPr sz="1200" dirty="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        }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    }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    }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...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身份验证用例</a:t>
            </a:r>
            <a:endParaRPr dirty="0"/>
          </a:p>
        </p:txBody>
      </p:sp>
      <p:sp>
        <p:nvSpPr>
          <p:cNvPr id="280" name="Google Shape;280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routing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highlight>
                  <a:srgbClr val="FFFFFF"/>
                </a:highlight>
              </a:rPr>
              <a:t>公共路由</a:t>
            </a:r>
            <a:endParaRPr sz="12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get(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"/public"</a:t>
            </a:r>
            <a:r>
              <a:rPr lang="en" sz="1200" dirty="0">
                <a:highlight>
                  <a:srgbClr val="FFFFFF"/>
                </a:highlight>
              </a:rPr>
              <a:t>)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call.respondText(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"Public endpoint"</a:t>
            </a:r>
            <a:r>
              <a:rPr lang="en" sz="1200" dirty="0">
                <a:highlight>
                  <a:srgbClr val="FFFFFF"/>
                </a:highlight>
              </a:rPr>
              <a:t>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}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highlight>
                  <a:srgbClr val="FFFFFF"/>
                </a:highlight>
              </a:rPr>
              <a:t>受保护的路由</a:t>
            </a:r>
            <a:endParaRPr sz="12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authenticate(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"auth-basic"</a:t>
            </a:r>
            <a:r>
              <a:rPr lang="en" sz="1200" dirty="0">
                <a:highlight>
                  <a:srgbClr val="FFFFFF"/>
                </a:highlight>
              </a:rPr>
              <a:t>)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get(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"/protected"</a:t>
            </a:r>
            <a:r>
              <a:rPr lang="en" sz="1200" dirty="0">
                <a:highlight>
                  <a:srgbClr val="FFFFFF"/>
                </a:highlight>
              </a:rPr>
              <a:t>)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 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 dirty="0">
                <a:highlight>
                  <a:srgbClr val="FFFFFF"/>
                </a:highlight>
              </a:rPr>
              <a:t> principal = call.principal&lt;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UserIdPrincipal</a:t>
            </a:r>
            <a:r>
              <a:rPr lang="en" sz="1200" dirty="0">
                <a:highlight>
                  <a:srgbClr val="FFFFFF"/>
                </a:highlight>
              </a:rPr>
              <a:t>&gt;()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    call.respondText(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"Protected endpoint, user: ${principal?.name}"</a:t>
            </a:r>
            <a:r>
              <a:rPr lang="en" sz="1200" dirty="0">
                <a:highlight>
                  <a:srgbClr val="FFFFFF"/>
                </a:highlight>
              </a:rPr>
              <a:t>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}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}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测试</a:t>
            </a:r>
            <a:endParaRPr dirty="0"/>
          </a:p>
        </p:txBody>
      </p:sp>
      <p:sp>
        <p:nvSpPr>
          <p:cNvPr id="286" name="Google Shape;286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0000FF"/>
                </a:solidFill>
                <a:highlight>
                  <a:srgbClr val="FFFFFF"/>
                </a:highlight>
              </a:rPr>
              <a:t>class</a:t>
            </a:r>
            <a:r>
              <a:rPr lang="en" sz="1250" dirty="0">
                <a:highlight>
                  <a:srgbClr val="FFFFFF"/>
                </a:highlight>
              </a:rPr>
              <a:t> 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TaskApiTest</a:t>
            </a:r>
            <a:r>
              <a:rPr lang="en" sz="1250" dirty="0">
                <a:highlight>
                  <a:srgbClr val="FFFFFF"/>
                </a:highlight>
              </a:rPr>
              <a:t> {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</a:t>
            </a:r>
            <a:r>
              <a:rPr lang="en" sz="1250" dirty="0">
                <a:solidFill>
                  <a:srgbClr val="0000FF"/>
                </a:solidFill>
                <a:highlight>
                  <a:srgbClr val="FFFFFF"/>
                </a:highlight>
              </a:rPr>
              <a:t>@Test</a:t>
            </a:r>
            <a:endParaRPr sz="1250" dirty="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</a:t>
            </a:r>
            <a:r>
              <a:rPr lang="en" sz="125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50" dirty="0">
                <a:highlight>
                  <a:srgbClr val="FFFFFF"/>
                </a:highlight>
              </a:rPr>
              <a:t> </a:t>
            </a:r>
            <a:r>
              <a:rPr lang="en" sz="1250" dirty="0">
                <a:solidFill>
                  <a:srgbClr val="795E26"/>
                </a:solidFill>
                <a:highlight>
                  <a:srgbClr val="FFFFFF"/>
                </a:highlight>
              </a:rPr>
              <a:t>`get all tasks returns 200`</a:t>
            </a:r>
            <a:r>
              <a:rPr lang="en" sz="1250" dirty="0">
                <a:highlight>
                  <a:srgbClr val="FFFFFF"/>
                </a:highlight>
              </a:rPr>
              <a:t>() = testApplication {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highlight>
                  <a:srgbClr val="FFFFFF"/>
                </a:highlight>
              </a:rPr>
              <a:t>       application {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highlight>
                  <a:srgbClr val="FFFFFF"/>
                </a:highlight>
              </a:rPr>
              <a:t>           configureRoutine()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highlight>
                  <a:srgbClr val="FFFFFF"/>
                </a:highlight>
              </a:rPr>
              <a:t>       }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0000FF"/>
                </a:solidFill>
                <a:highlight>
                  <a:srgbClr val="FFFFFF"/>
                </a:highlight>
              </a:rPr>
              <a:t>       val</a:t>
            </a:r>
            <a:r>
              <a:rPr lang="en" sz="1250" dirty="0">
                <a:highlight>
                  <a:srgbClr val="FFFFFF"/>
                </a:highlight>
              </a:rPr>
              <a:t> client = createClient {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highlight>
                  <a:srgbClr val="FFFFFF"/>
                </a:highlight>
              </a:rPr>
              <a:t>           install(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ContentNegotiation</a:t>
            </a:r>
            <a:r>
              <a:rPr lang="en" sz="1250" dirty="0">
                <a:highlight>
                  <a:srgbClr val="FFFFFF"/>
                </a:highlight>
              </a:rPr>
              <a:t>) {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highlight>
                  <a:srgbClr val="FFFFFF"/>
                </a:highlight>
              </a:rPr>
              <a:t>               json()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highlight>
                  <a:srgbClr val="FFFFFF"/>
                </a:highlight>
              </a:rPr>
              <a:t>           }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highlight>
                  <a:srgbClr val="FFFFFF"/>
                </a:highlight>
              </a:rPr>
              <a:t>       }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highlight>
                  <a:srgbClr val="FFFFFF"/>
                </a:highlight>
              </a:rPr>
              <a:t>...</a:t>
            </a:r>
            <a:endParaRPr sz="1250" dirty="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测试</a:t>
            </a:r>
            <a:endParaRPr dirty="0"/>
          </a:p>
        </p:txBody>
      </p:sp>
      <p:sp>
        <p:nvSpPr>
          <p:cNvPr id="292" name="Google Shape;292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    </a:t>
            </a:r>
            <a:r>
              <a:rPr lang="en" sz="12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250" dirty="0">
                <a:solidFill>
                  <a:srgbClr val="008000"/>
                </a:solidFill>
                <a:highlight>
                  <a:srgbClr val="FFFFFF"/>
                </a:highlight>
              </a:rPr>
              <a:t>执行测试请求</a:t>
            </a:r>
            <a:endParaRPr sz="12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    </a:t>
            </a:r>
            <a:r>
              <a:rPr lang="en" sz="125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50" dirty="0">
                <a:highlight>
                  <a:srgbClr val="FFFFFF"/>
                </a:highlight>
              </a:rPr>
              <a:t> response = client.get(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"/tasks"</a:t>
            </a:r>
            <a:r>
              <a:rPr lang="en" sz="1250" dirty="0">
                <a:highlight>
                  <a:srgbClr val="FFFFFF"/>
                </a:highlight>
              </a:rPr>
              <a:t>)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    </a:t>
            </a:r>
            <a:r>
              <a:rPr lang="en" sz="12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250" dirty="0">
                <a:solidFill>
                  <a:srgbClr val="008000"/>
                </a:solidFill>
                <a:highlight>
                  <a:srgbClr val="FFFFFF"/>
                </a:highlight>
              </a:rPr>
              <a:t>验证响应</a:t>
            </a:r>
            <a:endParaRPr sz="12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    assertEquals(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250" dirty="0">
                <a:highlight>
                  <a:srgbClr val="FFFFFF"/>
                </a:highlight>
              </a:rPr>
              <a:t>.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OK</a:t>
            </a:r>
            <a:r>
              <a:rPr lang="en" sz="1250" dirty="0">
                <a:highlight>
                  <a:srgbClr val="FFFFFF"/>
                </a:highlight>
              </a:rPr>
              <a:t>, response.status)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    </a:t>
            </a:r>
            <a:r>
              <a:rPr lang="en" sz="125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50" dirty="0">
                <a:highlight>
                  <a:srgbClr val="FFFFFF"/>
                </a:highlight>
              </a:rPr>
              <a:t> tasks = response.body&lt;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List</a:t>
            </a:r>
            <a:r>
              <a:rPr lang="en" sz="1250" dirty="0">
                <a:highlight>
                  <a:srgbClr val="FFFFFF"/>
                </a:highlight>
              </a:rPr>
              <a:t>&lt;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50" dirty="0">
                <a:highlight>
                  <a:srgbClr val="FFFFFF"/>
                </a:highlight>
              </a:rPr>
              <a:t>&gt;&gt;()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    assertEquals(</a:t>
            </a:r>
            <a:r>
              <a:rPr lang="en" sz="1250" dirty="0">
                <a:solidFill>
                  <a:srgbClr val="098658"/>
                </a:solidFill>
                <a:highlight>
                  <a:srgbClr val="FFFFFF"/>
                </a:highlight>
              </a:rPr>
              <a:t>2</a:t>
            </a:r>
            <a:r>
              <a:rPr lang="en" sz="1250" dirty="0">
                <a:highlight>
                  <a:srgbClr val="FFFFFF"/>
                </a:highlight>
              </a:rPr>
              <a:t>, tasks.size)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}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highlight>
                  <a:srgbClr val="FFFFFF"/>
                </a:highlight>
              </a:rPr>
              <a:t>}</a:t>
            </a:r>
            <a:endParaRPr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数据库集成</a:t>
            </a:r>
            <a:endParaRPr dirty="0"/>
          </a:p>
        </p:txBody>
      </p:sp>
      <p:sp>
        <p:nvSpPr>
          <p:cNvPr id="298" name="Google Shape;298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350" dirty="0">
                <a:highlight>
                  <a:srgbClr val="FFFFFF"/>
                </a:highlight>
              </a:rPr>
              <a:t>- </a:t>
            </a:r>
            <a:r>
              <a:rPr lang="en-US" altLang="zh-CN" sz="1300" dirty="0" err="1">
                <a:solidFill>
                  <a:srgbClr val="267F99"/>
                </a:solidFill>
                <a:highlight>
                  <a:srgbClr val="FFFFFF"/>
                </a:highlight>
              </a:rPr>
              <a:t>Ktor</a:t>
            </a:r>
            <a:r>
              <a:rPr lang="en-US" altLang="zh-CN" sz="1350" dirty="0">
                <a:highlight>
                  <a:srgbClr val="FFFFFF"/>
                </a:highlight>
              </a:rPr>
              <a:t> </a:t>
            </a:r>
            <a:r>
              <a:rPr lang="zh-CN" altLang="en-US" sz="1350" dirty="0">
                <a:highlight>
                  <a:srgbClr val="FFFFFF"/>
                </a:highlight>
              </a:rPr>
              <a:t>本身不包含内置的数据库支持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350" dirty="0">
                <a:highlight>
                  <a:srgbClr val="FFFFFF"/>
                </a:highlight>
              </a:rPr>
              <a:t>- </a:t>
            </a:r>
            <a:r>
              <a:rPr lang="zh-CN" altLang="en-US" sz="1300" dirty="0">
                <a:solidFill>
                  <a:srgbClr val="267F99"/>
                </a:solidFill>
                <a:highlight>
                  <a:srgbClr val="FFFFFF"/>
                </a:highlight>
              </a:rPr>
              <a:t>常见</a:t>
            </a:r>
            <a:r>
              <a:rPr lang="zh-CN" altLang="en-US" sz="1350" dirty="0">
                <a:highlight>
                  <a:srgbClr val="FFFFFF"/>
                </a:highlight>
              </a:rPr>
              <a:t>选项：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zh-CN" altLang="en-US" sz="1350" dirty="0">
                <a:highlight>
                  <a:srgbClr val="FFFFFF"/>
                </a:highlight>
              </a:rPr>
              <a:t>  </a:t>
            </a:r>
            <a:r>
              <a:rPr lang="en-US" altLang="zh-CN" sz="1350" dirty="0">
                <a:highlight>
                  <a:srgbClr val="FFFFFF"/>
                </a:highlight>
              </a:rPr>
              <a:t>- **</a:t>
            </a:r>
            <a:r>
              <a:rPr lang="en-US" altLang="zh-CN" sz="1300" b="1" dirty="0">
                <a:solidFill>
                  <a:srgbClr val="267F99"/>
                </a:solidFill>
                <a:highlight>
                  <a:srgbClr val="FFFFFF"/>
                </a:highlight>
              </a:rPr>
              <a:t>Exposed</a:t>
            </a:r>
            <a:r>
              <a:rPr lang="en-US" altLang="zh-CN" sz="1350" dirty="0">
                <a:highlight>
                  <a:srgbClr val="FFFFFF"/>
                </a:highlight>
              </a:rPr>
              <a:t>**</a:t>
            </a:r>
            <a:r>
              <a:rPr lang="zh-CN" altLang="en-US" sz="1350" dirty="0">
                <a:highlight>
                  <a:srgbClr val="FFFFFF"/>
                </a:highlight>
              </a:rPr>
              <a:t>：</a:t>
            </a:r>
            <a:r>
              <a:rPr lang="en-US" altLang="zh-CN" sz="13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JetBrains</a:t>
            </a:r>
            <a:r>
              <a:rPr lang="en-US" altLang="zh-CN" sz="1350" dirty="0">
                <a:highlight>
                  <a:srgbClr val="FFFFFF"/>
                </a:highlight>
              </a:rPr>
              <a:t> </a:t>
            </a:r>
            <a:r>
              <a:rPr lang="zh-CN" altLang="en-US" sz="1350" dirty="0">
                <a:highlight>
                  <a:srgbClr val="FFFFFF"/>
                </a:highlight>
              </a:rPr>
              <a:t>提供的 </a:t>
            </a:r>
            <a:r>
              <a:rPr lang="en-US" altLang="zh-CN" sz="13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Kotlin SQL </a:t>
            </a:r>
            <a:r>
              <a:rPr lang="zh-CN" altLang="en-US" sz="1350" dirty="0">
                <a:highlight>
                  <a:srgbClr val="FFFFFF"/>
                </a:highlight>
              </a:rPr>
              <a:t>库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zh-CN" altLang="en-US" sz="1350" dirty="0">
                <a:highlight>
                  <a:srgbClr val="FFFFFF"/>
                </a:highlight>
              </a:rPr>
              <a:t>  </a:t>
            </a:r>
            <a:r>
              <a:rPr lang="en-US" altLang="zh-CN" sz="1350" dirty="0">
                <a:highlight>
                  <a:srgbClr val="FFFFFF"/>
                </a:highlight>
              </a:rPr>
              <a:t>- **</a:t>
            </a:r>
            <a:r>
              <a:rPr lang="en-US" altLang="zh-CN" sz="1300" b="1" dirty="0">
                <a:solidFill>
                  <a:srgbClr val="267F99"/>
                </a:solidFill>
                <a:highlight>
                  <a:srgbClr val="FFFFFF"/>
                </a:highlight>
              </a:rPr>
              <a:t>JDBC</a:t>
            </a:r>
            <a:r>
              <a:rPr lang="en-US" altLang="zh-CN" sz="1350" dirty="0">
                <a:highlight>
                  <a:srgbClr val="FFFFFF"/>
                </a:highlight>
              </a:rPr>
              <a:t>**</a:t>
            </a:r>
            <a:r>
              <a:rPr lang="zh-CN" altLang="en-US" sz="1350" dirty="0">
                <a:highlight>
                  <a:srgbClr val="FFFFFF"/>
                </a:highlight>
              </a:rPr>
              <a:t>：</a:t>
            </a:r>
            <a:r>
              <a:rPr lang="zh-CN" altLang="en-US" sz="13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标准 </a:t>
            </a:r>
            <a:r>
              <a:rPr lang="en-US" altLang="zh-CN" sz="13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Java </a:t>
            </a:r>
            <a:r>
              <a:rPr lang="zh-CN" altLang="en-US" sz="1350" dirty="0">
                <a:highlight>
                  <a:srgbClr val="FFFFFF"/>
                </a:highlight>
              </a:rPr>
              <a:t>数据库连接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zh-CN" altLang="en-US" sz="1350" dirty="0">
                <a:highlight>
                  <a:srgbClr val="FFFFFF"/>
                </a:highlight>
              </a:rPr>
              <a:t>  </a:t>
            </a:r>
            <a:r>
              <a:rPr lang="en-US" altLang="zh-CN" sz="1350" dirty="0">
                <a:highlight>
                  <a:srgbClr val="FFFFFF"/>
                </a:highlight>
              </a:rPr>
              <a:t>- **</a:t>
            </a:r>
            <a:r>
              <a:rPr lang="en-US" altLang="zh-CN" sz="1300" b="1" dirty="0">
                <a:solidFill>
                  <a:srgbClr val="267F99"/>
                </a:solidFill>
                <a:highlight>
                  <a:srgbClr val="FFFFFF"/>
                </a:highlight>
              </a:rPr>
              <a:t>MongoDB</a:t>
            </a:r>
            <a:r>
              <a:rPr lang="en-US" altLang="zh-CN" sz="1350" dirty="0">
                <a:highlight>
                  <a:srgbClr val="FFFFFF"/>
                </a:highlight>
              </a:rPr>
              <a:t>**</a:t>
            </a:r>
            <a:r>
              <a:rPr lang="zh-CN" altLang="en-US" sz="1350" dirty="0">
                <a:highlight>
                  <a:srgbClr val="FFFFFF"/>
                </a:highlight>
              </a:rPr>
              <a:t>：支持 </a:t>
            </a:r>
            <a:r>
              <a:rPr lang="en-US" altLang="zh-CN" sz="13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Kotlin</a:t>
            </a:r>
            <a:r>
              <a:rPr lang="en-US" altLang="zh-CN" sz="1350" dirty="0">
                <a:highlight>
                  <a:srgbClr val="FFFFFF"/>
                </a:highlight>
              </a:rPr>
              <a:t> </a:t>
            </a:r>
            <a:r>
              <a:rPr lang="zh-CN" altLang="en-US" sz="1350" dirty="0">
                <a:highlight>
                  <a:srgbClr val="FFFFFF"/>
                </a:highlight>
              </a:rPr>
              <a:t>驱动程序的 </a:t>
            </a:r>
            <a:r>
              <a:rPr lang="en-US" altLang="zh-CN" sz="13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NoSQL</a:t>
            </a:r>
            <a:r>
              <a:rPr lang="en-US" altLang="zh-CN" sz="1350" dirty="0">
                <a:highlight>
                  <a:srgbClr val="FFFFFF"/>
                </a:highlight>
              </a:rPr>
              <a:t> </a:t>
            </a:r>
            <a:r>
              <a:rPr lang="zh-CN" altLang="en-US" sz="1350" dirty="0">
                <a:highlight>
                  <a:srgbClr val="FFFFFF"/>
                </a:highlight>
              </a:rPr>
              <a:t>数据库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zh-CN" altLang="en-US" sz="1350" dirty="0">
                <a:highlight>
                  <a:srgbClr val="FFFFFF"/>
                </a:highlight>
              </a:rPr>
              <a:t>  </a:t>
            </a:r>
            <a:r>
              <a:rPr lang="en-US" altLang="zh-CN" sz="1350" dirty="0">
                <a:highlight>
                  <a:srgbClr val="FFFFFF"/>
                </a:highlight>
              </a:rPr>
              <a:t>- **</a:t>
            </a:r>
            <a:r>
              <a:rPr lang="en-US" altLang="zh-CN" sz="1300" b="1" dirty="0">
                <a:solidFill>
                  <a:srgbClr val="267F99"/>
                </a:solidFill>
                <a:highlight>
                  <a:srgbClr val="FFFFFF"/>
                </a:highlight>
              </a:rPr>
              <a:t>Redis</a:t>
            </a:r>
            <a:r>
              <a:rPr lang="en-US" altLang="zh-CN" sz="1350" dirty="0">
                <a:highlight>
                  <a:srgbClr val="FFFFFF"/>
                </a:highlight>
              </a:rPr>
              <a:t>**</a:t>
            </a:r>
            <a:r>
              <a:rPr lang="zh-CN" altLang="en-US" sz="1350" dirty="0">
                <a:highlight>
                  <a:srgbClr val="FFFFFF"/>
                </a:highlight>
              </a:rPr>
              <a:t>：内存</a:t>
            </a:r>
            <a:r>
              <a:rPr lang="zh-CN" altLang="en-US" sz="1300" dirty="0">
                <a:solidFill>
                  <a:srgbClr val="0000FF"/>
                </a:solidFill>
                <a:highlight>
                  <a:srgbClr val="FFFFFF"/>
                </a:highlight>
              </a:rPr>
              <a:t>数据</a:t>
            </a:r>
            <a:r>
              <a:rPr lang="zh-CN" altLang="en-US" sz="1350" dirty="0">
                <a:highlight>
                  <a:srgbClr val="FFFFFF"/>
                </a:highlight>
              </a:rPr>
              <a:t>结构存储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zh-CN" altLang="en-US" sz="13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zh-CN" sz="1350" dirty="0">
                <a:highlight>
                  <a:srgbClr val="FFFFFF"/>
                </a:highlight>
              </a:rPr>
              <a:t>- </a:t>
            </a:r>
            <a:r>
              <a:rPr lang="zh-CN" altLang="en-US" sz="13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创建</a:t>
            </a:r>
            <a:r>
              <a:rPr lang="zh-CN" altLang="en-US" sz="1350" dirty="0">
                <a:highlight>
                  <a:srgbClr val="FFFFFF"/>
                </a:highlight>
              </a:rPr>
              <a:t>基于数据库的仓库实现</a:t>
            </a:r>
            <a:endParaRPr sz="135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Exposed </a:t>
            </a:r>
            <a:r>
              <a:rPr lang="zh-CN" altLang="en-US" dirty="0"/>
              <a:t>设置</a:t>
            </a:r>
            <a:endParaRPr dirty="0"/>
          </a:p>
        </p:txBody>
      </p:sp>
      <p:sp>
        <p:nvSpPr>
          <p:cNvPr id="304" name="Google Shape;30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dependencies {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implementation(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"org.jetbrains.exposed:exposed-core:0.61.0"</a:t>
            </a:r>
            <a:r>
              <a:rPr lang="en" sz="1250" dirty="0">
                <a:highlight>
                  <a:srgbClr val="FFFFFF"/>
                </a:highlight>
              </a:rPr>
              <a:t>)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implementation(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"org.jetbrains.exposed:exposed-dao:0.61.0"</a:t>
            </a:r>
            <a:r>
              <a:rPr lang="en" sz="1250" dirty="0">
                <a:highlight>
                  <a:srgbClr val="FFFFFF"/>
                </a:highlight>
              </a:rPr>
              <a:t>)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implementation(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"org.jetbrains.exposed:exposed-jdbc:0.61.0"</a:t>
            </a:r>
            <a:r>
              <a:rPr lang="en" sz="1250" dirty="0">
                <a:highlight>
                  <a:srgbClr val="FFFFFF"/>
                </a:highlight>
              </a:rPr>
              <a:t>)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implementation(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“com.h2database:h2:2.1.214”</a:t>
            </a:r>
            <a:r>
              <a:rPr lang="en" sz="1250" dirty="0">
                <a:highlight>
                  <a:srgbClr val="FFFFFF"/>
                </a:highlight>
              </a:rPr>
              <a:t>) </a:t>
            </a:r>
            <a:r>
              <a:rPr lang="en" sz="1250" dirty="0">
                <a:solidFill>
                  <a:srgbClr val="008000"/>
                </a:solidFill>
                <a:highlight>
                  <a:srgbClr val="FFFFFF"/>
                </a:highlight>
              </a:rPr>
              <a:t>// H2 </a:t>
            </a:r>
            <a:r>
              <a:rPr lang="zh-CN" altLang="en-US" sz="1250" dirty="0">
                <a:solidFill>
                  <a:srgbClr val="008000"/>
                </a:solidFill>
                <a:highlight>
                  <a:srgbClr val="FFFFFF"/>
                </a:highlight>
              </a:rPr>
              <a:t>数据库</a:t>
            </a:r>
            <a:endParaRPr sz="12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}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定义表</a:t>
            </a:r>
            <a:endParaRPr dirty="0"/>
          </a:p>
        </p:txBody>
      </p:sp>
      <p:sp>
        <p:nvSpPr>
          <p:cNvPr id="310" name="Google Shape;310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object</a:t>
            </a:r>
            <a:r>
              <a:rPr lang="en" sz="1200" dirty="0">
                <a:highlight>
                  <a:srgbClr val="FFFFFF"/>
                </a:highlight>
              </a:rPr>
              <a:t> Tasks :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Table</a:t>
            </a:r>
            <a:r>
              <a:rPr lang="en" sz="1200" dirty="0">
                <a:highlight>
                  <a:srgbClr val="FFFFFF"/>
                </a:highlight>
              </a:rPr>
              <a:t>("tasks")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 dirty="0">
                <a:highlight>
                  <a:srgbClr val="FFFFFF"/>
                </a:highlight>
              </a:rPr>
              <a:t> id = integer(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"id"</a:t>
            </a:r>
            <a:r>
              <a:rPr lang="en" sz="1200" dirty="0">
                <a:highlight>
                  <a:srgbClr val="FFFFFF"/>
                </a:highlight>
              </a:rPr>
              <a:t>).autoIncrement()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 dirty="0">
                <a:highlight>
                  <a:srgbClr val="FFFFFF"/>
                </a:highlight>
              </a:rPr>
              <a:t> title = varchar(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"name"</a:t>
            </a:r>
            <a:r>
              <a:rPr lang="en" sz="1200" dirty="0">
                <a:highlight>
                  <a:srgbClr val="FFFFFF"/>
                </a:highlight>
              </a:rPr>
              <a:t>,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MAX_VARCHAR_LENGTH</a:t>
            </a:r>
            <a:r>
              <a:rPr lang="en" sz="1200" dirty="0">
                <a:highlight>
                  <a:srgbClr val="FFFFFF"/>
                </a:highlight>
              </a:rPr>
              <a:t>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 dirty="0">
                <a:highlight>
                  <a:srgbClr val="FFFFFF"/>
                </a:highlight>
              </a:rPr>
              <a:t> description = varchar(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"description"</a:t>
            </a:r>
            <a:r>
              <a:rPr lang="en" sz="1200" dirty="0">
                <a:highlight>
                  <a:srgbClr val="FFFFFF"/>
                </a:highlight>
              </a:rPr>
              <a:t>,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MAX_VARCHAR_LENGTH</a:t>
            </a:r>
            <a:r>
              <a:rPr lang="en" sz="1200" dirty="0">
                <a:highlight>
                  <a:srgbClr val="FFFFFF"/>
                </a:highlight>
              </a:rPr>
              <a:t>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 dirty="0">
                <a:highlight>
                  <a:srgbClr val="FFFFFF"/>
                </a:highlight>
              </a:rPr>
              <a:t> isCompleted = bool(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"completed"</a:t>
            </a:r>
            <a:r>
              <a:rPr lang="en" sz="1200" dirty="0">
                <a:highlight>
                  <a:srgbClr val="FFFFFF"/>
                </a:highlight>
              </a:rPr>
              <a:t>).default(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false</a:t>
            </a:r>
            <a:r>
              <a:rPr lang="en" sz="1200" dirty="0">
                <a:highlight>
                  <a:srgbClr val="FFFFFF"/>
                </a:highlight>
              </a:rPr>
              <a:t>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}</a:t>
            </a:r>
            <a:endParaRPr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连接数据库并创建表</a:t>
            </a:r>
            <a:endParaRPr dirty="0"/>
          </a:p>
        </p:txBody>
      </p:sp>
      <p:sp>
        <p:nvSpPr>
          <p:cNvPr id="316" name="Google Shape;316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050" dirty="0">
                <a:highlight>
                  <a:srgbClr val="FFFFFF"/>
                </a:highlight>
              </a:rPr>
              <a:t> Application.</a:t>
            </a:r>
            <a:r>
              <a:rPr lang="en" sz="1050" dirty="0">
                <a:solidFill>
                  <a:srgbClr val="795E26"/>
                </a:solidFill>
                <a:highlight>
                  <a:srgbClr val="FFFFFF"/>
                </a:highlight>
              </a:rPr>
              <a:t>configureDatabases</a:t>
            </a:r>
            <a:r>
              <a:rPr lang="en" sz="1050" dirty="0">
                <a:highlight>
                  <a:srgbClr val="FFFFFF"/>
                </a:highlight>
              </a:rPr>
              <a:t>()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</a:t>
            </a: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 dirty="0">
                <a:highlight>
                  <a:srgbClr val="FFFFFF"/>
                </a:highlight>
              </a:rPr>
              <a:t> database =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Database</a:t>
            </a:r>
            <a:r>
              <a:rPr lang="en" sz="1050" dirty="0">
                <a:highlight>
                  <a:srgbClr val="FFFFFF"/>
                </a:highlight>
              </a:rPr>
              <a:t>.connect(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url =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"jdbc:h2:mem:test;DB_CLOSE_DELAY=-1"</a:t>
            </a:r>
            <a:r>
              <a:rPr lang="en" sz="1050" dirty="0">
                <a:highlight>
                  <a:srgbClr val="FFFFFF"/>
                </a:highlight>
              </a:rPr>
              <a:t>,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driver =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"org.h2.Driver"</a:t>
            </a:r>
            <a:endParaRPr sz="1050" dirty="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transaction(database)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创建表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SchemaUtils</a:t>
            </a:r>
            <a:r>
              <a:rPr lang="en" sz="1050" dirty="0">
                <a:highlight>
                  <a:srgbClr val="FFFFFF"/>
                </a:highlight>
              </a:rPr>
              <a:t>.create(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050" dirty="0">
                <a:highlight>
                  <a:srgbClr val="FFFFFF"/>
                </a:highlight>
              </a:rPr>
              <a:t>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插入数据</a:t>
            </a:r>
            <a:endParaRPr dirty="0"/>
          </a:p>
        </p:txBody>
      </p:sp>
      <p:sp>
        <p:nvSpPr>
          <p:cNvPr id="322" name="Google Shape;322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50" dirty="0">
                <a:highlight>
                  <a:srgbClr val="FFFFFF"/>
                </a:highlight>
              </a:rPr>
              <a:t> taskId = 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 dirty="0">
                <a:highlight>
                  <a:srgbClr val="FFFFFF"/>
                </a:highlight>
              </a:rPr>
              <a:t>.insert {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it[title] = 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"Learn Exposed"</a:t>
            </a:r>
            <a:endParaRPr sz="1250" dirty="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it[description] = 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"Go through the Get started with Exposed tutorial"</a:t>
            </a:r>
            <a:endParaRPr sz="1250" dirty="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} get 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 dirty="0">
                <a:highlight>
                  <a:srgbClr val="FFFFFF"/>
                </a:highlight>
              </a:rPr>
              <a:t>.id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50" dirty="0">
                <a:highlight>
                  <a:srgbClr val="FFFFFF"/>
                </a:highlight>
              </a:rPr>
              <a:t> secondTaskId = 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 dirty="0">
                <a:highlight>
                  <a:srgbClr val="FFFFFF"/>
                </a:highlight>
              </a:rPr>
              <a:t>.insert {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it[title] = 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"Read The Hobbit"</a:t>
            </a:r>
            <a:endParaRPr sz="1250" dirty="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it[description] = 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"Read the first two chapters of The Hobbit"</a:t>
            </a:r>
            <a:endParaRPr sz="1250" dirty="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it[isCompleted] = </a:t>
            </a:r>
            <a:r>
              <a:rPr lang="en" sz="1250" dirty="0">
                <a:solidFill>
                  <a:srgbClr val="0000FF"/>
                </a:solidFill>
                <a:highlight>
                  <a:srgbClr val="FFFFFF"/>
                </a:highlight>
              </a:rPr>
              <a:t>true</a:t>
            </a:r>
            <a:endParaRPr sz="1250" dirty="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} get 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 dirty="0">
                <a:highlight>
                  <a:srgbClr val="FFFFFF"/>
                </a:highlight>
              </a:rPr>
              <a:t>.id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筛选数据</a:t>
            </a:r>
            <a:endParaRPr dirty="0"/>
          </a:p>
        </p:txBody>
      </p:sp>
      <p:sp>
        <p:nvSpPr>
          <p:cNvPr id="328" name="Google Shape;328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 dirty="0">
                <a:highlight>
                  <a:srgbClr val="FFFFFF"/>
                </a:highlight>
              </a:rPr>
              <a:t>.select(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 dirty="0">
                <a:highlight>
                  <a:srgbClr val="FFFFFF"/>
                </a:highlight>
              </a:rPr>
              <a:t>.id.count(), 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 dirty="0">
                <a:highlight>
                  <a:srgbClr val="FFFFFF"/>
                </a:highlight>
              </a:rPr>
              <a:t>.isCompleted).groupBy(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 dirty="0">
                <a:highlight>
                  <a:srgbClr val="FFFFFF"/>
                </a:highlight>
              </a:rPr>
              <a:t>.isCompleted).forEach {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   </a:t>
            </a:r>
            <a:r>
              <a:rPr lang="en" sz="1250" dirty="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250" dirty="0">
                <a:highlight>
                  <a:srgbClr val="FFFFFF"/>
                </a:highlight>
              </a:rPr>
              <a:t>(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"${it[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.isCompleted]}: ${it[</a:t>
            </a:r>
            <a:r>
              <a:rPr lang="en" sz="1250" dirty="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 dirty="0">
                <a:solidFill>
                  <a:srgbClr val="A31515"/>
                </a:solidFill>
                <a:highlight>
                  <a:srgbClr val="FFFFFF"/>
                </a:highlight>
              </a:rPr>
              <a:t>.id.count()]} "</a:t>
            </a:r>
            <a:r>
              <a:rPr lang="en" sz="1250" dirty="0">
                <a:highlight>
                  <a:srgbClr val="FFFFFF"/>
                </a:highlight>
              </a:rPr>
              <a:t>)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highlight>
                  <a:srgbClr val="FFFFFF"/>
                </a:highlight>
              </a:rPr>
              <a:t>}</a:t>
            </a:r>
            <a:endParaRPr sz="125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仓库模式</a:t>
            </a:r>
            <a:endParaRPr dirty="0"/>
          </a:p>
        </p:txBody>
      </p:sp>
      <p:sp>
        <p:nvSpPr>
          <p:cNvPr id="334" name="Google Shape;334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highlight>
                  <a:srgbClr val="FFFFFF"/>
                </a:highlight>
              </a:rPr>
              <a:t>- 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是什么</a:t>
            </a:r>
            <a:r>
              <a:rPr lang="zh-CN" altLang="en-US" sz="1400" dirty="0">
                <a:highlight>
                  <a:srgbClr val="FFFFFF"/>
                </a:highlight>
              </a:rPr>
              <a:t>：用于</a:t>
            </a:r>
            <a:r>
              <a:rPr lang="zh-CN" altLang="en-US" sz="1400" dirty="0">
                <a:solidFill>
                  <a:srgbClr val="0000FF"/>
                </a:solidFill>
                <a:highlight>
                  <a:srgbClr val="FFFFFF"/>
                </a:highlight>
              </a:rPr>
              <a:t>抽象数据</a:t>
            </a:r>
            <a:r>
              <a:rPr lang="zh-CN" altLang="en-US" sz="1400" dirty="0">
                <a:highlight>
                  <a:srgbClr val="FFFFFF"/>
                </a:highlight>
              </a:rPr>
              <a:t>访问逻辑的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设计</a:t>
            </a:r>
            <a:r>
              <a:rPr lang="zh-CN" altLang="en-US" sz="1400" dirty="0">
                <a:highlight>
                  <a:srgbClr val="FFFFFF"/>
                </a:highlight>
              </a:rPr>
              <a:t>模式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highlight>
                  <a:srgbClr val="FFFFFF"/>
                </a:highlight>
              </a:rPr>
              <a:t>- 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为什么</a:t>
            </a:r>
            <a:r>
              <a:rPr lang="zh-CN" altLang="en-US" sz="1400" dirty="0">
                <a:highlight>
                  <a:srgbClr val="FFFFFF"/>
                </a:highlight>
              </a:rPr>
              <a:t>：将业务逻辑与</a:t>
            </a:r>
            <a:r>
              <a:rPr lang="zh-CN" altLang="en-US" sz="1400" dirty="0">
                <a:solidFill>
                  <a:srgbClr val="0000FF"/>
                </a:solidFill>
                <a:highlight>
                  <a:srgbClr val="FFFFFF"/>
                </a:highlight>
              </a:rPr>
              <a:t>数据</a:t>
            </a:r>
            <a:r>
              <a:rPr lang="zh-CN" altLang="en-US" sz="1400" dirty="0">
                <a:highlight>
                  <a:srgbClr val="FFFFFF"/>
                </a:highlight>
              </a:rPr>
              <a:t>存储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分离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highlight>
                  <a:srgbClr val="FFFFFF"/>
                </a:highlight>
              </a:rPr>
              <a:t>- 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优点</a:t>
            </a:r>
            <a:r>
              <a:rPr lang="en-US" altLang="zh-CN" sz="1400" dirty="0">
                <a:highlight>
                  <a:srgbClr val="FFFFFF"/>
                </a:highlight>
              </a:rPr>
              <a:t>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highlight>
                  <a:srgbClr val="FFFFFF"/>
                </a:highlight>
              </a:rPr>
              <a:t>  - 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可测试性</a:t>
            </a:r>
            <a:r>
              <a:rPr lang="zh-CN" altLang="en-US" sz="1400" dirty="0">
                <a:highlight>
                  <a:srgbClr val="FFFFFF"/>
                </a:highlight>
              </a:rPr>
              <a:t>（可以模拟仓库）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灵活性</a:t>
            </a:r>
            <a:r>
              <a:rPr lang="zh-CN" altLang="en-US" sz="1400" dirty="0">
                <a:highlight>
                  <a:srgbClr val="FFFFFF"/>
                </a:highlight>
              </a:rPr>
              <a:t>（可轻松更换实现）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highlight>
                  <a:srgbClr val="FFFFFF"/>
                </a:highlight>
              </a:rPr>
              <a:t>-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可维护性</a:t>
            </a:r>
            <a:r>
              <a:rPr lang="zh-CN" altLang="en-US" sz="1400" dirty="0">
                <a:highlight>
                  <a:srgbClr val="FFFFFF"/>
                </a:highlight>
              </a:rPr>
              <a:t>（一致的</a:t>
            </a:r>
            <a:r>
              <a:rPr lang="zh-CN" altLang="en-US" sz="1400" dirty="0">
                <a:solidFill>
                  <a:srgbClr val="0000FF"/>
                </a:solidFill>
                <a:highlight>
                  <a:srgbClr val="FFFFFF"/>
                </a:highlight>
              </a:rPr>
              <a:t>数据</a:t>
            </a:r>
            <a:r>
              <a:rPr lang="zh-CN" altLang="en-US" sz="1400" dirty="0">
                <a:highlight>
                  <a:srgbClr val="FFFFFF"/>
                </a:highlight>
              </a:rPr>
              <a:t>访问 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API</a:t>
            </a:r>
            <a:r>
              <a:rPr lang="zh-CN" altLang="en-US" sz="1400" dirty="0">
                <a:highlight>
                  <a:srgbClr val="FFFFFF"/>
                </a:highlight>
              </a:rPr>
              <a:t>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highlight>
                  <a:srgbClr val="FFFFFF"/>
                </a:highlight>
              </a:rPr>
              <a:t>- 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单一职责原则</a:t>
            </a:r>
            <a:endParaRPr sz="1400" dirty="0">
              <a:solidFill>
                <a:schemeClr val="accent5">
                  <a:lumMod val="75000"/>
                </a:schemeClr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任务仓库</a:t>
            </a:r>
            <a:endParaRPr dirty="0"/>
          </a:p>
        </p:txBody>
      </p:sp>
      <p:sp>
        <p:nvSpPr>
          <p:cNvPr id="340" name="Google Shape;340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interface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TaskRepository</a:t>
            </a:r>
            <a:r>
              <a:rPr lang="en" sz="1200" dirty="0">
                <a:highlight>
                  <a:srgbClr val="FFFFFF"/>
                </a:highlight>
              </a:rPr>
              <a:t>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highlight>
                  <a:srgbClr val="FFFFFF"/>
                </a:highlight>
              </a:rPr>
              <a:t>获取所有任务</a:t>
            </a:r>
            <a:endParaRPr sz="12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suspend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795E26"/>
                </a:solidFill>
                <a:highlight>
                  <a:srgbClr val="FFFFFF"/>
                </a:highlight>
              </a:rPr>
              <a:t>getAllTasks</a:t>
            </a:r>
            <a:r>
              <a:rPr lang="en" sz="1200" dirty="0">
                <a:highlight>
                  <a:srgbClr val="FFFFFF"/>
                </a:highlight>
              </a:rPr>
              <a:t>():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List</a:t>
            </a:r>
            <a:r>
              <a:rPr lang="en" sz="1200" dirty="0">
                <a:highlight>
                  <a:srgbClr val="FFFFFF"/>
                </a:highlight>
              </a:rPr>
              <a:t>&lt;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 dirty="0">
                <a:highlight>
                  <a:srgbClr val="FFFFFF"/>
                </a:highlight>
              </a:rPr>
              <a:t>&gt;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highlight>
                  <a:srgbClr val="FFFFFF"/>
                </a:highlight>
              </a:rPr>
              <a:t>按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</a:rPr>
              <a:t>ID </a:t>
            </a:r>
            <a:r>
              <a:rPr lang="zh-CN" altLang="en-US" sz="1200" dirty="0">
                <a:solidFill>
                  <a:srgbClr val="008000"/>
                </a:solidFill>
                <a:highlight>
                  <a:srgbClr val="FFFFFF"/>
                </a:highlight>
              </a:rPr>
              <a:t>获取任务</a:t>
            </a:r>
            <a:endParaRPr sz="12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suspend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795E26"/>
                </a:solidFill>
                <a:highlight>
                  <a:srgbClr val="FFFFFF"/>
                </a:highlight>
              </a:rPr>
              <a:t>getTaskById</a:t>
            </a:r>
            <a:r>
              <a:rPr lang="en" sz="1200" dirty="0">
                <a:highlight>
                  <a:srgbClr val="FFFFFF"/>
                </a:highlight>
              </a:rPr>
              <a:t>(</a:t>
            </a:r>
            <a:r>
              <a:rPr lang="en" sz="1200" dirty="0">
                <a:solidFill>
                  <a:srgbClr val="001080"/>
                </a:solidFill>
                <a:highlight>
                  <a:srgbClr val="FFFFFF"/>
                </a:highlight>
              </a:rPr>
              <a:t>id</a:t>
            </a:r>
            <a:r>
              <a:rPr lang="en" sz="1200" dirty="0">
                <a:highlight>
                  <a:srgbClr val="FFFFFF"/>
                </a:highlight>
              </a:rPr>
              <a:t>: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Int</a:t>
            </a:r>
            <a:r>
              <a:rPr lang="en" sz="1200" dirty="0">
                <a:highlight>
                  <a:srgbClr val="FFFFFF"/>
                </a:highlight>
              </a:rPr>
              <a:t>):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Task?</a:t>
            </a:r>
            <a:endParaRPr sz="1200" dirty="0">
              <a:solidFill>
                <a:srgbClr val="267F99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highlight>
                  <a:srgbClr val="FFFFFF"/>
                </a:highlight>
              </a:rPr>
              <a:t>创建新任务</a:t>
            </a:r>
            <a:endParaRPr sz="12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suspend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795E26"/>
                </a:solidFill>
                <a:highlight>
                  <a:srgbClr val="FFFFFF"/>
                </a:highlight>
              </a:rPr>
              <a:t>createTask</a:t>
            </a:r>
            <a:r>
              <a:rPr lang="en" sz="1200" dirty="0">
                <a:highlight>
                  <a:srgbClr val="FFFFFF"/>
                </a:highlight>
              </a:rPr>
              <a:t>(</a:t>
            </a:r>
            <a:r>
              <a:rPr lang="en" sz="1200" dirty="0">
                <a:solidFill>
                  <a:srgbClr val="001080"/>
                </a:solidFill>
                <a:highlight>
                  <a:srgbClr val="FFFFFF"/>
                </a:highlight>
              </a:rPr>
              <a:t>task</a:t>
            </a:r>
            <a:r>
              <a:rPr lang="en" sz="1200" dirty="0">
                <a:highlight>
                  <a:srgbClr val="FFFFFF"/>
                </a:highlight>
              </a:rPr>
              <a:t>: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 dirty="0">
                <a:highlight>
                  <a:srgbClr val="FFFFFF"/>
                </a:highlight>
              </a:rPr>
              <a:t>):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endParaRPr sz="1200" dirty="0">
              <a:solidFill>
                <a:srgbClr val="267F99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   ...</a:t>
            </a:r>
            <a:endParaRPr sz="1200" dirty="0">
              <a:solidFill>
                <a:srgbClr val="267F99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测试仓库</a:t>
            </a:r>
            <a:endParaRPr dirty="0"/>
          </a:p>
        </p:txBody>
      </p:sp>
      <p:sp>
        <p:nvSpPr>
          <p:cNvPr id="346" name="Google Shape;346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class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InMemoryTaskRepository</a:t>
            </a:r>
            <a:r>
              <a:rPr lang="en" sz="1200" dirty="0">
                <a:highlight>
                  <a:srgbClr val="FFFFFF"/>
                </a:highlight>
              </a:rPr>
              <a:t> :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TaskRepository</a:t>
            </a:r>
            <a:r>
              <a:rPr lang="en" sz="1200" dirty="0">
                <a:highlight>
                  <a:srgbClr val="FFFFFF"/>
                </a:highlight>
              </a:rPr>
              <a:t>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private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 dirty="0">
                <a:highlight>
                  <a:srgbClr val="FFFFFF"/>
                </a:highlight>
              </a:rPr>
              <a:t> idCounter =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AtomicInteger</a:t>
            </a:r>
            <a:r>
              <a:rPr lang="en" sz="1200" dirty="0">
                <a:highlight>
                  <a:srgbClr val="FFFFFF"/>
                </a:highlight>
              </a:rPr>
              <a:t>(</a:t>
            </a:r>
            <a:r>
              <a:rPr lang="en" sz="1200" dirty="0">
                <a:solidFill>
                  <a:srgbClr val="098658"/>
                </a:solidFill>
                <a:highlight>
                  <a:srgbClr val="FFFFFF"/>
                </a:highlight>
              </a:rPr>
              <a:t>1</a:t>
            </a:r>
            <a:r>
              <a:rPr lang="en" sz="1200" dirty="0">
                <a:highlight>
                  <a:srgbClr val="FFFFFF"/>
                </a:highlight>
              </a:rPr>
              <a:t>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private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 dirty="0">
                <a:highlight>
                  <a:srgbClr val="FFFFFF"/>
                </a:highlight>
              </a:rPr>
              <a:t> tasks =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ConcurrentHashMap</a:t>
            </a:r>
            <a:r>
              <a:rPr lang="en" sz="1200" dirty="0">
                <a:highlight>
                  <a:srgbClr val="FFFFFF"/>
                </a:highlight>
              </a:rPr>
              <a:t>&lt;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Int</a:t>
            </a:r>
            <a:r>
              <a:rPr lang="en" sz="1200" dirty="0">
                <a:highlight>
                  <a:srgbClr val="FFFFFF"/>
                </a:highlight>
              </a:rPr>
              <a:t>,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 dirty="0">
                <a:highlight>
                  <a:srgbClr val="FFFFFF"/>
                </a:highlight>
              </a:rPr>
              <a:t>&gt;()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795E26"/>
                </a:solidFill>
                <a:highlight>
                  <a:srgbClr val="FFFFFF"/>
                </a:highlight>
              </a:rPr>
              <a:t>init</a:t>
            </a:r>
            <a:r>
              <a:rPr lang="en" sz="1200" dirty="0">
                <a:highlight>
                  <a:srgbClr val="FFFFFF"/>
                </a:highlight>
              </a:rPr>
              <a:t> {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</a:t>
            </a:r>
            <a:r>
              <a:rPr lang="en" sz="12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highlight>
                  <a:srgbClr val="FFFFFF"/>
                </a:highlight>
              </a:rPr>
              <a:t>添加一些初始任务</a:t>
            </a:r>
            <a:endParaRPr sz="12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createTask(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 dirty="0">
                <a:highlight>
                  <a:srgbClr val="FFFFFF"/>
                </a:highlight>
              </a:rPr>
              <a:t>(title = 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"Setup project"</a:t>
            </a:r>
            <a:r>
              <a:rPr lang="en" sz="1200" dirty="0">
                <a:highlight>
                  <a:srgbClr val="FFFFFF"/>
                </a:highlight>
              </a:rPr>
              <a:t>, ...))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</a:rPr>
              <a:t>       createTask(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 dirty="0">
                <a:highlight>
                  <a:srgbClr val="FFFFFF"/>
                </a:highlight>
              </a:rPr>
              <a:t>(title = </a:t>
            </a:r>
            <a:r>
              <a:rPr lang="en" sz="1200" dirty="0">
                <a:solidFill>
                  <a:srgbClr val="A31515"/>
                </a:solidFill>
                <a:highlight>
                  <a:srgbClr val="FFFFFF"/>
                </a:highlight>
              </a:rPr>
              <a:t>"Learn Ktor"</a:t>
            </a:r>
            <a:r>
              <a:rPr lang="en" sz="1200" dirty="0">
                <a:highlight>
                  <a:srgbClr val="FFFFFF"/>
                </a:highlight>
              </a:rPr>
              <a:t>, ...))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}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   override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suspend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795E26"/>
                </a:solidFill>
                <a:highlight>
                  <a:srgbClr val="FFFFFF"/>
                </a:highlight>
              </a:rPr>
              <a:t>getAllTasks</a:t>
            </a:r>
            <a:r>
              <a:rPr lang="en" sz="1200" dirty="0">
                <a:highlight>
                  <a:srgbClr val="FFFFFF"/>
                </a:highlight>
              </a:rPr>
              <a:t>():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List</a:t>
            </a:r>
            <a:r>
              <a:rPr lang="en" sz="1200" dirty="0">
                <a:highlight>
                  <a:srgbClr val="FFFFFF"/>
                </a:highlight>
              </a:rPr>
              <a:t>&lt;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 dirty="0">
                <a:highlight>
                  <a:srgbClr val="FFFFFF"/>
                </a:highlight>
              </a:rPr>
              <a:t>&gt; = tasks.values.toList()</a:t>
            </a:r>
            <a:endParaRPr sz="12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</a:rPr>
              <a:t>  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override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suspend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 dirty="0">
                <a:highlight>
                  <a:srgbClr val="FFFFFF"/>
                </a:highlight>
              </a:rPr>
              <a:t> </a:t>
            </a:r>
            <a:r>
              <a:rPr lang="en" sz="1200" dirty="0">
                <a:solidFill>
                  <a:srgbClr val="795E26"/>
                </a:solidFill>
                <a:highlight>
                  <a:srgbClr val="FFFFFF"/>
                </a:highlight>
              </a:rPr>
              <a:t>getTaskById</a:t>
            </a:r>
            <a:r>
              <a:rPr lang="en" sz="1200" dirty="0">
                <a:highlight>
                  <a:srgbClr val="FFFFFF"/>
                </a:highlight>
              </a:rPr>
              <a:t>(</a:t>
            </a:r>
            <a:r>
              <a:rPr lang="en" sz="1200" dirty="0">
                <a:solidFill>
                  <a:srgbClr val="001080"/>
                </a:solidFill>
                <a:highlight>
                  <a:srgbClr val="FFFFFF"/>
                </a:highlight>
              </a:rPr>
              <a:t>id</a:t>
            </a:r>
            <a:r>
              <a:rPr lang="en" sz="1200" dirty="0">
                <a:highlight>
                  <a:srgbClr val="FFFFFF"/>
                </a:highlight>
              </a:rPr>
              <a:t>: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Int</a:t>
            </a:r>
            <a:r>
              <a:rPr lang="en" sz="1200" dirty="0">
                <a:highlight>
                  <a:srgbClr val="FFFFFF"/>
                </a:highlight>
              </a:rPr>
              <a:t>): </a:t>
            </a:r>
            <a:r>
              <a:rPr lang="en" sz="1200" dirty="0">
                <a:solidFill>
                  <a:srgbClr val="267F99"/>
                </a:solidFill>
                <a:highlight>
                  <a:srgbClr val="FFFFFF"/>
                </a:highlight>
              </a:rPr>
              <a:t>Task?</a:t>
            </a:r>
            <a:r>
              <a:rPr lang="en" sz="1200" dirty="0">
                <a:highlight>
                  <a:srgbClr val="FFFFFF"/>
                </a:highlight>
              </a:rPr>
              <a:t> = tasks[id]</a:t>
            </a:r>
            <a:endParaRPr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在生产环境运行</a:t>
            </a:r>
            <a:endParaRPr dirty="0"/>
          </a:p>
        </p:txBody>
      </p:sp>
      <p:sp>
        <p:nvSpPr>
          <p:cNvPr id="352" name="Google Shape;352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altLang="zh-CN" dirty="0"/>
              <a:t>- </a:t>
            </a:r>
            <a:r>
              <a:rPr lang="zh-CN" altLang="en-US" dirty="0"/>
              <a:t>将应用程序打包为 </a:t>
            </a:r>
            <a:r>
              <a:rPr lang="en-US" dirty="0"/>
              <a:t>JAR </a:t>
            </a:r>
            <a:r>
              <a:rPr lang="zh-CN" altLang="en-US" dirty="0"/>
              <a:t>或 </a:t>
            </a:r>
            <a:r>
              <a:rPr lang="en-US" dirty="0"/>
              <a:t>WAR </a:t>
            </a:r>
            <a:r>
              <a:rPr lang="zh-CN" altLang="en-US" dirty="0"/>
              <a:t>文件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altLang="zh-CN" dirty="0"/>
              <a:t>- </a:t>
            </a:r>
            <a:r>
              <a:rPr lang="zh-CN" altLang="en-US" dirty="0"/>
              <a:t>部署至：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云服务提供商（</a:t>
            </a:r>
            <a:r>
              <a:rPr lang="en-US" dirty="0" err="1"/>
              <a:t>AWS、GCP、Azure</a:t>
            </a:r>
            <a:r>
              <a:rPr lang="en-US" dirty="0"/>
              <a:t>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dirty="0"/>
              <a:t>  - Kubernetes（K8s）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dirty="0"/>
              <a:t>  - Docker </a:t>
            </a:r>
            <a:r>
              <a:rPr lang="zh-CN" altLang="en-US" dirty="0"/>
              <a:t>容器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en-US" dirty="0"/>
              <a:t>Java Servlet </a:t>
            </a:r>
            <a:r>
              <a:rPr lang="zh-CN" altLang="en-US" dirty="0"/>
              <a:t>容器（</a:t>
            </a:r>
            <a:r>
              <a:rPr lang="en-US" dirty="0" err="1"/>
              <a:t>Tomcat、Jetty</a:t>
            </a:r>
            <a:r>
              <a:rPr lang="en-US" dirty="0"/>
              <a:t>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dirty="0"/>
              <a:t>- </a:t>
            </a:r>
            <a:r>
              <a:rPr lang="zh-CN" altLang="en-US" dirty="0"/>
              <a:t>通过环境变量进行配置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altLang="zh-CN" dirty="0"/>
              <a:t>- </a:t>
            </a:r>
            <a:r>
              <a:rPr lang="zh-CN" altLang="en-US" dirty="0"/>
              <a:t>健康检查与监控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altLang="zh-CN" dirty="0"/>
              <a:t>- </a:t>
            </a:r>
            <a:r>
              <a:rPr lang="zh-CN" altLang="en-US" dirty="0"/>
              <a:t>使用 </a:t>
            </a:r>
            <a:r>
              <a:rPr lang="en-US" dirty="0"/>
              <a:t>Netty </a:t>
            </a:r>
            <a:r>
              <a:rPr lang="zh-CN" altLang="en-US" dirty="0"/>
              <a:t>或 </a:t>
            </a:r>
            <a:r>
              <a:rPr lang="en-US" dirty="0"/>
              <a:t>CIO </a:t>
            </a:r>
            <a:r>
              <a:rPr lang="zh-CN" altLang="en-US" dirty="0"/>
              <a:t>引擎以获得最佳性能</a:t>
            </a:r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健康检查</a:t>
            </a:r>
            <a:endParaRPr dirty="0"/>
          </a:p>
        </p:txBody>
      </p:sp>
      <p:sp>
        <p:nvSpPr>
          <p:cNvPr id="358" name="Google Shape;358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routing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简单的健康检查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get(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"/health"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call.respond(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050" dirty="0">
                <a:highlight>
                  <a:srgbClr val="FFFFFF"/>
                </a:highlight>
              </a:rPr>
              <a:t>.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OK</a:t>
            </a:r>
            <a:r>
              <a:rPr lang="en" sz="1050" dirty="0">
                <a:highlight>
                  <a:srgbClr val="FFFFFF"/>
                </a:highlight>
              </a:rPr>
              <a:t>, </a:t>
            </a:r>
            <a:r>
              <a:rPr lang="en" sz="1050" dirty="0">
                <a:solidFill>
                  <a:srgbClr val="795E26"/>
                </a:solidFill>
                <a:highlight>
                  <a:srgbClr val="FFFFFF"/>
                </a:highlight>
              </a:rPr>
              <a:t>mapOf</a:t>
            </a:r>
            <a:r>
              <a:rPr lang="en" sz="1050" dirty="0">
                <a:highlight>
                  <a:srgbClr val="FFFFFF"/>
                </a:highlight>
              </a:rPr>
              <a:t>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"status"</a:t>
            </a:r>
            <a:r>
              <a:rPr lang="en" sz="1050" dirty="0">
                <a:highlight>
                  <a:srgbClr val="FFFFFF"/>
                </a:highlight>
              </a:rPr>
              <a:t> to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"UP"</a:t>
            </a:r>
            <a:r>
              <a:rPr lang="en" sz="1050" dirty="0">
                <a:highlight>
                  <a:srgbClr val="FFFFFF"/>
                </a:highlight>
              </a:rPr>
              <a:t>))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健康检查</a:t>
            </a:r>
            <a:endParaRPr dirty="0"/>
          </a:p>
        </p:txBody>
      </p:sp>
      <p:sp>
        <p:nvSpPr>
          <p:cNvPr id="364" name="Google Shape;364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get(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"/health/detailed"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 dirty="0">
                <a:highlight>
                  <a:srgbClr val="FFFFFF"/>
                </a:highlight>
              </a:rPr>
              <a:t> databaseStatus = </a:t>
            </a:r>
            <a:r>
              <a:rPr lang="en" sz="1050" dirty="0">
                <a:solidFill>
                  <a:srgbClr val="AF00DB"/>
                </a:solidFill>
                <a:highlight>
                  <a:srgbClr val="FFFFFF"/>
                </a:highlight>
              </a:rPr>
              <a:t>try</a:t>
            </a:r>
            <a:r>
              <a:rPr lang="en" sz="1050" dirty="0">
                <a:highlight>
                  <a:srgbClr val="FFFFFF"/>
                </a:highlight>
              </a:rPr>
              <a:t>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检查数据库连接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taskRepository.ping()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"UP"</a:t>
            </a:r>
            <a:endParaRPr sz="1050" dirty="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} </a:t>
            </a:r>
            <a:r>
              <a:rPr lang="en" sz="1050" dirty="0">
                <a:solidFill>
                  <a:srgbClr val="AF00DB"/>
                </a:solidFill>
                <a:highlight>
                  <a:srgbClr val="FFFFFF"/>
                </a:highlight>
              </a:rPr>
              <a:t>catch</a:t>
            </a:r>
            <a:r>
              <a:rPr lang="en" sz="1050" dirty="0">
                <a:highlight>
                  <a:srgbClr val="FFFFFF"/>
                </a:highlight>
              </a:rPr>
              <a:t> (</a:t>
            </a:r>
            <a:r>
              <a:rPr lang="en" sz="1050" dirty="0">
                <a:solidFill>
                  <a:srgbClr val="001080"/>
                </a:solidFill>
                <a:highlight>
                  <a:srgbClr val="FFFFFF"/>
                </a:highlight>
              </a:rPr>
              <a:t>e</a:t>
            </a:r>
            <a:r>
              <a:rPr lang="en" sz="1050" dirty="0">
                <a:highlight>
                  <a:srgbClr val="FFFFFF"/>
                </a:highlight>
              </a:rPr>
              <a:t>: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Throwable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"DOWN"</a:t>
            </a:r>
            <a:endParaRPr sz="1050" dirty="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endParaRPr sz="105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确定整体状态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 dirty="0">
                <a:highlight>
                  <a:srgbClr val="FFFFFF"/>
                </a:highlight>
              </a:rPr>
              <a:t> overallStatus = </a:t>
            </a:r>
            <a:r>
              <a:rPr lang="en" sz="1050" dirty="0">
                <a:solidFill>
                  <a:srgbClr val="AF00DB"/>
                </a:solidFill>
                <a:highlight>
                  <a:srgbClr val="FFFFFF"/>
                </a:highlight>
              </a:rPr>
              <a:t>if</a:t>
            </a:r>
            <a:r>
              <a:rPr lang="en" sz="1050" dirty="0">
                <a:highlight>
                  <a:srgbClr val="FFFFFF"/>
                </a:highlight>
              </a:rPr>
              <a:t> (databaseStatus ==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"UP"</a:t>
            </a:r>
            <a:r>
              <a:rPr lang="en" sz="1050" dirty="0">
                <a:highlight>
                  <a:srgbClr val="FFFFFF"/>
                </a:highlight>
              </a:rPr>
              <a:t>)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"UP"</a:t>
            </a:r>
            <a:r>
              <a:rPr lang="en" sz="1050" dirty="0">
                <a:highlight>
                  <a:srgbClr val="FFFFFF"/>
                </a:highlight>
              </a:rPr>
              <a:t> </a:t>
            </a:r>
            <a:r>
              <a:rPr lang="en" sz="1050" dirty="0">
                <a:solidFill>
                  <a:srgbClr val="AF00DB"/>
                </a:solidFill>
                <a:highlight>
                  <a:srgbClr val="FFFFFF"/>
                </a:highlight>
              </a:rPr>
              <a:t>else</a:t>
            </a:r>
            <a:r>
              <a:rPr lang="en" sz="1050" dirty="0">
                <a:highlight>
                  <a:srgbClr val="FFFFFF"/>
                </a:highlight>
              </a:rPr>
              <a:t>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"DOWN"</a:t>
            </a:r>
            <a:endParaRPr sz="1050" dirty="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endParaRPr sz="105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call.respond(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</a:t>
            </a:r>
            <a:r>
              <a:rPr lang="en" sz="1050" dirty="0">
                <a:solidFill>
                  <a:srgbClr val="AF00DB"/>
                </a:solidFill>
                <a:highlight>
                  <a:srgbClr val="FFFFFF"/>
                </a:highlight>
              </a:rPr>
              <a:t>if</a:t>
            </a:r>
            <a:r>
              <a:rPr lang="en" sz="1050" dirty="0">
                <a:highlight>
                  <a:srgbClr val="FFFFFF"/>
                </a:highlight>
              </a:rPr>
              <a:t> (overallStatus ==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"UP"</a:t>
            </a:r>
            <a:r>
              <a:rPr lang="en" sz="1050" dirty="0">
                <a:highlight>
                  <a:srgbClr val="FFFFFF"/>
                </a:highlight>
              </a:rPr>
              <a:t>)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050" dirty="0">
                <a:highlight>
                  <a:srgbClr val="FFFFFF"/>
                </a:highlight>
              </a:rPr>
              <a:t>.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OK</a:t>
            </a:r>
            <a:r>
              <a:rPr lang="en" sz="1050" dirty="0">
                <a:highlight>
                  <a:srgbClr val="FFFFFF"/>
                </a:highlight>
              </a:rPr>
              <a:t> </a:t>
            </a:r>
            <a:r>
              <a:rPr lang="en" sz="1050" dirty="0">
                <a:solidFill>
                  <a:srgbClr val="AF00DB"/>
                </a:solidFill>
                <a:highlight>
                  <a:srgbClr val="FFFFFF"/>
                </a:highlight>
              </a:rPr>
              <a:t>else</a:t>
            </a:r>
            <a:r>
              <a:rPr lang="en" sz="1050" dirty="0">
                <a:highlight>
                  <a:srgbClr val="FFFFFF"/>
                </a:highlight>
              </a:rPr>
              <a:t>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050" dirty="0">
                <a:highlight>
                  <a:srgbClr val="FFFFFF"/>
                </a:highlight>
              </a:rPr>
              <a:t>.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ServiceUnavailable</a:t>
            </a:r>
            <a:r>
              <a:rPr lang="en" sz="1050" dirty="0">
                <a:highlight>
                  <a:srgbClr val="FFFFFF"/>
                </a:highlight>
              </a:rPr>
              <a:t>,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</a:t>
            </a:r>
            <a:r>
              <a:rPr lang="en" sz="1050" dirty="0">
                <a:solidFill>
                  <a:srgbClr val="795E26"/>
                </a:solidFill>
                <a:highlight>
                  <a:srgbClr val="FFFFFF"/>
                </a:highlight>
              </a:rPr>
              <a:t>mapOf</a:t>
            </a:r>
            <a:r>
              <a:rPr lang="en" sz="1050" dirty="0">
                <a:highlight>
                  <a:srgbClr val="FFFFFF"/>
                </a:highlight>
              </a:rPr>
              <a:t>(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"status"</a:t>
            </a:r>
            <a:r>
              <a:rPr lang="en" sz="1050" dirty="0">
                <a:highlight>
                  <a:srgbClr val="FFFFFF"/>
                </a:highlight>
              </a:rPr>
              <a:t> to overallStatus,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"components"</a:t>
            </a:r>
            <a:r>
              <a:rPr lang="en" sz="1050" dirty="0">
                <a:highlight>
                  <a:srgbClr val="FFFFFF"/>
                </a:highlight>
              </a:rPr>
              <a:t> to </a:t>
            </a:r>
            <a:r>
              <a:rPr lang="en" sz="1050" dirty="0">
                <a:solidFill>
                  <a:srgbClr val="795E26"/>
                </a:solidFill>
                <a:highlight>
                  <a:srgbClr val="FFFFFF"/>
                </a:highlight>
              </a:rPr>
              <a:t>mapOf</a:t>
            </a:r>
            <a:r>
              <a:rPr lang="en" sz="1050" dirty="0">
                <a:highlight>
                  <a:srgbClr val="FFFFFF"/>
                </a:highlight>
              </a:rPr>
              <a:t>(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   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"database"</a:t>
            </a:r>
            <a:r>
              <a:rPr lang="en" sz="1050" dirty="0">
                <a:highlight>
                  <a:srgbClr val="FFFFFF"/>
                </a:highlight>
              </a:rPr>
              <a:t> to databaseStatus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),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   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"version"</a:t>
            </a:r>
            <a:r>
              <a:rPr lang="en" sz="1050" dirty="0">
                <a:highlight>
                  <a:srgbClr val="FFFFFF"/>
                </a:highlight>
              </a:rPr>
              <a:t> to 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"1.0.0"</a:t>
            </a:r>
            <a:endParaRPr sz="1050" dirty="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highlight>
                  <a:srgbClr val="FFFFFF"/>
                </a:highlight>
              </a:rPr>
              <a:t>   }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指标与监控</a:t>
            </a:r>
            <a:endParaRPr dirty="0"/>
          </a:p>
        </p:txBody>
      </p:sp>
      <p:sp>
        <p:nvSpPr>
          <p:cNvPr id="370" name="Google Shape;370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implementation(</a:t>
            </a:r>
            <a:r>
              <a:rPr lang="en" sz="1400" dirty="0">
                <a:solidFill>
                  <a:srgbClr val="A31515"/>
                </a:solidFill>
                <a:highlight>
                  <a:srgbClr val="FFFFFF"/>
                </a:highlight>
              </a:rPr>
              <a:t>"io.ktor:ktor-server-metrics-micrometer"</a:t>
            </a:r>
            <a:r>
              <a:rPr lang="en" sz="1400" dirty="0">
                <a:highlight>
                  <a:srgbClr val="FFFFFF"/>
                </a:highlight>
              </a:rPr>
              <a:t>)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rgbClr val="FFFFFF"/>
                </a:highlight>
              </a:rPr>
              <a:t>implementation(</a:t>
            </a:r>
            <a:r>
              <a:rPr lang="en" sz="1400" dirty="0">
                <a:solidFill>
                  <a:srgbClr val="A31515"/>
                </a:solidFill>
                <a:highlight>
                  <a:srgbClr val="FFFFFF"/>
                </a:highlight>
              </a:rPr>
              <a:t>"io.micrometer:micrometer-registry-prometheus:1.11.0"</a:t>
            </a:r>
            <a:r>
              <a:rPr lang="en" sz="1400" dirty="0">
                <a:highlight>
                  <a:srgbClr val="FFFFFF"/>
                </a:highlight>
              </a:rPr>
              <a:t>)</a:t>
            </a:r>
            <a:endParaRPr sz="14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指标与监控</a:t>
            </a:r>
            <a:endParaRPr dirty="0"/>
          </a:p>
        </p:txBody>
      </p:sp>
      <p:sp>
        <p:nvSpPr>
          <p:cNvPr id="376" name="Google Shape;376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install(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MicrometerMetrics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registry = appMicrometerRegistry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</a:t>
            </a:r>
            <a:r>
              <a:rPr lang="en" sz="105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1050" dirty="0">
                <a:solidFill>
                  <a:srgbClr val="008000"/>
                </a:solidFill>
                <a:highlight>
                  <a:srgbClr val="FFFFFF"/>
                </a:highlight>
              </a:rPr>
              <a:t>为所有指标添加应用名称标签</a:t>
            </a:r>
            <a:endParaRPr sz="105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meterBinders = </a:t>
            </a:r>
            <a:r>
              <a:rPr lang="en" sz="1050" dirty="0">
                <a:solidFill>
                  <a:srgbClr val="795E26"/>
                </a:solidFill>
                <a:highlight>
                  <a:srgbClr val="FFFFFF"/>
                </a:highlight>
              </a:rPr>
              <a:t>listOf</a:t>
            </a:r>
            <a:r>
              <a:rPr lang="en" sz="1050" dirty="0">
                <a:highlight>
                  <a:srgbClr val="FFFFFF"/>
                </a:highlight>
              </a:rPr>
              <a:t>(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ClassLoaderMetrics</a:t>
            </a:r>
            <a:r>
              <a:rPr lang="en" sz="1050" dirty="0">
                <a:highlight>
                  <a:srgbClr val="FFFFFF"/>
                </a:highlight>
              </a:rPr>
              <a:t>(),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JvmMemoryMetrics</a:t>
            </a:r>
            <a:r>
              <a:rPr lang="en" sz="1050" dirty="0">
                <a:highlight>
                  <a:srgbClr val="FFFFFF"/>
                </a:highlight>
              </a:rPr>
              <a:t>(),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JvmGcMetrics</a:t>
            </a:r>
            <a:r>
              <a:rPr lang="en" sz="1050" dirty="0">
                <a:highlight>
                  <a:srgbClr val="FFFFFF"/>
                </a:highlight>
              </a:rPr>
              <a:t>(),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ProcessorMetrics</a:t>
            </a:r>
            <a:r>
              <a:rPr lang="en" sz="1050" dirty="0">
                <a:highlight>
                  <a:srgbClr val="FFFFFF"/>
                </a:highlight>
              </a:rPr>
              <a:t>(),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</a:t>
            </a:r>
            <a:r>
              <a:rPr lang="en" sz="1050" dirty="0">
                <a:solidFill>
                  <a:srgbClr val="267F99"/>
                </a:solidFill>
                <a:highlight>
                  <a:srgbClr val="FFFFFF"/>
                </a:highlight>
              </a:rPr>
              <a:t>JvmThreadMetrics</a:t>
            </a:r>
            <a:r>
              <a:rPr lang="en" sz="1050" dirty="0">
                <a:highlight>
                  <a:srgbClr val="FFFFFF"/>
                </a:highlight>
              </a:rPr>
              <a:t>()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 altLang="en-US" dirty="0"/>
              <a:t>指标与监控</a:t>
            </a:r>
            <a:endParaRPr dirty="0"/>
          </a:p>
        </p:txBody>
      </p:sp>
      <p:sp>
        <p:nvSpPr>
          <p:cNvPr id="382" name="Google Shape;382;p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routing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get(</a:t>
            </a:r>
            <a:r>
              <a:rPr lang="en" sz="1050" dirty="0">
                <a:solidFill>
                  <a:srgbClr val="A31515"/>
                </a:solidFill>
                <a:highlight>
                  <a:srgbClr val="FFFFFF"/>
                </a:highlight>
              </a:rPr>
              <a:t>"/metrics"</a:t>
            </a:r>
            <a:r>
              <a:rPr lang="en" sz="1050" dirty="0">
                <a:highlight>
                  <a:srgbClr val="FFFFFF"/>
                </a:highlight>
              </a:rPr>
              <a:t>) {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    call.respond(appMicrometerRegistry.scrape())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 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dirty="0">
                <a:highlight>
                  <a:srgbClr val="FFFFFF"/>
                </a:highlight>
              </a:rPr>
              <a:t>   }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部署选项</a:t>
            </a:r>
            <a:endParaRPr dirty="0"/>
          </a:p>
        </p:txBody>
      </p:sp>
      <p:sp>
        <p:nvSpPr>
          <p:cNvPr id="388" name="Google Shape;388;p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- </a:t>
            </a:r>
            <a:r>
              <a:rPr lang="en-US" sz="1393" b="1" dirty="0">
                <a:solidFill>
                  <a:srgbClr val="267F99"/>
                </a:solidFill>
                <a:highlight>
                  <a:srgbClr val="FFFFFF"/>
                </a:highlight>
              </a:rPr>
              <a:t>JAR</a:t>
            </a:r>
            <a:r>
              <a:rPr lang="en-US" sz="1393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393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部署</a:t>
            </a:r>
            <a:r>
              <a:rPr lang="en-US" altLang="zh-CN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: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en-US" altLang="zh-CN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 - `./</a:t>
            </a:r>
            <a:r>
              <a:rPr lang="en-US" sz="1393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gradlew</a:t>
            </a: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1393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shadowJar</a:t>
            </a: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`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 - `java -jar build/libs/application.jar`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- </a:t>
            </a:r>
            <a:r>
              <a:rPr lang="en-US" sz="1393" b="1" dirty="0">
                <a:solidFill>
                  <a:srgbClr val="267F99"/>
                </a:solidFill>
                <a:highlight>
                  <a:srgbClr val="FFFFFF"/>
                </a:highlight>
              </a:rPr>
              <a:t>Docker</a:t>
            </a: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: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 - </a:t>
            </a:r>
            <a:r>
              <a:rPr lang="en-US" sz="1393" dirty="0" err="1">
                <a:solidFill>
                  <a:srgbClr val="267F99"/>
                </a:solidFill>
                <a:highlight>
                  <a:srgbClr val="FFFFFF"/>
                </a:highlight>
              </a:rPr>
              <a:t>Ktor</a:t>
            </a: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zh-CN" alt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提供的</a:t>
            </a:r>
            <a:r>
              <a:rPr lang="zh-CN" altLang="en-US" sz="1393" dirty="0">
                <a:solidFill>
                  <a:srgbClr val="267F99"/>
                </a:solidFill>
                <a:highlight>
                  <a:srgbClr val="FFFFFF"/>
                </a:highlight>
              </a:rPr>
              <a:t>简易 </a:t>
            </a:r>
            <a:r>
              <a:rPr lang="en-US" sz="1393" dirty="0" err="1">
                <a:solidFill>
                  <a:srgbClr val="267F99"/>
                </a:solidFill>
                <a:highlight>
                  <a:srgbClr val="FFFFFF"/>
                </a:highlight>
              </a:rPr>
              <a:t>Dockerfile</a:t>
            </a:r>
            <a:endParaRPr lang="en-US" sz="1393" dirty="0">
              <a:solidFill>
                <a:srgbClr val="267F99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 - `docker build -t </a:t>
            </a:r>
            <a:r>
              <a:rPr lang="en-US" sz="1393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myapp</a:t>
            </a: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.`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 - `docker run -p </a:t>
            </a:r>
            <a:r>
              <a:rPr lang="en-US" sz="1393" dirty="0">
                <a:solidFill>
                  <a:srgbClr val="098658"/>
                </a:solidFill>
                <a:highlight>
                  <a:srgbClr val="FFFFFF"/>
                </a:highlight>
              </a:rPr>
              <a:t>8080</a:t>
            </a: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:</a:t>
            </a:r>
            <a:r>
              <a:rPr lang="en-US" sz="1393" dirty="0">
                <a:solidFill>
                  <a:srgbClr val="098658"/>
                </a:solidFill>
                <a:highlight>
                  <a:srgbClr val="FFFFFF"/>
                </a:highlight>
              </a:rPr>
              <a:t>8080</a:t>
            </a: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1393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myapp</a:t>
            </a: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`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- </a:t>
            </a:r>
            <a:r>
              <a:rPr lang="en-US" sz="1393" b="1" dirty="0">
                <a:solidFill>
                  <a:srgbClr val="267F99"/>
                </a:solidFill>
                <a:highlight>
                  <a:srgbClr val="FFFFFF"/>
                </a:highlight>
              </a:rPr>
              <a:t>Kubernetes</a:t>
            </a: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: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 - </a:t>
            </a:r>
            <a:r>
              <a:rPr lang="zh-CN" alt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定义资源需求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zh-CN" alt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运行状态</a:t>
            </a:r>
            <a:r>
              <a:rPr lang="en-US" altLang="zh-CN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/</a:t>
            </a:r>
            <a:r>
              <a:rPr lang="zh-CN" alt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就绪状态的健康检查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zh-CN" alt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根据指标自动扩容</a:t>
            </a:r>
            <a:r>
              <a:rPr lang="en-US" altLang="zh-CN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/</a:t>
            </a:r>
            <a:r>
              <a:rPr lang="zh-CN" altLang="en-US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缩容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lang="en-US" altLang="zh-CN" sz="1393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- </a:t>
            </a:r>
            <a:r>
              <a:rPr lang="zh-CN" altLang="en-US" sz="1393" b="1" dirty="0">
                <a:solidFill>
                  <a:srgbClr val="267F99"/>
                </a:solidFill>
                <a:highlight>
                  <a:srgbClr val="FFFFFF"/>
                </a:highlight>
              </a:rPr>
              <a:t>云</a:t>
            </a:r>
            <a:r>
              <a:rPr lang="zh-CN" altLang="en-US" sz="1393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平台</a:t>
            </a:r>
            <a:endParaRPr sz="1393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sz="1393" dirty="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203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资源</a:t>
            </a:r>
            <a:endParaRPr dirty="0"/>
          </a:p>
        </p:txBody>
      </p:sp>
      <p:sp>
        <p:nvSpPr>
          <p:cNvPr id="394" name="Google Shape;394;p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050" dirty="0">
                <a:highlight>
                  <a:srgbClr val="FFFFFF"/>
                </a:highlight>
              </a:rPr>
              <a:t>- </a:t>
            </a:r>
            <a:r>
              <a:rPr lang="en-US" sz="1050" b="1" dirty="0" err="1">
                <a:solidFill>
                  <a:srgbClr val="267F99"/>
                </a:solidFill>
                <a:highlight>
                  <a:srgbClr val="FFFFFF"/>
                </a:highlight>
              </a:rPr>
              <a:t>官方文档</a:t>
            </a:r>
            <a:r>
              <a:rPr lang="en-US" sz="1050" dirty="0" err="1">
                <a:highlight>
                  <a:srgbClr val="FFFFFF"/>
                </a:highlight>
              </a:rPr>
              <a:t>：</a:t>
            </a:r>
            <a:r>
              <a:rPr lang="en-US" sz="1050" dirty="0" err="1">
                <a:highlight>
                  <a:srgbClr val="FFFFFF"/>
                </a:highlight>
                <a:hlinkClick r:id="rId3"/>
              </a:rPr>
              <a:t>https</a:t>
            </a:r>
            <a:r>
              <a:rPr lang="en-US" sz="1050" dirty="0">
                <a:highlight>
                  <a:srgbClr val="FFFFFF"/>
                </a:highlight>
                <a:hlinkClick r:id="rId3"/>
              </a:rPr>
              <a:t>://ktor.io/docs</a:t>
            </a:r>
            <a:endParaRPr lang="en-US"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050" dirty="0">
                <a:highlight>
                  <a:srgbClr val="FFFFFF"/>
                </a:highlight>
              </a:rPr>
              <a:t>- </a:t>
            </a:r>
            <a:r>
              <a:rPr lang="en-US" sz="1050" b="1" dirty="0">
                <a:solidFill>
                  <a:srgbClr val="267F99"/>
                </a:solidFill>
                <a:highlight>
                  <a:srgbClr val="FFFFFF"/>
                </a:highlight>
              </a:rPr>
              <a:t>GitHub </a:t>
            </a:r>
            <a:r>
              <a:rPr lang="en-US" sz="1050" b="1" dirty="0" err="1">
                <a:solidFill>
                  <a:srgbClr val="267F99"/>
                </a:solidFill>
                <a:highlight>
                  <a:srgbClr val="FFFFFF"/>
                </a:highlight>
              </a:rPr>
              <a:t>仓库</a:t>
            </a:r>
            <a:r>
              <a:rPr lang="zh-CN" altLang="en-US" sz="1050" dirty="0">
                <a:highlight>
                  <a:srgbClr val="FFFFFF"/>
                </a:highlight>
              </a:rPr>
              <a:t>：</a:t>
            </a:r>
            <a:r>
              <a:rPr lang="en-US" sz="1050" dirty="0">
                <a:highlight>
                  <a:srgbClr val="FFFFFF"/>
                </a:highlight>
                <a:hlinkClick r:id="rId4"/>
              </a:rPr>
              <a:t>https://github.com/ktorio/ktor</a:t>
            </a:r>
            <a:endParaRPr lang="en-US"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050" dirty="0">
                <a:highlight>
                  <a:srgbClr val="FFFFFF"/>
                </a:highlight>
              </a:rPr>
              <a:t>- </a:t>
            </a:r>
            <a:r>
              <a:rPr lang="en-US" sz="1050" b="1" dirty="0" err="1">
                <a:solidFill>
                  <a:srgbClr val="267F99"/>
                </a:solidFill>
                <a:highlight>
                  <a:srgbClr val="FFFFFF"/>
                </a:highlight>
              </a:rPr>
              <a:t>示例</a:t>
            </a:r>
            <a:r>
              <a:rPr lang="en-US" sz="1050" dirty="0" err="1">
                <a:highlight>
                  <a:srgbClr val="FFFFFF"/>
                </a:highlight>
              </a:rPr>
              <a:t>：</a:t>
            </a:r>
            <a:r>
              <a:rPr lang="en-US" sz="1050" dirty="0" err="1">
                <a:highlight>
                  <a:srgbClr val="FFFFFF"/>
                </a:highlight>
                <a:hlinkClick r:id="rId5"/>
              </a:rPr>
              <a:t>https</a:t>
            </a:r>
            <a:r>
              <a:rPr lang="en-US" sz="1050" dirty="0">
                <a:highlight>
                  <a:srgbClr val="FFFFFF"/>
                </a:highlight>
                <a:hlinkClick r:id="rId5"/>
              </a:rPr>
              <a:t>://github.com/ktorio/</a:t>
            </a:r>
            <a:r>
              <a:rPr lang="en-US" sz="1050" dirty="0" err="1">
                <a:highlight>
                  <a:srgbClr val="FFFFFF"/>
                </a:highlight>
                <a:hlinkClick r:id="rId5"/>
              </a:rPr>
              <a:t>ktor</a:t>
            </a:r>
            <a:r>
              <a:rPr lang="en-US" sz="1050" dirty="0">
                <a:highlight>
                  <a:srgbClr val="FFFFFF"/>
                </a:highlight>
                <a:hlinkClick r:id="rId5"/>
              </a:rPr>
              <a:t>-samples</a:t>
            </a:r>
            <a:endParaRPr lang="en-US" sz="105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050" dirty="0">
                <a:highlight>
                  <a:srgbClr val="FFFFFF"/>
                </a:highlight>
              </a:rPr>
              <a:t>- </a:t>
            </a:r>
            <a:r>
              <a:rPr lang="en-US" sz="1050" b="1" dirty="0" err="1">
                <a:solidFill>
                  <a:srgbClr val="267F99"/>
                </a:solidFill>
                <a:highlight>
                  <a:srgbClr val="FFFFFF"/>
                </a:highlight>
              </a:rPr>
              <a:t>项目生成器</a:t>
            </a:r>
            <a:r>
              <a:rPr lang="en-US" sz="1050" dirty="0" err="1">
                <a:highlight>
                  <a:srgbClr val="FFFFFF"/>
                </a:highlight>
              </a:rPr>
              <a:t>：</a:t>
            </a:r>
            <a:r>
              <a:rPr lang="en-US" sz="1050" dirty="0" err="1">
                <a:highlight>
                  <a:srgbClr val="FFFFFF"/>
                </a:highlight>
                <a:hlinkClick r:id="rId6"/>
              </a:rPr>
              <a:t>https</a:t>
            </a:r>
            <a:r>
              <a:rPr lang="en-US" sz="1050" dirty="0">
                <a:highlight>
                  <a:srgbClr val="FFFFFF"/>
                </a:highlight>
                <a:hlinkClick r:id="rId6"/>
              </a:rPr>
              <a:t>://start.ktor.io</a:t>
            </a:r>
            <a:endParaRPr sz="105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3669</Words>
  <PresentationFormat>全屏显示(16:9)</PresentationFormat>
  <Paragraphs>588</Paragraphs>
  <Slides>57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0" baseType="lpstr">
      <vt:lpstr>JetBrains Mono</vt:lpstr>
      <vt:lpstr>Arial</vt:lpstr>
      <vt:lpstr>Simple Light</vt:lpstr>
      <vt:lpstr>Kotlin</vt:lpstr>
      <vt:lpstr>网络基础</vt:lpstr>
      <vt:lpstr>连接</vt:lpstr>
      <vt:lpstr>IPv4</vt:lpstr>
      <vt:lpstr>Sockets</vt:lpstr>
      <vt:lpstr>客户端-服务器模型</vt:lpstr>
      <vt:lpstr>服务器 Socket</vt:lpstr>
      <vt:lpstr>客户端 Socket</vt:lpstr>
      <vt:lpstr>什么是后端？</vt:lpstr>
      <vt:lpstr>Web APIs</vt:lpstr>
      <vt:lpstr>HTTP</vt:lpstr>
      <vt:lpstr>HTTP 请求</vt:lpstr>
      <vt:lpstr>HTTP 响应</vt:lpstr>
      <vt:lpstr>HTTP 响应</vt:lpstr>
      <vt:lpstr>REST</vt:lpstr>
      <vt:lpstr>REST 中的 HTTP 方法</vt:lpstr>
      <vt:lpstr>REST 资源与 URL</vt:lpstr>
      <vt:lpstr>HTTP 状态码</vt:lpstr>
      <vt:lpstr>REST API 的优势</vt:lpstr>
      <vt:lpstr>后端框架基础</vt:lpstr>
      <vt:lpstr>Ktor 简介</vt:lpstr>
      <vt:lpstr>创建 Ktor 项目</vt:lpstr>
      <vt:lpstr>启动 Ktor 应用程序</vt:lpstr>
      <vt:lpstr>简单 Ktor 应用程序</vt:lpstr>
      <vt:lpstr>构建路由</vt:lpstr>
      <vt:lpstr>构建路由</vt:lpstr>
      <vt:lpstr>请求参数</vt:lpstr>
      <vt:lpstr>查询参数</vt:lpstr>
      <vt:lpstr>Ktor 中的插件</vt:lpstr>
      <vt:lpstr>内容协商</vt:lpstr>
      <vt:lpstr>内容协商</vt:lpstr>
      <vt:lpstr>内容协商</vt:lpstr>
      <vt:lpstr>内容协商：发送</vt:lpstr>
      <vt:lpstr>内容协商：接收</vt:lpstr>
      <vt:lpstr>错误处理</vt:lpstr>
      <vt:lpstr>身份验证</vt:lpstr>
      <vt:lpstr>身份验证基础配置</vt:lpstr>
      <vt:lpstr>身份验证用例</vt:lpstr>
      <vt:lpstr>测试</vt:lpstr>
      <vt:lpstr>测试</vt:lpstr>
      <vt:lpstr>数据库集成</vt:lpstr>
      <vt:lpstr>Exposed 设置</vt:lpstr>
      <vt:lpstr>定义表</vt:lpstr>
      <vt:lpstr>连接数据库并创建表</vt:lpstr>
      <vt:lpstr>插入数据</vt:lpstr>
      <vt:lpstr>筛选数据</vt:lpstr>
      <vt:lpstr>仓库模式</vt:lpstr>
      <vt:lpstr>任务仓库</vt:lpstr>
      <vt:lpstr>测试仓库</vt:lpstr>
      <vt:lpstr>在生产环境运行</vt:lpstr>
      <vt:lpstr>健康检查</vt:lpstr>
      <vt:lpstr>健康检查</vt:lpstr>
      <vt:lpstr>指标与监控</vt:lpstr>
      <vt:lpstr>指标与监控</vt:lpstr>
      <vt:lpstr>指标与监控</vt:lpstr>
      <vt:lpstr>部署选项</vt:lpstr>
      <vt:lpstr>资源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2026-04-20T06:26:55Z</dcterms:modified>
</cp:coreProperties>
</file>