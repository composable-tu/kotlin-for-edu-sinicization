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6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embeddedFontLst>
    <p:embeddedFont>
      <p:font typeface="HONOR Sans CN" panose="02000500000000000000" pitchFamily="2" charset="-122"/>
      <p:regular r:id="rId45"/>
      <p:bold r:id="rId46"/>
    </p:embeddedFont>
    <p:embeddedFont>
      <p:font typeface="Inter" panose="020B0604020202020204" charset="0"/>
      <p:regular r:id="rId47"/>
      <p:bold r:id="rId48"/>
      <p:italic r:id="rId49"/>
      <p:boldItalic r:id="rId50"/>
    </p:embeddedFont>
    <p:embeddedFont>
      <p:font typeface="JetBrains Mono" panose="020B0604020202020204" charset="0"/>
      <p:regular r:id="rId51"/>
      <p:bold r:id="rId52"/>
      <p:italic r:id="rId53"/>
      <p:boldItalic r:id="rId54"/>
    </p:embeddedFont>
    <p:embeddedFont>
      <p:font typeface="Open Sans" panose="020B0606030504020204" pitchFamily="34" charset="0"/>
      <p:regular r:id="rId55"/>
      <p:bold r:id="rId56"/>
      <p:italic r:id="rId57"/>
      <p:boldItalic r:id="rId58"/>
    </p:embeddedFont>
    <p:embeddedFont>
      <p:font typeface="Raleway" pitchFamily="2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463" autoAdjust="0"/>
  </p:normalViewPr>
  <p:slideViewPr>
    <p:cSldViewPr snapToGrid="0">
      <p:cViewPr varScale="1">
        <p:scale>
          <a:sx n="83" d="100"/>
          <a:sy n="83" d="100"/>
        </p:scale>
        <p:origin x="770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1413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HONOR Sans CN" panose="02000500000000000000" pitchFamily="2" charset="-122"/>
        <a:ea typeface="HONOR Sans CN" panose="02000500000000000000" pitchFamily="2" charset="-122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lass_invariant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interfaces.html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stackoverflow.com/questions/51680006/why-are-kotlin-classes-final-by-default-instead-of-open" TargetMode="External"/><Relationship Id="rId4" Type="http://schemas.openxmlformats.org/officeDocument/2006/relationships/hyperlink" Target="https://medium.com/@HugoMatilla/kotlin-basics-inheritance-modifiers-final-open-abstract-and-override-b1072d728088" TargetMode="Externa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functions.html#infix-notation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kotlinlang.org/docs/reference/grammar.html#expressions" TargetMode="Externa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a0b0bb04b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a0b0bb04b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什么是面向对象编程（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OOP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）？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OOP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是一种基于将程序表示为一组对象的编程范式。对象是具有内部表示（通常称为字段或属性）以及用于与其交互的方法的数据抽象。大多数语言都采用基于类的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OOP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方法。这意味着什么？每个对象都有一个类型。在基于类的方案中，对象是类的实例。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OOP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本身并非一种语言规范或特定的语言特性。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OOP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可应用于多种语言。有些语言甚至支持多范式。例如，您可以在同一门语言中同时使用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OOP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和函数式编程（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FP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55575" lvl="0" indent="0" algn="l" rtl="0">
              <a:lnSpc>
                <a:spcPct val="150000"/>
              </a:lnSpc>
              <a:spcBef>
                <a:spcPts val="90"/>
              </a:spcBef>
              <a:spcAft>
                <a:spcPts val="11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● Wikipedia, Object Oriented Programming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https://en.wikipedia.org/wiki/Object-oriented_programming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a0b0bb04b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1a0b0bb04b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类是对可能存在的事物、事物应具备的属性以及其行为方式（即如何与之交互）的一种抽象。相比之下，对象则代表实际存在的事物。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类就像是一份蓝图，遵循这份蓝图，你就可以构建该类的实例，即一个具体的对象。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a0b0bb04b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a0b0bb04b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类不变式支持一种称为“依赖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-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保证”的推理方式。其核心思想是：在调用某些方法时，可以确信某些条件成立。换言之，不变式用于对字段施加约束。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例如，若有一个名为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Date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的类，包含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day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month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year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字段，我们需要确保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day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属性的取值范围在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1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31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之间。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某些编程语言内置了（原生）的不变式语法，而其他语言可能需要通过实现来支持，例如使用断言。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然而，每个类实现都应保证不变式的有效性。换言之，不应将不变式视为语言特性，而应视为实现层面的特性。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不变式既可在创建对象时发挥作用（如上例中，示例类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Date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在创建新对象时应确保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day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值在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1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31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之间），也可在更新其状态时发挥作用（例如，示例类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Date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可能提供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setDay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(day)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方法，当该方法被调用时，我们也应验证传入的参数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(day)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是否正确）。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相比之下，如果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day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字段是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的（即可以直接访问的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字段），我们便无法在更新时验证其值。这意味着暴露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字段可能带来麻烦。但与此同时，某些编程语言可能不提供访问修饰符。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8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8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Wikipedia. Class invariant – </a:t>
            </a:r>
            <a:r>
              <a:rPr lang="en" u="sng" dirty="0">
                <a:solidFill>
                  <a:srgbClr val="1155CC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https://en.wikipedia.org/wiki/Class_invariant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 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a0b0bb04b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a0b0bb04b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假设我们有一个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Car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类型，它包含多个属性（状态）和控制方法，例如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startEngine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stopEngine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这些方法的实现可以被隐藏，而方法本身则通过某种“契约”（接口）对外暴露。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55575" lvl="0" indent="0" algn="l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● Wikipedia. Abstraction (computer science)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https://en.wikipedia.org/wiki/Abstraction_(computer_science)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a0b0bb04b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a0b0bb04bb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封装是面向对象编程的另一项基本原则，涉及隐藏实现细节。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让我们回到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Car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类型的例子。汽车的发动机可以启动，而要实现这一点，需要遵循一些流程（例如检查燃油量、电池电压等）。但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Car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类型只需提供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startEngine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方法，并将所有这些流程的执行过程对外部隐藏起来。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1520190" lvl="0" indent="-298450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What is encapsulation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https://www.dotnetfunda.com/articles/show/511/what-is-encapsulation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b0bb04b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b0bb04b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抽象和封装有什么区别？它们似乎很相似且密切相关。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抽象是指提供一种概括（可能是函数抽象或数据抽象）。简而言之，可以说抽象规定了某些信息比其他信息更重要，但（正确地）并未指定处理不重要信息的具体机制。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封装是指隐藏实现细节。我们可以将内部的状态和某些内部方法隐藏起来，防止直接访问，并仅暴露有限数量的方法。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Abstraction, Encapsulation, and Information Hiding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http://www.tonymarston.co.uk/php-mysql/abstraction.txt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Abstraction vs Encapsulation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https://www.javatpoint.com/abstraction-vs-encapsulation-in-java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Stackoverflow. Abstraction vs Encapsulation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https://stackoverflow.com/questions/742341/difference-between-abstraction-and-encapsulation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a0b0bb04b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a0b0bb04b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要实现封装，需要某些机制来将状态（属性）和方法隐藏起来，使其不被外部访问。大多数编程语言都提供了访问修饰符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例如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private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，其中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表示对所有人可见，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private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表示仅在类内部可见。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中有四种访问修饰符。除了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private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之外，还有：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protected –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private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类似，但允许在类及其继承类内部访问该属性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方法（我们稍后会讨论继承）。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internal –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在模块内部可见。可见性修饰符与项目结构相关。模块是一组被一起编译的源文件，例如一个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Maven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项目。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（可选） 访问修饰符有助于我们限制属性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方法的可见性。可见性通常在编译时进行验证。然而，在许多语言中，访问权限可在运行时进行修改，例如通过反射。此外，请注意有些语言根本不提供访问修饰符。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3128010" lvl="0" indent="-298450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visibility modifiers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https://kotlinlang.org/docs/visibility-modifiers.html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a0b0bb04bb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a0b0bb04bb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继承是面向对象编程的另一项基本原则。通过继承，我们可以建立类型层次结构，其中每个派生类都会从基类继承特性。派生类还可以引入新特性，并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/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或重写（修改）已继承的特性。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让我们再次以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Car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为例。实际上存在多种类型的车辆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轻型车、卡车、公交车等。但每辆卡车都拥有发动机、车轮以及状态（里程、油量等）。因此，我们可以先引入一个基类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Vehicle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并实现共有的逻辑和状态，然后添加具体的车辆类型，并将其配置为从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Vehicle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基类继承特性。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3067685" lvl="0" indent="-298450" algn="l" rtl="0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Wikipedia. Inheritance (OOP) 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https://en.wikipedia.org/wiki/Inheritance_(object-oriented_programming)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a0b0bb04b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a0b0bb04b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正如我们之前指出的，基类可能包含可供其子类复用的共享代码。例如，每辆车都能移动，因此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Vehicle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类型可能包含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move()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方法。每辆车都有一个状态（例如里程数）。提取这些共享特征和方法的技术称为泛化。然而，在此类设计中，参与泛化关系的类之间会形成紧密耦合。对基类所做的任何更改都可能影响其子类。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相反，任何子类都可能具有特定特征（例如，只有卡车才可能拖挂拖车）。这是一种称为“类型关系”（或“是”关系，“卡车是车辆”）的特化技术。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大多数情况下，继承设计可以被组合设计所替代。组合可以用“一个对象是另一个对象的组成部分”这一短语来描述。与继承类似，组合是一种代码复用机制，同样描述了实体之间的关系，但在此情况下不存在父子关系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在我们之前的示例中，每辆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Vehicle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都有一个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Engine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。与其将所有发动机规格保存在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Vehicle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类中，我们不妨引入额外的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Engine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类，从而建立“所有车辆都有发动机”的关系。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3067685" lvl="0" indent="-298450" algn="l" rtl="0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OOP Series. Composition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https://medium.com/geekculture/oop-series-composition-6c67a19cabd1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3067685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Composition vs Inheritance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https://www.adservio.fr/post/composition-vs-inheritance#:~:text=The%20difference%20between%20inheritance%20and,class%2C%20thus%20breaking%20your%20code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.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a0b0bb04b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a0b0bb04b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a0b0bb04bb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a0b0bb04bb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幻灯片上展示了一个简单的类型层次结构。每个类型都可以拥有多个继承者。如果在多边形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Polygon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类型中引入了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shape()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方法，并且该方法对它的继承者可见（即指定了相应的访问修饰符），那么该方法将在所有子类中可用，包括直接子类（四边形、三角形）和间接子类（矩形、正方形等）。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同时，在这个示意图示例中，没有类型拥有多个基类，但在某些编程语言中这实际上是可能的。这种继承被称为“多重继承”，多年来一直是一个有争议的问题。多重继承可能会导致所谓的“菱形问题”。请看以下伪代码：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A:    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extends A:    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bar()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extends A:    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bar()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 extends B, C: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baz() {       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</a:t>
            </a: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</a:t>
            </a:r>
            <a:r>
              <a:rPr lang="zh-CN" altLang="en-US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实现来自 </a:t>
            </a:r>
            <a:r>
              <a:rPr lang="en-US" altLang="zh-C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bar() // </a:t>
            </a:r>
            <a:r>
              <a:rPr lang="zh-CN" altLang="en-US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究竟应该调用 </a:t>
            </a:r>
            <a:r>
              <a:rPr lang="en-US" altLang="zh-C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</a:t>
            </a:r>
            <a:r>
              <a:rPr lang="zh-CN" altLang="en-US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类型的 </a:t>
            </a:r>
            <a:r>
              <a:rPr lang="en-US" altLang="zh-C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bar </a:t>
            </a:r>
            <a:r>
              <a:rPr lang="zh-CN" altLang="en-US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还是 </a:t>
            </a:r>
            <a:r>
              <a:rPr lang="en-US" altLang="zh-C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</a:t>
            </a:r>
            <a:r>
              <a:rPr lang="zh-CN" altLang="en-US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类型的 </a:t>
            </a:r>
            <a:r>
              <a:rPr lang="en-US" altLang="zh-C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bar</a:t>
            </a:r>
            <a:r>
              <a:rPr lang="zh-CN" altLang="en-US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？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Wikipedia. Multiple Inheritance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https://en.wikipedia.org/wiki/Multiple_inheritance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a0b0bb04bb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a0b0bb04bb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多态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= poly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（多）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+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morphē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（形态）。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在计算机科学中，多态是指为不同类型的实体提供单一接口。它描述了某种事物以多种不同形式存在，但提供类似交互方法的情况。 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0"/>
              </a:spcBef>
              <a:spcAft>
                <a:spcPts val="11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Wikipedia. Polymorphism (computer science)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https://en.wikipedia.org/wiki/Polymorphism_(computer_science)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a0b0bb04b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a0b0bb04bb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116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我们之前讨论了面向对象编程的基本原则，但并未涉及具体编程语言。现在让我们看看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是如何帮助我们遵循这些原则的。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a0b0bb04b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a0b0bb04b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66116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中声明一个类，我们需要使用相应的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class`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关键字。实际上，最简单的情况下，仅需一行代码即可声明一个类，例如：</a:t>
            </a:r>
          </a:p>
          <a:p>
            <a:pPr marL="0" marR="66116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66116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Person(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String)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1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66116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让我们来看看类声明的结构。在幻灯片中给出的示例中：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class`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是声明类的关键字。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`Person`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是类名，遵循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编码规范，以大写字母开头。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`(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name: String,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surname: String, private var age: Int)` –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这部分包含类属性（字段）和构造函数。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这种构造函数被称为主构造函数。但如果我们需要另一个构造函数呢？我们可以在类内部使用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`constructor`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关键字引入一个额外的构造函数。在这种情况下，次要构造函数必须通过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`this()`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调用主要构造函数，正如幻灯片中所示。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还可以添加一个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init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代码块。多个构造函数（主要、次要和初始化代码块）的存在可能让人感到困惑。只需记住初始化的顺序：主要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– 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init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–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次要。这在某些情况下尤为重要，例如当我们创建一个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`person`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对象时：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52171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 = Person(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"Alex Fitch"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parent)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虽然使用了次要构造函数，但系统会先调用主要构造函数，接着是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init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块，最后才是次要构造函数。</a:t>
            </a: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您可能还会注意到，次要构造函数中不包含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`var`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。这是因为类属性应在主要构造函数中定义，而非次要构造函数。</a:t>
            </a: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（可选）：如果你觉得构造函数和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init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代码块似乎很复杂，那你很走运。在大多数情况下，你并不需要这些特性。引用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Andrey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Breslav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在其题为“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for Android: plain and simple”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的演讲问答环节中的话：</a:t>
            </a: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（听众）：如果我需要多个构造函数怎么办？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Andrey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）：你不需要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:)  </a:t>
            </a: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这是为什么呢？在其他语言中，你可能需要多个重写构造函数。而在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中，使用默认值更为简洁，这在绝大多数场景下都能解决你的问题，例如：</a:t>
            </a:r>
          </a:p>
          <a:p>
            <a:pPr marL="0" marR="591185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591185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Person(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firstName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String,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lastName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String,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isEmployed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Boolean =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591185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i="1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591185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在这种情况下，调用构造函数时可以省略 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i="0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isEmployed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参数：</a:t>
            </a:r>
            <a:endParaRPr lang="en-US" altLang="zh-CN" i="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591185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i="0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p1 = Person(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"Alex"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"Fitch"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p2 = Person(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"George"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"Hoffman"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上述代码片段中的两个对象实例化方式都是正确的。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Classes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https://kotlinlang.org/docs/classes.html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Conding Conventions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https://kotlinlang.org/docs/coding-conventions.html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Andrey Breslav, “Kotlin for Android: plain and simple”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https://www.youtube.com/watch?v=VU_L2_XGQ9s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a0b0bb04bb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a0b0bb04bb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如果派生类拥有主要构造函数，则必须在该主要构造函数中根据其参数初始化基类。</a:t>
            </a: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在上例中，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ColoredPoint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类继承自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`Point`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，因此必须调用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`Point`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的构造函数（语法与次级构造函数的声明类似）。</a:t>
            </a: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您可能已经注意到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`Point`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类声明中添加了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关键字。为什么需要它？我们将在接下来的几张幻灯片中讨论。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05833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07916"/>
              </a:lnSpc>
              <a:spcBef>
                <a:spcPts val="95"/>
              </a:spcBef>
              <a:spcAft>
                <a:spcPts val="11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Inheritance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https://kotlinlang.org/docs/inheritance.html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a0b0bb04bb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a0b0bb04bb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一个类中可能包含多个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init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代码块。不过，它们会被“合并”成一个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init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代码块，并在执行时保留声明顺序。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以下是一个稍显晦涩的示例：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Example(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Int, info: String)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anotherValue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Int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info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"Description: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info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b="1" dirty="0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init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info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+=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", with value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b="1" dirty="0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constructor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(value: Int) :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(value,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thirdValue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computeAnotherValue() * 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computeAnotherValue() =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init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anotherValue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computeAnotherValue()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65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您可能已经注意到，两个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init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块之间添加了一个额外的次要构造函数。这不会以任何方式影响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init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块的执行。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55575" marR="4758690" lvl="0" indent="0" algn="l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● Stackoverflow. Difference between init blocks and constructors in Kotlin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https://stackoverflow.com/questions/55356837/what-is-the-difference-between-init-block-and-constructor-in-kotlin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55575" marR="4758690" lvl="0" indent="0" algn="l" rtl="0">
              <a:lnSpc>
                <a:spcPct val="150000"/>
              </a:lnSpc>
              <a:spcBef>
                <a:spcPts val="110"/>
              </a:spcBef>
              <a:spcAft>
                <a:spcPts val="11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● Init blocks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https://chetangupta.net/init-blocks/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a0b0bb04bb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a0b0bb04bb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让我们回到面向对象编程的抽象原则。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接口是关键的抽象工具之一。接口可以被视为实现该接口的类与外部世界之间的契约。接口中定义的方法必须全部由类来实现。在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中，这会在编译时进行检查。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中，接口不仅可以包含抽象方法，还可以包含方法实现和属性（但不包含状态）。例如：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UiObject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String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invalidate()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printTitle()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println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"Title: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UiButton(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 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String) : UiObject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 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invalidate()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//…</a:t>
            </a:r>
            <a:endParaRPr i="1" dirty="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在此示例中，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`title`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并非状态；它是任何实现该接口的类都必须具备的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`title`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抽象类的外观与接口相似，但可能包含状态和构造函数（或多个构造函数），尽管它们仍然无法被实例化。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任何类都可以实现多个接口，但只能继承一个抽象类。这也是二者之间的一项显著区别。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32105" lvl="0" indent="-243205" algn="just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Interfaces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https://kotlinlang.org/docs/interfaces.html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32105" lvl="0" indent="-243205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Abstract Classes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https://kotlinlang.org/docs/classes.html#abstract-classes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32105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Academy. Interface vs Abstract Class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https://blog.kotlin-academy.com/abstract-class-vs-interface-in-kotlin-5ab8697c3a14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a0b0bb04bb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a0b0bb04bb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在封装方面，我们可以大量使用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提供的访问修饰符。请记住，共有四种修饰符：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Private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Protected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Internal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a0b0bb04bb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a0b0bb04bb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在上例中，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MyCat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RegularCat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类型的继承类。请注意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`poop()`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方法的可见性修饰符；它是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`private`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的，这意味着“仅在类内部可见”。如果我们在继承类中尝试使用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`poop()`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，将会引发编译时错误。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要修正这段代码，我们可以修改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`poop()`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的签名，将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`private`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修饰符替换为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`protected`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，这样该方法不仅在类内部可见，任何继承类也能访问它。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无论哪种情况，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`poop()`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都会对外部世界隐藏。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a0b0bb04b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a0b0bb04bb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要继承一个非抽象类，该基类的声明中必须包含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关键字。为什么？因为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默认遵循“默认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`final`”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原则。如果未显式声明为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`open`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（即非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`final`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），类和方法默认是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`final`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的。你认为这是为什么呢？一个可能的答案是：如果开发者希望自己的类被其他开发者使用，就应该妥善设计该类，并显式地用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关键字进行标记。这样做时，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关键字就作为该类可继承的标识。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Joshua Bloch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提出了这一有用的原则：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&gt;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“</a:t>
            </a:r>
            <a:r>
              <a:rPr lang="zh-CN" altLang="en-US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要么为继承而设计并提供文档说明，要么就禁止继承。”（</a:t>
            </a:r>
            <a:r>
              <a:rPr lang="en-US" altLang="zh-CN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Joshua Bloch</a:t>
            </a:r>
            <a:r>
              <a:rPr lang="zh-CN" altLang="en-US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</a:t>
            </a:r>
            <a:r>
              <a:rPr lang="en-US" altLang="zh-CN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《Effective Java》</a:t>
            </a:r>
            <a:r>
              <a:rPr lang="zh-CN" altLang="en-US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，第 </a:t>
            </a:r>
            <a:r>
              <a:rPr lang="en-US" altLang="zh-CN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19 </a:t>
            </a:r>
            <a:r>
              <a:rPr lang="zh-CN" altLang="en-US" i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条）</a:t>
            </a:r>
            <a:endParaRPr lang="en-US" altLang="zh-CN" i="1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如前所述，一个类可以实现多个接口，但只能继承一个抽象类。请看幻灯片上的示例和类声明。在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RegularCat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CatAtHospital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中，哪个是接口，哪个是抽象类？正如我们之前讨论过的，抽象类具有构造函数。在这个示例中，我们可以看到对基类构造函数的调用：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RegularCat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。因此它必须是一个抽象类。</a:t>
            </a:r>
          </a:p>
          <a:p>
            <a:pPr marL="0" lvl="0" indent="0" algn="just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与其他一些语言不同，在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中，接口和抽象类的声明顺序可以任意排列。假设我们有两个接口和一个抽象类，那么以下两种写法都是正确的：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SickDomesticCat : RegularCat(), CatAtHospital, DomesticPet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以及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SickDomesticCat : DomesticPet, CatAtHospital, RegularCat()</a:t>
            </a: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此外，以下这种写法（接口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–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抽象类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–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接口）也是正确的：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SickDomesticCat : DomesticPet, RegularCat(), CatAtHospital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要实现接口或抽象类中声明的抽象方法，必须使用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`override`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关键字，如上例所示。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Interfaces –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https://kotlinlang.org/docs/interfaces.html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basics. Inheritance modifiers –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4"/>
              </a:rPr>
              <a:t>https://medium.com/@HugoMatilla/kotlin-basics-inheritance-modifiers-final-open-abstract-and-override-b1072d728088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Stackoverflow. Why are Kotlin classes final by default instead of open? – </a:t>
            </a: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5"/>
              </a:rPr>
              <a:t>https://stackoverflow.com/questions/51680006/why-are-kotlin-classes-final-by-default-instead-of-open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a0b0bb04bb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a0b0bb04bb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a0b0bb04bb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a0b0bb04bb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让我们回到多态原则，并在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中实现一个简单的示例。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在上方的代码中，我们的类型层次结构中有两种家养宠物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 `Cat`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`Dog`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。它们都提供了接口中声明的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`pet()`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方法，但其实现可能截然不同。然而，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可以像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`Dog`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一样出现并被使用，反之亦然。我们可以将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`Cat`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`Dog`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类型的对象添加到同一个集合中，并分别调用它们的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`pet()`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Wikipedia. Polymorphism (computer science)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https://en.wikipedia.org/wiki/Polymorphism_(computer_science)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a0b0bb04bb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a0b0bb04bb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之前我们看到，可以通过主构造函数定义类属性：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Person(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Int)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 = Person(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person.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000080"/>
              </a:solidFill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但属性也可以在类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里面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声明：</a:t>
            </a: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fullname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String =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</a:t>
            </a:r>
            <a:endParaRPr b="1" dirty="0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 = Person()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person.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fullname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"Alex Fitch"</a:t>
            </a:r>
            <a:endParaRPr b="1" dirty="0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属性可以像上例那样显式定义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Getter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Setter。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要获取或更新字段值，应使用后备字段。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field`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是一个特殊关键字，仅在定义的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Getter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Sett</a:t>
            </a:r>
            <a:r>
              <a:rPr lang="en-US" altLang="zh-CN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</a:t>
            </a:r>
            <a:r>
              <a:rPr lang="en-US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内部可见。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可见性修饰符也可应用于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Getter/Setter。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例如，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private set`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表示该属性只能在类内部进行更新。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Properties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https://kotlinlang.org/docs/properties.html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11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rgbClr val="333333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Getters and Setters in Kotlin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https://www.baeldung.com/kotlin/getters-setters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dirty="0">
                <a:solidFill>
                  <a:srgbClr val="333333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a0b0bb04bb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a0b0bb04bb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除了可见性修饰符外，我们还可以控制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final`/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非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final`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状态。请记住“默认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final`”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原则（接口除外）。在上面的示例中，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OpenBase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类有一个带有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open`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value`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属性，这意味着该属性可以在子类中被重写，并且可以引入自定义的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Getter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Setter。</a:t>
            </a: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同时，我们可以在子类中添加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final`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关键字。比如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AnotherChild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类，它有一个被标记为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final`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关键字的重写属性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value`。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如果存在像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OneMoreChild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(...) : </a:t>
            </a:r>
            <a:r>
              <a:rPr lang="en-US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AnotherChild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(...)`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这样的子类，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value`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将无法在其中被重写。</a:t>
            </a:r>
          </a:p>
          <a:p>
            <a:pPr marL="0" lvl="0" indent="0" algn="just" rtl="0">
              <a:lnSpc>
                <a:spcPct val="105833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05833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07916"/>
              </a:lnSpc>
              <a:spcBef>
                <a:spcPts val="90"/>
              </a:spcBef>
              <a:spcAft>
                <a:spcPts val="11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Stackoverflow. What is the `open` keyword for fields in Kotlin?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https://stackoverflow.com/questions/49076121/what-is-open-keyword-for-fields-in-kotlin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a0b0bb04bb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a0b0bb04bb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让我们看看以下示例：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 </a:t>
            </a: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 </a:t>
            </a: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 </a:t>
            </a: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"XML encoding with Kotlin" </a:t>
            </a: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b="1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嗯对，这是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代码，尽管乍一看它一点也不像代码。我们从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类型安全构建器示例中获得了这个例子，它看起来像是一个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HTML DSL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。但是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`+"XML encoding with Kotlin"`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是什么意思？如果我们尝试编译这一行，将会得到一个错误。在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中，字符串并没有一元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`+`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运算符。但它是如何工作的呢？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允许我们重写运算符。几乎每个运算符都可以被重载，包括一元和二元算术运算符、索引访问运算符等等。请查看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官方文档以了解所有可用于重载的运算符。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但在上面的示例中，一元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`+`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运算符被用于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`String`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。我们该如何在类型之外重写运算符呢？引入重写运算符的一个绝佳选择是使用扩展函数！在这种情况下，基类保持不变。</a:t>
            </a: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operator 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String.unaryPlus(): String =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endParaRPr b="1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的运算符。</a:t>
            </a: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但在上面的示例中，一元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`+`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运算符被用于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`String`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。我们该如何在类型之外重写运算符呢？引入重写运算符的一个绝佳选择是使用扩展函数！在这种情况下，基类保持不变。</a:t>
            </a: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operator fun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String.unaryPlus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(): String = this</a:t>
            </a: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```</a:t>
            </a: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注意，必须使用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</a:t>
            </a: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请记住，成员函数的优先级高于扩展函数。如果任何类中已经存在重写运算符，则无法通过扩展函数对其进行重写。</a:t>
            </a: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请检查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kotlin.String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类，其中有一个运算符：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13182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operator 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plus(other: Any?): String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因此，我们无法重写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plus`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方法（即二元加法运算符）。然而，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unaryPlus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运算符可以通过扩展函数进行重写。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Operator Overloading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https://kotlinlang.org/docs/operator-overloading.html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Type Safe Builders, DSL example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https://kotlinlang.org/docs/type-safe-builders.html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a0b0bb04bb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a0b0bb04bb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a0b0bb04bb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a0b0bb04bb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a0b0bb04b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a0b0bb04b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现在让我们来谈谈中缀函数。它们是什么？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请看这个例子：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infix 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String.with(other: String) = Person(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other)</a:t>
            </a: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这看起来像是一个扩展函数，对吧？但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`infix`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关键字的作用是什么呢？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虽然中缀函数是以扩展函数的形式声明的（仅增加了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`infix`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关键字），但中缀函数的调用方式与扩展函数不同。扩展函数的调用方式与普通函数无异：</a:t>
            </a: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"Ryan"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"Gosling"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但如果一个函数被标记为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`infix`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，我们可以省略一些符号，写成：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"Ryan" </a:t>
            </a:r>
            <a:r>
              <a:rPr lang="en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"Gosling"</a:t>
            </a:r>
            <a:endParaRPr b="1" dirty="0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在声明中缀函数时，似乎存在一些限制。在上面的例子中，我们不太可能传递多个参数：</a:t>
            </a:r>
            <a:endParaRPr lang="e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"Ryan" </a:t>
            </a:r>
            <a:r>
              <a:rPr lang="en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"Gosling"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 </a:t>
            </a: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无法编译</a:t>
            </a:r>
            <a:endParaRPr lang="en" i="1" dirty="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>
              <a:solidFill>
                <a:srgbClr val="008000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事实上，确实存在以下几点限制：</a:t>
            </a:r>
          </a:p>
          <a:p>
            <a:pPr marL="329565" lvl="0" indent="-250190" algn="l" rtl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中缀函数必须是成员函数或扩展函数。</a:t>
            </a:r>
          </a:p>
          <a:p>
            <a:pPr marL="329565" lvl="0" indent="-250190" algn="l" rtl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中缀函数必须有且仅有一个参数，该参数不能有默认值，且不能是可变参数。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79375" lvl="0" indent="0" algn="l" rtl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79375" lvl="0" indent="0" algn="l" rtl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使用中缀函数时，请注意运算符优先级。例如，算术运算符的优先级高于中缀函数。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79375" lvl="0" indent="0" algn="l" rtl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79375" lvl="0" indent="0" algn="l" rtl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Functions. Infix notation –</a:t>
            </a:r>
            <a:b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</a:b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3"/>
              </a:rPr>
              <a:t>https://kotlinlang.org/docs/functions.html#infix-notation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Operator Precedence –</a:t>
            </a:r>
            <a:b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</a:br>
            <a:r>
              <a:rPr lang="en" u="sng" dirty="0">
                <a:solidFill>
                  <a:schemeClr val="hlink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  <a:hlinkClick r:id="rId4"/>
              </a:rPr>
              <a:t>https://kotlinlang.org/docs/reference/grammar.html#expressions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a0b0bb04bb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a0b0bb04bb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解构声明不仅限于数据类。我们可以让普通的“非数据”类也支持这种约定。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为此，我们需要手动实现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componentN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方法。为了支持解构声明，这些方法必须使用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`operator`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关键字声明。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在上面的示例中，如果我们想要忽略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`head`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而仅获取尾部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`tail`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，可以使用下划线：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(_, tail) = sd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9565" lvl="0" indent="-250190" algn="l" rtl="0">
              <a:lnSpc>
                <a:spcPct val="1500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Destructuring Declarations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https://kotlinlang.org/docs/destructuring-declarations.html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9565" lvl="0" indent="-25019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Destructuring Declarations in Kotlin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https://www.baeldung.com/kotlin/destructuring-declarations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a0b0bb04bb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a0b0bb04bb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数据类是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的又一项出色特性。请看幻灯片上的示例。我们已经知道，简单的类只需一行代码即可声明。但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`data`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关键字带来了什么变化呢？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仅通过使用一个关键字，类就能获得幻灯片上展示的所有特性。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`User`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类依然保持一行声明，而所有方法都会隐式添加，我们可以直接使用它们。例如，可以使用解构声明：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000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 = User(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"Alex"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(name, age) = user</a:t>
            </a:r>
            <a:endParaRPr b="1" dirty="0">
              <a:solidFill>
                <a:srgbClr val="000080"/>
              </a:solidFill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该类中并未显式声明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`component1`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`component2`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方法。这些方法是由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编译器在后台自动生成的。</a:t>
            </a:r>
          </a:p>
          <a:p>
            <a:pPr marL="0" lvl="0" indent="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不过，也有一些要求和限制：</a:t>
            </a:r>
          </a:p>
          <a:p>
            <a:pPr marL="0" lvl="0" indent="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数据类的构造函数必须至少声明一个属性。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所有构造函数参数都必须标记为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`var`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数据类不能是抽象类、开放类、密封类或内部类。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无法重写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`copy()`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componentN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</a:t>
            </a:r>
          </a:p>
          <a:p>
            <a:pPr marL="0" lvl="0" indent="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（可选）当你在网上进行自主研究时，可能会遇到诸如“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中如何使用元组？”之类的问题。其实，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中并没有元组。请看以下伪代码示例：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getCoordinates()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x = 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 = 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(x, y)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x, y = getCoordinates()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由于没有元组，我们无法在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中以相同方式实现此功能。但实际上我们并不真正需要元组。我们可以引入一个简单的数据类并使用解构声明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取而代之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，因此该伪代码示例在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中可写为：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getCoordinates(): Point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Point(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(x, y) = getCoordinates()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数据类写法很“轻量”，这意味着只需一行代码即可轻松添加一个数据类。而且，在同一个源文件中可以声明多个数据类，这也是其优点之一。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9565" lvl="0" indent="-250190" algn="l" rtl="0">
              <a:lnSpc>
                <a:spcPct val="150000"/>
              </a:lnSpc>
              <a:spcBef>
                <a:spcPts val="6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Data Classes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https://kotlinlang.org/docs/data-classes.html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9565" lvl="0" indent="-250190" algn="l" rtl="0">
              <a:lnSpc>
                <a:spcPct val="15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Data Classes in Kotlin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https://www.baeldung.com/kotlin/data-classes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a0b0bb04bb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a0b0bb04bb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的一项优化特性。如果我们的目标平台是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JVM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，可以在类包装器上使用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`@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JvmInline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注解，其余的工作将由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编译器自动完成。在代码中，它看起来仍像一个普通的类，但在底层已被内联，从而提升了性能或节省了内存。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9565" lvl="0" indent="-250190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Inline Classes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https://kotlinlang.org/docs/inline-classes.html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9565" lvl="0" indent="-25019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Value-based classes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https://github.com/Kotlin/KEEP/blob/master/notes/value-classes.md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a0b0bb04bb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a0b0bb04bb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内联类是基于值的类的子集。它们没有身份，只能存储值。</a:t>
            </a: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需要注意以下几点限制：</a:t>
            </a:r>
          </a:p>
          <a:p>
            <a:pPr marL="171450" lvl="0" indent="-17145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内联类必须在主构造函数中初始化一个属性。</a:t>
            </a:r>
          </a:p>
          <a:p>
            <a:pPr marL="171450" lvl="0" indent="-17145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内联类不得参与类型层次结构。但它们可以实现接口。</a:t>
            </a:r>
          </a:p>
          <a:p>
            <a:pPr marL="171450" lvl="0" indent="-171450" algn="just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内联类属性的获取器和设置器不能使用后备字段。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a0b0bb04bb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a0b0bb04bb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内联类在底层并非真正的类。在上例中，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`Name`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`String`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的包装类。这意味着在底层，我们可能会得到两个声明相同的函数（粗略地说，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`Name`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将被替换为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`String`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）。为了解决函数签名冲突的问题，内联类的方法名称会被重命名。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但如果它们被重命名了，我们又该如何在（例如）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应用程序中调用它们呢？我们需要使用另一个注解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`@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JvmName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，来显式设置方法名并禁用重命名机制。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9565" lvl="0" indent="-250190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Koltin Inline Classes. Mangling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https://kotlinlang.org/docs/inline-classes.html#mangling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a0b0bb04bb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a0b0bb04bb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Enum </a:t>
            </a: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是“</a:t>
            </a:r>
            <a:r>
              <a:rPr lang="en-US" altLang="zh-CN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enumeration”</a:t>
            </a:r>
            <a:r>
              <a:rPr lang="zh-CN" altLang="en-US" i="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（枚举）的缩写，指的是一组预定义的常量。我们为什么需要它？假设我们需要实现一个指南针。该如何描述“北南西东”这组固定的方向呢？一种可能的做法是使用数字常量来表示：</a:t>
            </a:r>
            <a:endParaRPr lang="en-US" altLang="zh-CN" i="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i="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val </a:t>
            </a:r>
            <a:r>
              <a:rPr lang="en" i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NORTH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val </a:t>
            </a:r>
            <a:r>
              <a:rPr lang="en" i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SOUTH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但在这种情况下，底层仍为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`Int`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类型，因此我们无法获得任何额外好处或编译时验证。但更危险的是，我们可能会混淆这些常量并使用错误的常量，例如：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compass.getDirection() == Consts.MUNICH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在此处，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Consts.MUNICH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可能是声明为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`const 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MUNICH = 313`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的城市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ID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，而非方向代码。由于底层所有常量仍为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`Int`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类型，因此编译并运行代码时会报错。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enum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是一种类。每个枚举常量都是一个对象。那么，我们可以添加方法和属性吗？当然可以！例如，对于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`Color`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枚举，我们可以像幻灯片中所示的那样添加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RGB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值。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方法也是允许的。我们可以在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`Color`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类中引入一个抽象方法，并且每个常量（对象）都必须实现该方法：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enum class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Color(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rgb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Int)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i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0xFF0000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 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cmyk()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//...</a:t>
            </a:r>
            <a:endParaRPr i="1" dirty="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},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i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0x00FF00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 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cmyk()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//...</a:t>
            </a:r>
            <a:endParaRPr i="1" dirty="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};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 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cmyk();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与类内部声明的抽象方法类似，枚举类也可以实现一个（或多个）接口。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要访问枚举常量，只需写 </a:t>
            </a:r>
            <a:r>
              <a:rPr lang="en-US" altLang="zh-C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Color.RED</a:t>
            </a:r>
            <a:r>
              <a:rPr lang="en-US" altLang="zh-C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</a:t>
            </a:r>
            <a:r>
              <a:rPr lang="zh-CN" altLang="en-US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。</a:t>
            </a:r>
            <a:endParaRPr lang="en-US" altLang="zh-CN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Enum Classes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https://kotlinlang.org/docs/enum-classes.html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Stackoverflow. Why use enums instead of constants?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https://stackoverflow.com/questions/11575376/why-use-enums-instead-of-constants-which-is-better-in-terms-of-software-design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a0b0bb04bb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a0b0bb04bb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让我们再来看一个关于枚举的示例。枚举提供了辅助方法，例如，可以通过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valueOf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方法按名称获取枚举常量。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如幻灯片所示，枚举还可以与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`when`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子句配合使用。我们可以为每个枚举常量编写一个分支（如幻灯片所示），也可以使用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`else`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子句省略某些常量，例如： 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(g)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Color.RED -&gt; </a:t>
            </a:r>
            <a:r>
              <a:rPr lang="en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println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"blood"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-&gt; </a:t>
            </a:r>
            <a:r>
              <a:rPr lang="en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println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"unknown"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`when`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表达式中未涵盖所有枚举常量，将会导致编译错误。布尔类型和密封类也同样适用此规则。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highlight>
                <a:schemeClr val="lt1"/>
              </a:highlight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Working with enum constants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https://kotlinlang.org/docs/enum-classes.html#working-with-enum-constants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a0b0bb04bb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a0b0bb04bb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密封类为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提供了另一种实现类的方式。当在类声明中添加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`sealed`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关键字时，它会对类型层次结构引入一些限制。如果一个类是密封的，那么它的继承类必须都定义在同一个模块中，并且在编译时已知。这使我们能够更好地控制继承，并确保不会出现其他子类（继承类）。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密封类本身是抽象的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因此无需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`open`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修饰符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且无法被实例化。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由于密封类层次结构受到限制，在使用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`when`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表达式时，可以验证所有情况均已被覆盖。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Sealed Classes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https://kotlinlang.org/docs/sealed-classes.html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a0b0bb04bb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a0b0bb04bb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单一抽象方法（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SAM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）接口是一种仅包含一个抽象方法的接口。一个经典的例子是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UI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动作监听器接口：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ActionListener {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/**</a:t>
            </a:r>
            <a:endParaRPr i="1" dirty="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* </a:t>
            </a:r>
            <a:r>
              <a:rPr lang="zh-CN" altLang="en-US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动作发生时调用。</a:t>
            </a:r>
            <a:endParaRPr i="1" dirty="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*/</a:t>
            </a:r>
            <a:endParaRPr i="1" dirty="0">
              <a:solidFill>
                <a:srgbClr val="80808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actionPerformed(event: ActionEvent);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在许多编程语言中，此类接口被广泛使用。  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中，我们也可以引入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SAM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接口。此外，与其实现接口并引入额外的类或对象表达式（如幻灯片所示），我们也可以使用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如果我们在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项目中使用了任何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库，也可以使用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`lambda`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表达式处理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SAM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接口。例如：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javax.swing.Jbutton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CC783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button = JButton()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button.addActionListener </a:t>
            </a: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println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"Button clicked"</a:t>
            </a: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" b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Functional Interfaces (SAM)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https://kotlinlang.org/docs/fun-interfaces.html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11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SAM Conventions in Kotlin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https://www.baeldung.com/kotlin/sam-conversions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a0b0bb04bb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a0b0bb04bb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我们已经讨论了许多面向对象编程的原则和方面。现在是时候谈谈设计模式了。</a:t>
            </a: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什么是设计模式？</a:t>
            </a: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一般而言，设计模式是解决软件设计中常见问题的典型方案。</a:t>
            </a: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设计模式并不局限于任何特定的编程语言，相反，同一种设计模式在不同的语言中可能会以略有不同的方式实现。</a:t>
            </a: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但为什么要在这次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讲座中讨论设计模式呢？原因在于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为我们提供了一个名为“单例”的设计模式的内置实现。</a:t>
            </a: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单例是一种将类实例化限制为唯一实例的设计模式。通常，单例应可被全局访问。</a:t>
            </a: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批评者认为单例模式是一种反模式。为什么？原因之一是使用单例模式可能会增加代码耦合度，并导致代码中出现隐式依赖，因此必须谨慎使用。</a:t>
            </a: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不同编程语言实现单例模式的技术各不相同。然而，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极大地简化了单例模式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让我们来看看具体如何实现。</a:t>
            </a: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请看幻灯片上的代码。看起来像是一个类对吧？但这里用的不是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class`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关键字，而是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`object`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`object`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关键字是我们在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中实现单例模式的方式，也被称为“对象声明”。声明式对象的初始化是以线程安全的方式进行的，并在首次访问时发生。要访问该对象及其方法，请直接使用对象名称：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DataProviderManager.registerDataProvider(...)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这看起来像是在访问静态字段，对吧？这就是我们接下来要讲解的内容。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Wikipedia. Design Patterns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https://en.wikipedia.org/wiki/Software_design_pattern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Wikipedia. Gang of Four Design Patterns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https://en.wikipedia.org/wiki/Design_Patterns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Wikipedia. Singleton Pattern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https://en.wikipedia.org/wiki/Singleton_pattern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Singletons are evil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https://wiki.c2.com/?SingletonsAreEvil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Singletons are good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https://wiki.c2.com/?SingletonsAreGood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11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Object Declarations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https://kotlinlang.org/docs/object-declarations.html#object-declarations-overview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a0b0bb04bb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a0b0bb04bb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您可能已经注意到，我们在任何代码片段中都没有使用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`static`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并不包含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`static`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但它支持伴生对象。任何类内部的对象声明都可以通过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`companion`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关键字进行增强。在这种情况下，只需将类名作为限定符，即可直接调用伴生对象的成员，而无需创建该类的实例（对象）。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利用伴生对象，我们可以实现静态工厂方法。在示例中，我们可以简单地写成：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MyClass.create()</a:t>
            </a: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因此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`create()`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看起来像是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MyClass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的静态方法，但实际上它是伴生对象的成员函数。</a:t>
            </a: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另一个用例是静态常量。通过伴生对象，我们可以定义无需实例化类即可访问的常量：</a:t>
            </a:r>
            <a:endParaRPr lang="en-US" altLang="zh-CN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MyClass {</a:t>
            </a:r>
            <a:endParaRPr sz="10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000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companion object </a:t>
            </a: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0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000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val </a:t>
            </a:r>
            <a:r>
              <a:rPr lang="en" sz="1000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MY_VALUE </a:t>
            </a: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000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sz="1000" dirty="0">
              <a:solidFill>
                <a:srgbClr val="0000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1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000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"Const value: </a:t>
            </a:r>
            <a:r>
              <a:rPr lang="en" sz="1000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${</a:t>
            </a: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MyClass.</a:t>
            </a:r>
            <a:r>
              <a:rPr lang="en" sz="1000" b="1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MY_VALUE</a:t>
            </a:r>
            <a:r>
              <a:rPr lang="en" sz="1000" b="1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r>
              <a:rPr lang="en" sz="1000" b="1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0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0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在伴生对象内部定义的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`MY_VALUE`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无需 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</a:t>
            </a:r>
            <a:r>
              <a:rPr lang="en-US" altLang="zh-CN" dirty="0" err="1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MyClass</a:t>
            </a:r>
            <a:r>
              <a:rPr lang="en-US" altLang="zh-C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` </a:t>
            </a:r>
            <a:r>
              <a:rPr lang="zh-CN" altLang="en-US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对象实例即可访问，这与静态常量类似。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References: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Companion Objects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https://kotlinlang.org/docs/object-declarations.html#companion-objects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322580" lvl="0" indent="-243205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Static Methods Behavior in Kotlin – </a:t>
            </a:r>
            <a:r>
              <a:rPr lang="en" u="sng" dirty="0">
                <a:solidFill>
                  <a:srgbClr val="FF318B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https://www.baeldung.com/kotlin/static-methods</a:t>
            </a:r>
            <a:r>
              <a:rPr lang="en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 </a:t>
            </a: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2882265" lvl="0" indent="0" algn="l" rtl="0">
              <a:lnSpc>
                <a:spcPct val="1500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5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a7aff7364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a7aff7364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72c0df22f4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172c0df22f4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0000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25105" t="18582" r="1077" b="20590"/>
          <a:stretch/>
        </p:blipFill>
        <p:spPr>
          <a:xfrm rot="-720009">
            <a:off x="4471046" y="-44961"/>
            <a:ext cx="5499357" cy="453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defRPr>
            </a:lvl1pPr>
            <a:lvl2pPr marL="914400" lvl="1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Lots of code">
  <p:cSld name="CUSTOM_4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6800" cy="2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300" rIns="0" bIns="0" anchor="t" anchorCtr="0">
            <a:noAutofit/>
          </a:bodyPr>
          <a:lstStyle>
            <a:lvl1pPr marL="457200" lvl="0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●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279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JetBrains Mono"/>
              <a:buChar char="○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2794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800"/>
              <a:buFont typeface="JetBrains Mono"/>
              <a:buChar char="■"/>
              <a:defRPr sz="8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and header 1">
  <p:cSld name="CUSTOM_7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Code">
  <p:cSld name="CUSTOM_4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914400" lvl="1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371600" lvl="2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1828800" lvl="3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2286000" lvl="4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2743200" lvl="5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3200400" lvl="6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●"/>
              <a:defRPr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3657600" lvl="7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JetBrains Mono"/>
              <a:buChar char="○"/>
              <a:defRPr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4114800" lvl="8" indent="-3175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JetBrains Mono"/>
              <a:buChar char="■"/>
              <a:defRPr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HONOR Sans CN" panose="02000500000000000000" pitchFamily="2" charset="-122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Main point">
  <p:cSld name="CUSTOM_5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1475" y="1626682"/>
            <a:ext cx="8321100" cy="16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Text slide">
  <p:cSld name="CUSTOM_7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292600" y="292598"/>
            <a:ext cx="8328900" cy="4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marL="914400" lvl="1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31" name="Google Shape;3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HONOR Sans CN" panose="02000500000000000000" pitchFamily="2" charset="-122"/>
                <a:ea typeface="HONOR Sans CN" panose="02000500000000000000" pitchFamily="2" charset="-122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150" rIns="0" bIns="0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83880" y="41148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ONOR Sans CN" panose="02000500000000000000" pitchFamily="2" charset="-122"/>
          <a:ea typeface="HONOR Sans CN" panose="02000500000000000000" pitchFamily="2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ONOR Sans CN" panose="02000500000000000000" pitchFamily="2" charset="-122"/>
          <a:ea typeface="HONOR Sans CN" panose="02000500000000000000" pitchFamily="2" charset="-122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EA4335"/>
          </p15:clr>
        </p15:guide>
        <p15:guide id="2" pos="259">
          <p15:clr>
            <a:srgbClr val="EA4335"/>
          </p15:clr>
        </p15:guide>
        <p15:guide id="3" pos="1037">
          <p15:clr>
            <a:srgbClr val="EA4335"/>
          </p15:clr>
        </p15:guide>
        <p15:guide id="4" pos="1152">
          <p15:clr>
            <a:srgbClr val="EA4335"/>
          </p15:clr>
        </p15:guide>
        <p15:guide id="5" pos="1930">
          <p15:clr>
            <a:srgbClr val="EA4335"/>
          </p15:clr>
        </p15:guide>
        <p15:guide id="6" pos="2045">
          <p15:clr>
            <a:srgbClr val="EA4335"/>
          </p15:clr>
        </p15:guide>
        <p15:guide id="7" pos="2822">
          <p15:clr>
            <a:srgbClr val="EA4335"/>
          </p15:clr>
        </p15:guide>
        <p15:guide id="8" pos="2938">
          <p15:clr>
            <a:srgbClr val="EA4335"/>
          </p15:clr>
        </p15:guide>
        <p15:guide id="9" pos="3715">
          <p15:clr>
            <a:srgbClr val="EA4335"/>
          </p15:clr>
        </p15:guide>
        <p15:guide id="10" pos="3830">
          <p15:clr>
            <a:srgbClr val="EA4335"/>
          </p15:clr>
        </p15:guide>
        <p15:guide id="11" pos="4608">
          <p15:clr>
            <a:srgbClr val="EA4335"/>
          </p15:clr>
        </p15:guide>
        <p15:guide id="12" pos="4723">
          <p15:clr>
            <a:srgbClr val="EA4335"/>
          </p15:clr>
        </p15:guide>
        <p15:guide id="13" pos="5501">
          <p15:clr>
            <a:srgbClr val="EA4335"/>
          </p15:clr>
        </p15:guide>
        <p15:guide id="14" orient="horz" pos="582">
          <p15:clr>
            <a:srgbClr val="EA4335"/>
          </p15:clr>
        </p15:guide>
        <p15:guide id="15" orient="horz" pos="732">
          <p15:clr>
            <a:srgbClr val="EA4335"/>
          </p15:clr>
        </p15:guide>
        <p15:guide id="16" orient="horz" pos="881">
          <p15:clr>
            <a:srgbClr val="EA4335"/>
          </p15:clr>
        </p15:guide>
        <p15:guide id="17" orient="horz" pos="1031">
          <p15:clr>
            <a:srgbClr val="EA4335"/>
          </p15:clr>
        </p15:guide>
        <p15:guide id="18" orient="horz" pos="1181">
          <p15:clr>
            <a:srgbClr val="EA4335"/>
          </p15:clr>
        </p15:guide>
        <p15:guide id="19" orient="horz" pos="1331">
          <p15:clr>
            <a:srgbClr val="EA4335"/>
          </p15:clr>
        </p15:guide>
        <p15:guide id="20" orient="horz" pos="1480">
          <p15:clr>
            <a:srgbClr val="EA4335"/>
          </p15:clr>
        </p15:guide>
        <p15:guide id="21" orient="horz" pos="1630">
          <p15:clr>
            <a:srgbClr val="EA4335"/>
          </p15:clr>
        </p15:guide>
        <p15:guide id="22" orient="horz" pos="1780">
          <p15:clr>
            <a:srgbClr val="EA4335"/>
          </p15:clr>
        </p15:guide>
        <p15:guide id="23" orient="horz" pos="1930">
          <p15:clr>
            <a:srgbClr val="EA4335"/>
          </p15:clr>
        </p15:guide>
        <p15:guide id="24" orient="horz" pos="2079">
          <p15:clr>
            <a:srgbClr val="EA4335"/>
          </p15:clr>
        </p15:guide>
        <p15:guide id="25" orient="horz" pos="2229">
          <p15:clr>
            <a:srgbClr val="EA4335"/>
          </p15:clr>
        </p15:guide>
        <p15:guide id="26" orient="horz" pos="2379">
          <p15:clr>
            <a:srgbClr val="EA4335"/>
          </p15:clr>
        </p15:guide>
        <p15:guide id="27" orient="horz" pos="2529">
          <p15:clr>
            <a:srgbClr val="EA4335"/>
          </p15:clr>
        </p15:guide>
        <p15:guide id="28" orient="horz" pos="26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witter.com/kotl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kotlin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/>
        </p:nvSpPr>
        <p:spPr>
          <a:xfrm>
            <a:off x="882275" y="1003425"/>
            <a:ext cx="5266200" cy="3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48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面向对象编程</a:t>
            </a:r>
            <a:endParaRPr sz="48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28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简介与基本原理</a:t>
            </a:r>
            <a:endParaRPr sz="28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pic>
        <p:nvPicPr>
          <p:cNvPr id="38" name="Google Shape;3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75" y="332279"/>
            <a:ext cx="596400" cy="2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0"/>
          <p:cNvSpPr txBox="1"/>
          <p:nvPr/>
        </p:nvSpPr>
        <p:spPr>
          <a:xfrm>
            <a:off x="923472" y="257347"/>
            <a:ext cx="25638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Kotlin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0" name="Google Shape;40;p10">
            <a:hlinkClick r:id="rId4"/>
          </p:cNvPr>
          <p:cNvSpPr txBox="1"/>
          <p:nvPr/>
        </p:nvSpPr>
        <p:spPr>
          <a:xfrm>
            <a:off x="238875" y="4469150"/>
            <a:ext cx="216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B7B7B7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@kotlin</a:t>
            </a:r>
            <a:endParaRPr sz="1700" dirty="0">
              <a:solidFill>
                <a:srgbClr val="B7B7B7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41" name="Google Shape;41;p10"/>
          <p:cNvSpPr txBox="1"/>
          <p:nvPr/>
        </p:nvSpPr>
        <p:spPr>
          <a:xfrm>
            <a:off x="1079350" y="4469150"/>
            <a:ext cx="3967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B7B7B7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|  Developed by JetBrains </a:t>
            </a:r>
            <a:endParaRPr sz="1700" dirty="0">
              <a:solidFill>
                <a:srgbClr val="B7B7B7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92602" y="1335025"/>
            <a:ext cx="63825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面向对象编程（</a:t>
            </a:r>
            <a:r>
              <a:rPr lang="en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Object-oriented programming</a:t>
            </a:r>
            <a:r>
              <a:rPr lang="zh-CN" altLang="en-US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，</a:t>
            </a:r>
            <a:r>
              <a:rPr lang="en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OOP</a:t>
            </a:r>
            <a:r>
              <a:rPr lang="zh-CN" altLang="en-US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——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一种将程序表示为一组对象及其之间交互关系的编程范式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面向对象编程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类和对象</a:t>
            </a:r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292604" y="1335025"/>
            <a:ext cx="38367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b="1" dirty="0"/>
              <a:t>类 </a:t>
            </a:r>
            <a:r>
              <a:rPr lang="en" b="1" dirty="0"/>
              <a:t>Class</a:t>
            </a:r>
            <a:r>
              <a:rPr lang="en" dirty="0"/>
              <a:t> </a:t>
            </a:r>
            <a:r>
              <a:rPr lang="en-US" altLang="zh-CN" dirty="0"/>
              <a:t>——</a:t>
            </a:r>
            <a:r>
              <a:rPr lang="en" dirty="0"/>
              <a:t> </a:t>
            </a:r>
            <a:r>
              <a:rPr lang="zh-CN" altLang="en-US" dirty="0"/>
              <a:t>一组属性（字段、属性、数据）及其相关方法（函数、过程），它们共同表示某种抽象实体。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属性用于存储状态，而过程则用于表达行为。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类有时也被称为原型。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zh-CN" altLang="en-US" b="1" dirty="0"/>
              <a:t>对象 </a:t>
            </a:r>
            <a:r>
              <a:rPr lang="en" b="1" dirty="0"/>
              <a:t>Object</a:t>
            </a:r>
            <a:r>
              <a:rPr lang="en" dirty="0"/>
              <a:t> </a:t>
            </a:r>
            <a:r>
              <a:rPr lang="en-US" altLang="zh-CN" dirty="0"/>
              <a:t>——</a:t>
            </a:r>
            <a:r>
              <a:rPr lang="en" dirty="0"/>
              <a:t> </a:t>
            </a:r>
            <a:r>
              <a:rPr lang="zh-CN" altLang="en-US" dirty="0"/>
              <a:t>类的实例，具有其自身的特定状态。</a:t>
            </a:r>
            <a:endParaRPr dirty="0"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>
            <a:off x="4937129" y="1335025"/>
            <a:ext cx="38367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Person:</a:t>
            </a: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JetBrains Mono"/>
              <a:buChar char="●"/>
            </a:pPr>
            <a:r>
              <a:rPr lang="en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attribute name</a:t>
            </a: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JetBrains Mono"/>
              <a:buChar char="●"/>
            </a:pPr>
            <a:r>
              <a:rPr lang="en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Boolean attribute married</a:t>
            </a: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JetBrains Mono"/>
              <a:buChar char="●"/>
            </a:pPr>
            <a:r>
              <a:rPr lang="en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 greet</a:t>
            </a: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 x: </a:t>
            </a: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 = "Olek", </a:t>
            </a: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married = false</a:t>
            </a: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5959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959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x.greet()</a:t>
            </a:r>
            <a:endParaRPr b="1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对象（类</a:t>
            </a:r>
            <a:r>
              <a:rPr lang="en-US" altLang="zh-CN" dirty="0"/>
              <a:t>/</a:t>
            </a:r>
            <a:r>
              <a:rPr lang="zh-CN" altLang="en-US" dirty="0"/>
              <a:t>类型）不变式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不变式对对象的状态施加了约束，这些约束从对象创建之初就由其方法来维护。确保维持不变式</a:t>
            </a:r>
            <a:r>
              <a:rPr lang="zh-CN" altLang="en-US" u="sng" dirty="0"/>
              <a:t>是对象自身的责任</a:t>
            </a:r>
            <a:r>
              <a:rPr lang="zh-CN" altLang="en-US" dirty="0"/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b="1" dirty="0"/>
              <a:t>推论：</a:t>
            </a:r>
            <a:endParaRPr b="1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公共 </a:t>
            </a:r>
            <a:r>
              <a:rPr lang="en-US" altLang="zh-CN" dirty="0">
                <a:latin typeface="JetBrains Mono" panose="020B0604020202020204" charset="0"/>
                <a:cs typeface="JetBrains Mono" panose="020B0604020202020204" charset="0"/>
              </a:rPr>
              <a:t>public</a:t>
            </a:r>
            <a:r>
              <a:rPr lang="en-US" altLang="zh-CN" dirty="0"/>
              <a:t> </a:t>
            </a:r>
            <a:r>
              <a:rPr lang="zh-CN" altLang="en-US" dirty="0"/>
              <a:t>字段是不佳的。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如果某个字段不参与对象的不变式约束，那么它究竟为何属于该对象就变得难以理解，这通常是设计选择不当的证据。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抽象</a:t>
            </a:r>
            <a:endParaRPr dirty="0"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77361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对象是具有内部表示的数据抽象，并包含用于与这些内部表示进行交互的方法。由于无需暴露内部实现细节，因此这些细节可以保留在“内部”并被隐藏起来。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封装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封装 </a:t>
            </a:r>
            <a:r>
              <a:rPr lang="en-US" altLang="zh-CN" dirty="0"/>
              <a:t>—— </a:t>
            </a:r>
            <a:r>
              <a:rPr lang="zh-CN" altLang="en-US" dirty="0"/>
              <a:t>一种将数据与其相关的方法打包在一起的机制，同时还能向用户隐藏实现细节。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对象是一个黑盒子。它接收消息，并以某种方式进行响应。</a:t>
            </a:r>
            <a:endParaRPr lang="en-US" altLang="zh-CN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封装与类的接口密不可分：凡是不属于接口的内容，均被封装起来。</a:t>
            </a:r>
            <a:endParaRPr lang="en-US" altLang="zh-CN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面向对象编程中的封装与抽象数据类型中的封装有所不同。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抽象 </a:t>
            </a:r>
            <a:r>
              <a:rPr lang="en-US" altLang="zh-CN" dirty="0"/>
              <a:t>vs </a:t>
            </a:r>
            <a:r>
              <a:rPr lang="zh-CN" altLang="en-US" dirty="0"/>
              <a:t>封装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抽象关注的是他人如何看待对象以及如何与之交互。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封装关注的是对象的内部运作方式以及它如何响应消息。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封装</a:t>
            </a:r>
            <a:endParaRPr dirty="0"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大多数编程语言都提供了专门的关键词，用于修改属性和方法的访问权限或可见性。</a:t>
            </a: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在</a:t>
            </a:r>
            <a:r>
              <a:rPr lang="en" dirty="0"/>
              <a:t> Kotlin </a:t>
            </a:r>
            <a:r>
              <a:rPr lang="zh-CN" altLang="en-US" dirty="0"/>
              <a:t>中：</a:t>
            </a:r>
            <a:endParaRPr dirty="0"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b="1" dirty="0">
                <a:latin typeface="JetBrains Mono"/>
                <a:ea typeface="JetBrains Mono"/>
                <a:cs typeface="JetBrains Mono"/>
                <a:sym typeface="JetBrains Mono"/>
              </a:rPr>
              <a:t>publiс</a:t>
            </a:r>
            <a:r>
              <a:rPr lang="en" dirty="0"/>
              <a:t> – </a:t>
            </a:r>
            <a:r>
              <a:rPr lang="zh-CN" altLang="en-US" dirty="0"/>
              <a:t>任何人都可访问</a:t>
            </a:r>
            <a:endParaRPr dirty="0"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b="1" dirty="0">
                <a:latin typeface="JetBrains Mono"/>
                <a:ea typeface="JetBrains Mono"/>
                <a:cs typeface="JetBrains Mono"/>
                <a:sym typeface="JetBrains Mono"/>
              </a:rPr>
              <a:t>private</a:t>
            </a:r>
            <a:r>
              <a:rPr lang="en" dirty="0"/>
              <a:t> – </a:t>
            </a:r>
            <a:r>
              <a:rPr lang="zh-CN" altLang="en-US" dirty="0"/>
              <a:t>仅限</a:t>
            </a:r>
            <a:r>
              <a:rPr lang="zh-CN" altLang="en-US" u="sng" dirty="0"/>
              <a:t>类</a:t>
            </a:r>
            <a:r>
              <a:rPr lang="zh-CN" altLang="en-US" dirty="0"/>
              <a:t>内部访问</a:t>
            </a:r>
            <a:endParaRPr dirty="0"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b="1" dirty="0">
                <a:latin typeface="JetBrains Mono"/>
                <a:ea typeface="JetBrains Mono"/>
                <a:cs typeface="JetBrains Mono"/>
                <a:sym typeface="JetBrains Mono"/>
              </a:rPr>
              <a:t>protected </a:t>
            </a:r>
            <a:r>
              <a:rPr lang="en" dirty="0"/>
              <a:t>– </a:t>
            </a:r>
            <a:r>
              <a:rPr lang="zh-CN" altLang="en-US" u="sng" dirty="0"/>
              <a:t>类</a:t>
            </a:r>
            <a:r>
              <a:rPr lang="zh-CN" altLang="en-US" dirty="0"/>
              <a:t>及其</a:t>
            </a:r>
            <a:r>
              <a:rPr lang="zh-CN" altLang="en-US" u="sng" dirty="0"/>
              <a:t>子类</a:t>
            </a:r>
            <a:r>
              <a:rPr lang="zh-CN" altLang="en-US" dirty="0"/>
              <a:t>均可访问</a:t>
            </a:r>
            <a:endParaRPr dirty="0"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b="1" dirty="0">
                <a:latin typeface="JetBrains Mono"/>
                <a:ea typeface="JetBrains Mono"/>
                <a:cs typeface="JetBrains Mono"/>
                <a:sym typeface="JetBrains Mono"/>
              </a:rPr>
              <a:t>internal</a:t>
            </a:r>
            <a:r>
              <a:rPr lang="en" dirty="0"/>
              <a:t> – </a:t>
            </a:r>
            <a:r>
              <a:rPr lang="zh-CN" altLang="en-US" dirty="0"/>
              <a:t>仅限</a:t>
            </a:r>
            <a:r>
              <a:rPr lang="zh-CN" altLang="en-US" u="sng" dirty="0"/>
              <a:t>模块</a:t>
            </a:r>
            <a:r>
              <a:rPr lang="zh-CN" altLang="en-US" dirty="0"/>
              <a:t>内部访问</a:t>
            </a: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继承</a:t>
            </a:r>
            <a:endParaRPr dirty="0"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b="1" dirty="0"/>
              <a:t>继承</a:t>
            </a:r>
            <a:r>
              <a:rPr lang="en" dirty="0"/>
              <a:t> </a:t>
            </a:r>
            <a:r>
              <a:rPr lang="en-US" altLang="zh-CN" dirty="0"/>
              <a:t>——</a:t>
            </a:r>
            <a:r>
              <a:rPr lang="en" dirty="0"/>
              <a:t> </a:t>
            </a:r>
            <a:r>
              <a:rPr lang="zh-CN" altLang="en-US" dirty="0"/>
              <a:t>基于已有的类定义新类，同时保留基类全部或部分功能（状态</a:t>
            </a:r>
            <a:r>
              <a:rPr lang="en-US" altLang="zh-CN" dirty="0"/>
              <a:t>/</a:t>
            </a:r>
            <a:r>
              <a:rPr lang="zh-CN" altLang="en-US" dirty="0"/>
              <a:t>行为）的能力。</a:t>
            </a: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457200" marR="3067685" lvl="0" indent="-317500" algn="l" rtl="0">
              <a:lnSpc>
                <a:spcPct val="111666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被继承的类称为基类或父类</a:t>
            </a:r>
            <a:endParaRPr lang="en-US" altLang="zh-CN" dirty="0"/>
          </a:p>
          <a:p>
            <a:pPr marL="457200" marR="3067685" lvl="0" indent="-317500" algn="l" rtl="0">
              <a:lnSpc>
                <a:spcPct val="111666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新类称为派生类、子类或继承类</a:t>
            </a:r>
            <a:endParaRPr lang="en-US" altLang="zh-CN" dirty="0"/>
          </a:p>
          <a:p>
            <a:pPr marL="457200" marR="3067685" lvl="0" indent="-317500" algn="l" rtl="0">
              <a:lnSpc>
                <a:spcPct val="111666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派生类完全满足基类的规范，但可能具有一些扩展功能（状态</a:t>
            </a:r>
            <a:r>
              <a:rPr lang="en-US" altLang="zh-CN" dirty="0"/>
              <a:t>/</a:t>
            </a:r>
            <a:r>
              <a:rPr lang="zh-CN" altLang="en-US" dirty="0"/>
              <a:t>行为）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继承</a:t>
            </a:r>
            <a:endParaRPr dirty="0"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“总概念</a:t>
            </a:r>
            <a:r>
              <a:rPr lang="en-US" altLang="zh-CN" dirty="0"/>
              <a:t>——</a:t>
            </a:r>
            <a:r>
              <a:rPr lang="zh-CN" altLang="en-US" dirty="0"/>
              <a:t>具体概念”。</a:t>
            </a:r>
            <a:endParaRPr dirty="0"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“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</a:rPr>
              <a:t>……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是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</a:rPr>
              <a:t>……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的”关系。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设计意图</a:t>
            </a:r>
            <a:endParaRPr dirty="0"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将共用的代码独立出来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</a:rPr>
              <a:t>——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放在基类中</a:t>
            </a:r>
            <a:r>
              <a:rPr lang="en-US" altLang="zh-CN" dirty="0">
                <a:latin typeface="HONOR Sans CN" panose="02000500000000000000" pitchFamily="2" charset="-122"/>
                <a:ea typeface="HONOR Sans CN" panose="02000500000000000000" pitchFamily="2" charset="-122"/>
              </a:rPr>
              <a:t>——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以便复用。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类型层次结构、子类型。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增量设计。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zh-CN" altLang="en-US" dirty="0"/>
              <a:t>继承往往是多余的，可以用组合来替代。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子类型</a:t>
            </a:r>
            <a:endParaRPr dirty="0"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一个对象可以同时属于多种类型（类）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埃莉诺（</a:t>
            </a:r>
            <a:r>
              <a:rPr lang="en-US" altLang="zh-CN" dirty="0"/>
              <a:t>Eleanor</a:t>
            </a:r>
            <a:r>
              <a:rPr lang="zh-CN" altLang="en-US" dirty="0"/>
              <a:t>） </a:t>
            </a:r>
            <a:r>
              <a:rPr lang="en-US" altLang="zh-CN" dirty="0"/>
              <a:t>—— </a:t>
            </a:r>
            <a:r>
              <a:rPr lang="zh-CN" altLang="en-US" dirty="0"/>
              <a:t>一名学生、一名女性、一名啤酒爱好者，以及现任 </a:t>
            </a:r>
            <a:r>
              <a:rPr lang="en-US" altLang="zh-CN" dirty="0"/>
              <a:t>UFC </a:t>
            </a:r>
            <a:r>
              <a:rPr lang="zh-CN" altLang="en-US" dirty="0"/>
              <a:t>冠军。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内特（</a:t>
            </a:r>
            <a:r>
              <a:rPr lang="en-US" altLang="zh-CN" dirty="0"/>
              <a:t>Nate</a:t>
            </a:r>
            <a:r>
              <a:rPr lang="zh-CN" altLang="en-US" dirty="0"/>
              <a:t>） </a:t>
            </a:r>
            <a:r>
              <a:rPr lang="en-US" altLang="zh-CN" dirty="0"/>
              <a:t>—— </a:t>
            </a:r>
            <a:r>
              <a:rPr lang="zh-CN" altLang="en-US" dirty="0"/>
              <a:t>一名开发者、一名男性、一名动漫爱好者，以及一名业余游泳者。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每种类型（类）都定义了一个接口及其预期行为。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因此，在我们的例子中，虽然埃莉诺是一名学生，她会表现出一系列预期行为（例如交作业、备考等）。当埃莉诺获得学位后，她将不再是学生，可能不再表现出相关的行为，但她的整体身份不会改变，与她的其他属性相关的行为也不会受到影响。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子类型</a:t>
            </a:r>
            <a:endParaRPr dirty="0"/>
          </a:p>
        </p:txBody>
      </p:sp>
      <p:sp>
        <p:nvSpPr>
          <p:cNvPr id="108" name="Google Shape;108;p21"/>
          <p:cNvSpPr/>
          <p:nvPr/>
        </p:nvSpPr>
        <p:spPr>
          <a:xfrm>
            <a:off x="3804150" y="1162050"/>
            <a:ext cx="908925" cy="994475"/>
          </a:xfrm>
          <a:custGeom>
            <a:avLst/>
            <a:gdLst/>
            <a:ahLst/>
            <a:cxnLst/>
            <a:rect l="l" t="t" r="r" b="b"/>
            <a:pathLst>
              <a:path w="36357" h="39779" extrusionOk="0">
                <a:moveTo>
                  <a:pt x="19248" y="0"/>
                </a:moveTo>
                <a:lnTo>
                  <a:pt x="0" y="19248"/>
                </a:lnTo>
                <a:lnTo>
                  <a:pt x="17965" y="39779"/>
                </a:lnTo>
                <a:lnTo>
                  <a:pt x="36357" y="30797"/>
                </a:lnTo>
                <a:lnTo>
                  <a:pt x="35074" y="5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2360550" y="2274150"/>
            <a:ext cx="866150" cy="513275"/>
          </a:xfrm>
          <a:custGeom>
            <a:avLst/>
            <a:gdLst/>
            <a:ahLst/>
            <a:cxnLst/>
            <a:rect l="l" t="t" r="r" b="b"/>
            <a:pathLst>
              <a:path w="34646" h="20531" extrusionOk="0">
                <a:moveTo>
                  <a:pt x="29941" y="0"/>
                </a:moveTo>
                <a:lnTo>
                  <a:pt x="11121" y="2994"/>
                </a:lnTo>
                <a:lnTo>
                  <a:pt x="0" y="20531"/>
                </a:lnTo>
                <a:lnTo>
                  <a:pt x="34646" y="175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6017675" y="2060275"/>
            <a:ext cx="662975" cy="737850"/>
          </a:xfrm>
          <a:custGeom>
            <a:avLst/>
            <a:gdLst/>
            <a:ahLst/>
            <a:cxnLst/>
            <a:rect l="l" t="t" r="r" b="b"/>
            <a:pathLst>
              <a:path w="26519" h="29514" extrusionOk="0">
                <a:moveTo>
                  <a:pt x="16254" y="0"/>
                </a:moveTo>
                <a:lnTo>
                  <a:pt x="0" y="29514"/>
                </a:lnTo>
                <a:lnTo>
                  <a:pt x="26519" y="23954"/>
                </a:lnTo>
                <a:close/>
              </a:path>
            </a:pathLst>
          </a:custGeom>
          <a:solidFill>
            <a:srgbClr val="C53929"/>
          </a:solidFill>
          <a:ln>
            <a:noFill/>
          </a:ln>
        </p:spPr>
      </p:sp>
      <p:sp>
        <p:nvSpPr>
          <p:cNvPr id="111" name="Google Shape;111;p21"/>
          <p:cNvSpPr/>
          <p:nvPr/>
        </p:nvSpPr>
        <p:spPr>
          <a:xfrm>
            <a:off x="7204625" y="3674975"/>
            <a:ext cx="566750" cy="577450"/>
          </a:xfrm>
          <a:custGeom>
            <a:avLst/>
            <a:gdLst/>
            <a:ahLst/>
            <a:cxnLst/>
            <a:rect l="l" t="t" r="r" b="b"/>
            <a:pathLst>
              <a:path w="22670" h="23098" extrusionOk="0">
                <a:moveTo>
                  <a:pt x="0" y="0"/>
                </a:moveTo>
                <a:lnTo>
                  <a:pt x="0" y="23098"/>
                </a:lnTo>
                <a:lnTo>
                  <a:pt x="22670" y="23098"/>
                </a:lnTo>
                <a:close/>
              </a:path>
            </a:pathLst>
          </a:custGeom>
          <a:solidFill>
            <a:srgbClr val="F1C232"/>
          </a:solidFill>
          <a:ln>
            <a:noFill/>
          </a:ln>
        </p:spPr>
      </p:sp>
      <p:sp>
        <p:nvSpPr>
          <p:cNvPr id="112" name="Google Shape;112;p21"/>
          <p:cNvSpPr/>
          <p:nvPr/>
        </p:nvSpPr>
        <p:spPr>
          <a:xfrm>
            <a:off x="5687625" y="3535975"/>
            <a:ext cx="682925" cy="608675"/>
          </a:xfrm>
          <a:custGeom>
            <a:avLst/>
            <a:gdLst/>
            <a:ahLst/>
            <a:cxnLst/>
            <a:rect l="l" t="t" r="r" b="b"/>
            <a:pathLst>
              <a:path w="27317" h="24347" extrusionOk="0">
                <a:moveTo>
                  <a:pt x="14057" y="0"/>
                </a:moveTo>
                <a:lnTo>
                  <a:pt x="0" y="24347"/>
                </a:lnTo>
                <a:lnTo>
                  <a:pt x="27317" y="2434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</p:sp>
      <p:sp>
        <p:nvSpPr>
          <p:cNvPr id="113" name="Google Shape;113;p21"/>
          <p:cNvSpPr/>
          <p:nvPr/>
        </p:nvSpPr>
        <p:spPr>
          <a:xfrm>
            <a:off x="2635461" y="3643750"/>
            <a:ext cx="1003189" cy="608675"/>
          </a:xfrm>
          <a:prstGeom prst="flowChartDecision">
            <a:avLst/>
          </a:prstGeom>
          <a:solidFill>
            <a:srgbClr val="000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756550" y="3717750"/>
            <a:ext cx="759300" cy="51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1836575" y="3717750"/>
            <a:ext cx="513300" cy="513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3911075" y="3653600"/>
            <a:ext cx="909000" cy="513300"/>
          </a:xfrm>
          <a:prstGeom prst="parallelogram">
            <a:avLst>
              <a:gd name="adj" fmla="val 25000"/>
            </a:avLst>
          </a:prstGeom>
          <a:solidFill>
            <a:srgbClr val="388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 rot="10800000" flipH="1">
            <a:off x="3178600" y="1739400"/>
            <a:ext cx="641700" cy="609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21"/>
          <p:cNvCxnSpPr/>
          <p:nvPr/>
        </p:nvCxnSpPr>
        <p:spPr>
          <a:xfrm rot="10800000" flipH="1">
            <a:off x="1178973" y="2957337"/>
            <a:ext cx="973200" cy="705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9" name="Google Shape;119;p21"/>
          <p:cNvSpPr txBox="1"/>
          <p:nvPr/>
        </p:nvSpPr>
        <p:spPr>
          <a:xfrm>
            <a:off x="3772013" y="2156525"/>
            <a:ext cx="973200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多边形 </a:t>
            </a:r>
            <a:r>
              <a:rPr lang="en-US" altLang="zh-CN" sz="1100" dirty="0">
                <a:latin typeface="JetBrains Mono"/>
                <a:ea typeface="JetBrains Mono"/>
                <a:cs typeface="JetBrains Mono"/>
                <a:sym typeface="JetBrains Mono"/>
              </a:rPr>
              <a:t>Polygon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2186750" y="2780175"/>
            <a:ext cx="12138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四边形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649588" y="4222450"/>
            <a:ext cx="9732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矩形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606613" y="4252425"/>
            <a:ext cx="9732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正方形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650438" y="4252425"/>
            <a:ext cx="9732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菱形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3674700" y="4252425"/>
            <a:ext cx="13818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平行四边形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5220950" y="4252425"/>
            <a:ext cx="16149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等腰三角形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6797075" y="4252425"/>
            <a:ext cx="13818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直角三角形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5862550" y="2780175"/>
            <a:ext cx="9732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dirty="0">
                <a:latin typeface="JetBrains Mono"/>
                <a:ea typeface="JetBrains Mono"/>
                <a:cs typeface="JetBrains Mono"/>
                <a:sym typeface="JetBrains Mono"/>
              </a:rPr>
              <a:t>三角形</a:t>
            </a:r>
            <a:endParaRPr sz="11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 rot="10800000" flipH="1">
            <a:off x="2126650" y="3120375"/>
            <a:ext cx="429000" cy="56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129;p21"/>
          <p:cNvCxnSpPr/>
          <p:nvPr/>
        </p:nvCxnSpPr>
        <p:spPr>
          <a:xfrm rot="10800000">
            <a:off x="3047625" y="3130963"/>
            <a:ext cx="90900" cy="477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" name="Google Shape;130;p21"/>
          <p:cNvCxnSpPr/>
          <p:nvPr/>
        </p:nvCxnSpPr>
        <p:spPr>
          <a:xfrm rot="10800000">
            <a:off x="3283000" y="3098863"/>
            <a:ext cx="1082400" cy="521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1"/>
          <p:cNvCxnSpPr/>
          <p:nvPr/>
        </p:nvCxnSpPr>
        <p:spPr>
          <a:xfrm rot="10800000">
            <a:off x="6635100" y="3120363"/>
            <a:ext cx="501000" cy="56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32;p21"/>
          <p:cNvCxnSpPr/>
          <p:nvPr/>
        </p:nvCxnSpPr>
        <p:spPr>
          <a:xfrm rot="10800000" flipH="1">
            <a:off x="6132650" y="3089000"/>
            <a:ext cx="180600" cy="45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33;p21"/>
          <p:cNvCxnSpPr/>
          <p:nvPr/>
        </p:nvCxnSpPr>
        <p:spPr>
          <a:xfrm rot="10800000">
            <a:off x="4801475" y="1796988"/>
            <a:ext cx="1381800" cy="507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多态</a:t>
            </a:r>
            <a:endParaRPr dirty="0"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b="1" dirty="0"/>
              <a:t>多态</a:t>
            </a:r>
            <a:r>
              <a:rPr lang="en" dirty="0"/>
              <a:t> </a:t>
            </a:r>
            <a:r>
              <a:rPr lang="en-US" altLang="zh-CN" dirty="0"/>
              <a:t>——</a:t>
            </a:r>
            <a:r>
              <a:rPr lang="en" dirty="0"/>
              <a:t> </a:t>
            </a:r>
            <a:r>
              <a:rPr lang="zh-CN" altLang="en-US" dirty="0"/>
              <a:t>面向对象编程的核心概念，指通过对象的接口与其交互，而无需了解其具体类型和内部结构。 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继承类可以重写并更改基类的行为。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altLang="en-US" dirty="0"/>
              <a:t>对象可以通过其父类的接口被使用。</a:t>
            </a:r>
            <a:endParaRPr dirty="0"/>
          </a:p>
          <a:p>
            <a:pPr marL="914400" marR="33020" lvl="1" indent="-317500" algn="l" rtl="0">
              <a:lnSpc>
                <a:spcPct val="111666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</a:rPr>
              <a:t>客户端代码既不知道（也不关心）自己正在与基类还是某个子类交互，也不了解“内部”究竟发生了什么。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里氏替换原则 </a:t>
            </a:r>
            <a:r>
              <a:rPr lang="en-US" altLang="zh-CN" dirty="0"/>
              <a:t>(</a:t>
            </a:r>
            <a:r>
              <a:rPr lang="en-US" altLang="zh-CN" dirty="0" err="1"/>
              <a:t>Liskov</a:t>
            </a:r>
            <a:r>
              <a:rPr lang="en-US" altLang="zh-CN" dirty="0"/>
              <a:t> substitution principle</a:t>
            </a:r>
            <a:r>
              <a:rPr lang="zh-CN" altLang="en-US" dirty="0"/>
              <a:t>，</a:t>
            </a:r>
            <a:r>
              <a:rPr lang="en-US" dirty="0"/>
              <a:t>LSP) —— </a:t>
            </a:r>
            <a:r>
              <a:rPr lang="zh-CN" altLang="en-US" dirty="0"/>
              <a:t>若对于类型 </a:t>
            </a:r>
            <a:r>
              <a:rPr lang="en-US" dirty="0"/>
              <a:t>S </a:t>
            </a:r>
            <a:r>
              <a:rPr lang="zh-CN" altLang="en-US" dirty="0"/>
              <a:t>的每个对象 </a:t>
            </a:r>
            <a:r>
              <a:rPr lang="en-US" dirty="0"/>
              <a:t>o1，</a:t>
            </a:r>
            <a:r>
              <a:rPr lang="zh-CN" altLang="en-US" dirty="0"/>
              <a:t>都存在一个类型 </a:t>
            </a:r>
            <a:r>
              <a:rPr lang="en-US" dirty="0"/>
              <a:t>T </a:t>
            </a:r>
            <a:r>
              <a:rPr lang="zh-CN" altLang="en-US" dirty="0"/>
              <a:t>的对象 </a:t>
            </a:r>
            <a:r>
              <a:rPr lang="en-US" dirty="0"/>
              <a:t>o2，</a:t>
            </a:r>
            <a:r>
              <a:rPr lang="zh-CN" altLang="en-US" dirty="0"/>
              <a:t>使得对于所有基于 </a:t>
            </a:r>
            <a:r>
              <a:rPr lang="en-US" dirty="0"/>
              <a:t>T </a:t>
            </a:r>
            <a:r>
              <a:rPr lang="zh-CN" altLang="en-US" dirty="0"/>
              <a:t>定义的程序 </a:t>
            </a:r>
            <a:r>
              <a:rPr lang="en-US" dirty="0"/>
              <a:t>P，</a:t>
            </a:r>
            <a:r>
              <a:rPr lang="zh-CN" altLang="en-US" dirty="0"/>
              <a:t>当用 </a:t>
            </a:r>
            <a:r>
              <a:rPr lang="en-US" dirty="0"/>
              <a:t>o1 </a:t>
            </a:r>
            <a:r>
              <a:rPr lang="zh-CN" altLang="en-US" dirty="0"/>
              <a:t>替换 </a:t>
            </a:r>
            <a:r>
              <a:rPr lang="en-US" dirty="0"/>
              <a:t>o2 </a:t>
            </a:r>
            <a:r>
              <a:rPr lang="zh-CN" altLang="en-US" dirty="0"/>
              <a:t>时，</a:t>
            </a:r>
            <a:r>
              <a:rPr lang="en-US" dirty="0"/>
              <a:t>P </a:t>
            </a:r>
            <a:r>
              <a:rPr lang="zh-CN" altLang="en-US" dirty="0"/>
              <a:t>的行为保持不变，则 </a:t>
            </a:r>
            <a:r>
              <a:rPr lang="en-US" dirty="0"/>
              <a:t>S </a:t>
            </a:r>
            <a:r>
              <a:rPr lang="zh-CN" altLang="en-US" dirty="0"/>
              <a:t>是 </a:t>
            </a:r>
            <a:r>
              <a:rPr lang="en-US" dirty="0"/>
              <a:t>T </a:t>
            </a:r>
            <a:r>
              <a:rPr lang="zh-CN" altLang="en-US" dirty="0"/>
              <a:t>的子类型。</a:t>
            </a:r>
            <a:endParaRPr sz="6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Kotlin </a:t>
            </a:r>
            <a:r>
              <a:rPr lang="zh-CN" altLang="en-US" dirty="0"/>
              <a:t>中的面向对象编程</a:t>
            </a:r>
            <a:endParaRPr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UselessClass</a:t>
            </a:r>
            <a:endParaRPr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main() {</a:t>
            </a:r>
            <a:endParaRPr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uselessObject = UselessClass() </a:t>
            </a:r>
            <a:r>
              <a:rPr lang="en" dirty="0">
                <a:solidFill>
                  <a:srgbClr val="8989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zh-CN" altLang="en-US" dirty="0">
                <a:solidFill>
                  <a:srgbClr val="8989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这里的 </a:t>
            </a:r>
            <a:r>
              <a:rPr lang="en-US" altLang="zh-CN" dirty="0">
                <a:solidFill>
                  <a:srgbClr val="8989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</a:t>
            </a:r>
            <a:r>
              <a:rPr lang="zh-CN" altLang="en-US" dirty="0">
                <a:solidFill>
                  <a:srgbClr val="89898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表示构造函数调用</a:t>
            </a:r>
            <a:endParaRPr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body" idx="1"/>
          </p:nvPr>
        </p:nvSpPr>
        <p:spPr>
          <a:xfrm>
            <a:off x="292600" y="1944200"/>
            <a:ext cx="8328900" cy="16107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Person(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name: String,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surname: String, </a:t>
            </a:r>
            <a:r>
              <a:rPr lang="en" sz="1100" dirty="0">
                <a:solidFill>
                  <a:srgbClr val="3F51B5"/>
                </a:solidFill>
              </a:rPr>
              <a:t>private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var</a:t>
            </a:r>
            <a:r>
              <a:rPr lang="en" sz="1100" dirty="0">
                <a:solidFill>
                  <a:srgbClr val="37474F"/>
                </a:solidFill>
              </a:rPr>
              <a:t> age: Int)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init</a:t>
            </a:r>
            <a:r>
              <a:rPr lang="en" sz="1100" dirty="0">
                <a:solidFill>
                  <a:srgbClr val="37474F"/>
                </a:solidFill>
              </a:rPr>
              <a:t>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 findJob()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constructor</a:t>
            </a:r>
            <a:r>
              <a:rPr lang="en" sz="1100" dirty="0">
                <a:solidFill>
                  <a:srgbClr val="37474F"/>
                </a:solidFill>
              </a:rPr>
              <a:t>(name: String, parent: Person) : </a:t>
            </a:r>
            <a:r>
              <a:rPr lang="en" sz="1100" dirty="0">
                <a:solidFill>
                  <a:srgbClr val="3F51B5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(name, parent.surname, </a:t>
            </a:r>
            <a:r>
              <a:rPr lang="en" sz="1100" dirty="0">
                <a:solidFill>
                  <a:srgbClr val="C53929"/>
                </a:solidFill>
              </a:rPr>
              <a:t>0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构造函数</a:t>
            </a:r>
            <a:endParaRPr dirty="0"/>
          </a:p>
        </p:txBody>
      </p:sp>
      <p:sp>
        <p:nvSpPr>
          <p:cNvPr id="152" name="Google Shape;152;p24"/>
          <p:cNvSpPr txBox="1">
            <a:spLocks noGrp="1"/>
          </p:cNvSpPr>
          <p:nvPr>
            <p:ph type="body" idx="1"/>
          </p:nvPr>
        </p:nvSpPr>
        <p:spPr>
          <a:xfrm>
            <a:off x="292600" y="4479925"/>
            <a:ext cx="8328900" cy="653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初始化顺序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：主要构造函数 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-&gt; </a:t>
            </a:r>
            <a:r>
              <a:rPr lang="en" sz="1100" dirty="0"/>
              <a:t>init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代码块 </a:t>
            </a:r>
            <a:r>
              <a:rPr lang="en" sz="1100" dirty="0"/>
              <a:t>-&gt;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次要构造函数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3155575" y="1330425"/>
            <a:ext cx="4325100" cy="32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b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主要</a:t>
            </a:r>
            <a:r>
              <a:rPr lang="zh-CN" altLang="en-US" sz="80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构造函数，默认使用。如果构造函数为空，可以省略括号</a:t>
            </a:r>
            <a:endParaRPr sz="800" b="1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1631575" y="3776675"/>
            <a:ext cx="1544100" cy="32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b="1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次要</a:t>
            </a:r>
            <a:r>
              <a:rPr lang="zh-CN" altLang="en-US" sz="800" dirty="0">
                <a:solidFill>
                  <a:schemeClr val="dk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构造函数</a:t>
            </a:r>
            <a:endParaRPr sz="800" dirty="0">
              <a:solidFill>
                <a:schemeClr val="dk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cxnSp>
        <p:nvCxnSpPr>
          <p:cNvPr id="155" name="Google Shape;155;p24"/>
          <p:cNvCxnSpPr/>
          <p:nvPr/>
        </p:nvCxnSpPr>
        <p:spPr>
          <a:xfrm>
            <a:off x="4197378" y="1626581"/>
            <a:ext cx="0" cy="34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p24"/>
          <p:cNvCxnSpPr>
            <a:stCxn id="154" idx="0"/>
          </p:cNvCxnSpPr>
          <p:nvPr/>
        </p:nvCxnSpPr>
        <p:spPr>
          <a:xfrm flipV="1">
            <a:off x="2403625" y="3413975"/>
            <a:ext cx="0" cy="36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open class</a:t>
            </a:r>
            <a:r>
              <a:rPr lang="en" sz="1100" dirty="0">
                <a:solidFill>
                  <a:srgbClr val="37474F"/>
                </a:solidFill>
              </a:rPr>
              <a:t> Point(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x: Int,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y: Int)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constructor</a:t>
            </a:r>
            <a:r>
              <a:rPr lang="en" sz="1100" dirty="0">
                <a:solidFill>
                  <a:srgbClr val="37474F"/>
                </a:solidFill>
              </a:rPr>
              <a:t>(other: Point) : </a:t>
            </a:r>
            <a:r>
              <a:rPr lang="en" sz="1100" dirty="0">
                <a:solidFill>
                  <a:srgbClr val="3F51B5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(other.x, other.y) { ...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constructor</a:t>
            </a:r>
            <a:r>
              <a:rPr lang="en" sz="1100" dirty="0">
                <a:solidFill>
                  <a:srgbClr val="37474F"/>
                </a:solidFill>
              </a:rPr>
              <a:t>(circle: Circle) : </a:t>
            </a:r>
            <a:r>
              <a:rPr lang="en" sz="1100" dirty="0">
                <a:solidFill>
                  <a:srgbClr val="3F51B5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(circle.centre) { ...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构造函数可以进行链式调用，但最终必须调用主构造函数。</a:t>
            </a: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次要构造函数的本体将在使用主要构造函数创建对象后执行。如果它调用了其他构造函数，则将在其他构造函数的本体执行完毕后执行。</a:t>
            </a: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继承类必须调用父类的构造函数：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lang="en" sz="1150" dirty="0">
                <a:solidFill>
                  <a:srgbClr val="3F51B5"/>
                </a:solidFill>
              </a:rPr>
              <a:t>class</a:t>
            </a:r>
            <a:r>
              <a:rPr lang="en" sz="1150" dirty="0">
                <a:solidFill>
                  <a:srgbClr val="37474F"/>
                </a:solidFill>
              </a:rPr>
              <a:t> ColoredPoint(</a:t>
            </a:r>
            <a:r>
              <a:rPr lang="en" sz="1150" dirty="0">
                <a:solidFill>
                  <a:srgbClr val="3F51B5"/>
                </a:solidFill>
              </a:rPr>
              <a:t>val</a:t>
            </a:r>
            <a:r>
              <a:rPr lang="en" sz="1150" dirty="0">
                <a:solidFill>
                  <a:srgbClr val="37474F"/>
                </a:solidFill>
              </a:rPr>
              <a:t> color: Color, x: Int, y: Int) : Point(x, y) { ... }</a:t>
            </a:r>
            <a:endParaRPr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构造函数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42372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Example(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value: Int, info: String)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anotherValue: Int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var</a:t>
            </a:r>
            <a:r>
              <a:rPr lang="en" sz="1100" dirty="0">
                <a:solidFill>
                  <a:srgbClr val="37474F"/>
                </a:solidFill>
              </a:rPr>
              <a:t> info = </a:t>
            </a:r>
            <a:r>
              <a:rPr lang="en" sz="1100" dirty="0">
                <a:solidFill>
                  <a:srgbClr val="008000"/>
                </a:solidFill>
              </a:rPr>
              <a:t>"Description: $info"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init</a:t>
            </a:r>
            <a:r>
              <a:rPr lang="en" sz="1100" dirty="0">
                <a:solidFill>
                  <a:srgbClr val="37474F"/>
                </a:solidFill>
              </a:rPr>
              <a:t>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</a:t>
            </a:r>
            <a:r>
              <a:rPr lang="en" sz="1100" dirty="0">
                <a:solidFill>
                  <a:srgbClr val="3F51B5"/>
                </a:solidFill>
              </a:rPr>
              <a:t>this</a:t>
            </a:r>
            <a:r>
              <a:rPr lang="en" sz="1100" dirty="0">
                <a:solidFill>
                  <a:srgbClr val="37474F"/>
                </a:solidFill>
              </a:rPr>
              <a:t>.info += </a:t>
            </a:r>
            <a:r>
              <a:rPr lang="en" sz="1100" dirty="0">
                <a:solidFill>
                  <a:srgbClr val="008000"/>
                </a:solidFill>
              </a:rPr>
              <a:t>", with value $value"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thirdValue = computeAnotherValue() * 2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private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computeAnotherValue() = value * 10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init</a:t>
            </a:r>
            <a:r>
              <a:rPr lang="en" sz="1100" dirty="0">
                <a:solidFill>
                  <a:srgbClr val="37474F"/>
                </a:solidFill>
              </a:rPr>
              <a:t>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anotherValue = computeAnotherValue()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JetBrains Mono" panose="020B0604020202020204" charset="0"/>
                <a:cs typeface="JetBrains Mono" panose="020B0604020202020204" charset="0"/>
              </a:rPr>
              <a:t>init</a:t>
            </a:r>
            <a:r>
              <a:rPr lang="en" dirty="0"/>
              <a:t> </a:t>
            </a:r>
            <a:r>
              <a:rPr lang="zh-CN" altLang="en-US" dirty="0"/>
              <a:t>初始化代码块</a:t>
            </a:r>
            <a:endParaRPr dirty="0"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4953000" y="1335025"/>
            <a:ext cx="39591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可以有多个 </a:t>
            </a:r>
            <a:r>
              <a:rPr lang="en" sz="1100" dirty="0"/>
              <a:t>init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可以在位于这些 </a:t>
            </a:r>
            <a:r>
              <a:rPr lang="en" sz="1100" dirty="0"/>
              <a:t>init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块后面的 </a:t>
            </a:r>
            <a:r>
              <a:rPr lang="en" altLang="zh-CN" sz="1100" dirty="0"/>
              <a:t>init</a:t>
            </a:r>
            <a:r>
              <a:rPr lang="en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块中初始化变量。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构造函数参数在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/>
              <a:t>init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块中是可访问的，因此有时必须使用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this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.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body" idx="1"/>
          </p:nvPr>
        </p:nvSpPr>
        <p:spPr>
          <a:xfrm>
            <a:off x="292604" y="1335025"/>
            <a:ext cx="37857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interface</a:t>
            </a:r>
            <a:r>
              <a:rPr lang="en" sz="1100" dirty="0">
                <a:solidFill>
                  <a:srgbClr val="37474F"/>
                </a:solidFill>
              </a:rPr>
              <a:t> RegularCat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pet()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feed(food: Food)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interface</a:t>
            </a:r>
            <a:r>
              <a:rPr lang="en" sz="1100" dirty="0">
                <a:solidFill>
                  <a:srgbClr val="37474F"/>
                </a:solidFill>
              </a:rPr>
              <a:t> SickCat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checkStomach()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giveMedicine(pill: Pill)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抽象</a:t>
            </a:r>
            <a:endParaRPr dirty="0"/>
          </a:p>
        </p:txBody>
      </p:sp>
      <p:sp>
        <p:nvSpPr>
          <p:cNvPr id="176" name="Google Shape;176;p27"/>
          <p:cNvSpPr txBox="1">
            <a:spLocks noGrp="1"/>
          </p:cNvSpPr>
          <p:nvPr>
            <p:ph type="body" idx="1"/>
          </p:nvPr>
        </p:nvSpPr>
        <p:spPr>
          <a:xfrm>
            <a:off x="4572004" y="1335025"/>
            <a:ext cx="37857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abstract class</a:t>
            </a:r>
            <a:r>
              <a:rPr lang="en" sz="1100" dirty="0">
                <a:solidFill>
                  <a:srgbClr val="37474F"/>
                </a:solidFill>
              </a:rPr>
              <a:t> RegularCat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abstract val </a:t>
            </a:r>
            <a:r>
              <a:rPr lang="en" sz="1100" dirty="0">
                <a:solidFill>
                  <a:srgbClr val="37474F"/>
                </a:solidFill>
              </a:rPr>
              <a:t>name: String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abstract fun</a:t>
            </a:r>
            <a:r>
              <a:rPr lang="en" sz="1100" dirty="0">
                <a:solidFill>
                  <a:srgbClr val="37474F"/>
                </a:solidFill>
              </a:rPr>
              <a:t> pet()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abstract fun</a:t>
            </a:r>
            <a:r>
              <a:rPr lang="en" sz="1100" dirty="0">
                <a:solidFill>
                  <a:srgbClr val="37474F"/>
                </a:solidFill>
              </a:rPr>
              <a:t> feed(food: Food)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abstract class</a:t>
            </a:r>
            <a:r>
              <a:rPr lang="en" sz="1100" dirty="0">
                <a:solidFill>
                  <a:srgbClr val="37474F"/>
                </a:solidFill>
              </a:rPr>
              <a:t> SickCat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abstract val </a:t>
            </a:r>
            <a:r>
              <a:rPr lang="en" sz="1100" dirty="0">
                <a:solidFill>
                  <a:srgbClr val="37474F"/>
                </a:solidFill>
              </a:rPr>
              <a:t>location: String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abstract fun</a:t>
            </a:r>
            <a:r>
              <a:rPr lang="en" sz="1100" dirty="0">
                <a:solidFill>
                  <a:srgbClr val="37474F"/>
                </a:solidFill>
              </a:rPr>
              <a:t> checkStomach()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giveMedicine(pill: Pill) {}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3F51B5"/>
              </a:solidFill>
            </a:endParaRPr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1"/>
          </p:nvPr>
        </p:nvSpPr>
        <p:spPr>
          <a:xfrm>
            <a:off x="292600" y="4146850"/>
            <a:ext cx="3785700" cy="791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不能有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状态。（我们稍后会再回到这一点。）</a:t>
            </a:r>
            <a:endParaRPr lang="zh-CN" altLang="en-US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1"/>
          </p:nvPr>
        </p:nvSpPr>
        <p:spPr>
          <a:xfrm>
            <a:off x="4572000" y="4146850"/>
            <a:ext cx="3567300" cy="791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抽象类不能拥有实例，但可以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拥有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状态。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79" name="Google Shape;179;p27"/>
          <p:cNvSpPr txBox="1">
            <a:spLocks noGrp="1"/>
          </p:cNvSpPr>
          <p:nvPr>
            <p:ph type="body" idx="1"/>
          </p:nvPr>
        </p:nvSpPr>
        <p:spPr>
          <a:xfrm>
            <a:off x="3781400" y="2191925"/>
            <a:ext cx="243000" cy="7914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VS</a:t>
            </a:r>
            <a:endParaRPr b="1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封装</a:t>
            </a:r>
            <a:endParaRPr dirty="0"/>
          </a:p>
        </p:txBody>
      </p:sp>
      <p:sp>
        <p:nvSpPr>
          <p:cNvPr id="185" name="Google Shape;185;p28"/>
          <p:cNvSpPr/>
          <p:nvPr/>
        </p:nvSpPr>
        <p:spPr>
          <a:xfrm>
            <a:off x="4000138" y="1056525"/>
            <a:ext cx="2476800" cy="2476800"/>
          </a:xfrm>
          <a:prstGeom prst="ellipse">
            <a:avLst/>
          </a:prstGeom>
          <a:solidFill>
            <a:srgbClr val="28B8A0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2667063" y="1056525"/>
            <a:ext cx="2476800" cy="2476800"/>
          </a:xfrm>
          <a:prstGeom prst="ellipse">
            <a:avLst/>
          </a:prstGeom>
          <a:solidFill>
            <a:srgbClr val="6B57FF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2719138" y="2233375"/>
            <a:ext cx="2361600" cy="2361600"/>
          </a:xfrm>
          <a:prstGeom prst="ellipse">
            <a:avLst/>
          </a:prstGeom>
          <a:solidFill>
            <a:srgbClr val="FC801D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4292763" y="2650775"/>
            <a:ext cx="1566600" cy="1566600"/>
          </a:xfrm>
          <a:prstGeom prst="ellipse">
            <a:avLst/>
          </a:prstGeom>
          <a:solidFill>
            <a:srgbClr val="FF318C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2939175" y="1536827"/>
            <a:ext cx="79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Private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4099388" y="1833175"/>
            <a:ext cx="11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Protected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3154563" y="2551775"/>
            <a:ext cx="11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Internal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4462138" y="2801725"/>
            <a:ext cx="11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Public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7362650" y="3696488"/>
            <a:ext cx="254700" cy="254700"/>
          </a:xfrm>
          <a:prstGeom prst="ellipse">
            <a:avLst/>
          </a:prstGeom>
          <a:solidFill>
            <a:srgbClr val="28B8A0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7362650" y="3300338"/>
            <a:ext cx="254700" cy="254700"/>
          </a:xfrm>
          <a:prstGeom prst="ellipse">
            <a:avLst/>
          </a:prstGeom>
          <a:solidFill>
            <a:srgbClr val="6B57FF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7362650" y="4092638"/>
            <a:ext cx="254700" cy="254700"/>
          </a:xfrm>
          <a:prstGeom prst="ellipse">
            <a:avLst/>
          </a:prstGeom>
          <a:solidFill>
            <a:srgbClr val="FC801D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7362650" y="4488775"/>
            <a:ext cx="254700" cy="254700"/>
          </a:xfrm>
          <a:prstGeom prst="ellipse">
            <a:avLst/>
          </a:prstGeom>
          <a:solidFill>
            <a:srgbClr val="FF318C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ONOR Sans CN" panose="02000500000000000000" pitchFamily="2" charset="-122"/>
              <a:ea typeface="HONOR Sans CN" panose="02000500000000000000" pitchFamily="2" charset="-122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7729050" y="3227588"/>
            <a:ext cx="11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Class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7729050" y="3623738"/>
            <a:ext cx="11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Inheritors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7729050" y="4019888"/>
            <a:ext cx="11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Module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7729050" y="4401813"/>
            <a:ext cx="11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Anyone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abstract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RegularCat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protected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abstract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isHungry: Boolean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private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poop(): Poop {</a:t>
            </a:r>
            <a:r>
              <a:rPr lang="en" sz="1100" dirty="0">
                <a:solidFill>
                  <a:srgbClr val="3F51B5"/>
                </a:solidFill>
              </a:rPr>
              <a:t> </a:t>
            </a:r>
            <a:r>
              <a:rPr lang="en" sz="1100" dirty="0">
                <a:solidFill>
                  <a:srgbClr val="388E3C"/>
                </a:solidFill>
              </a:rPr>
              <a:t>/* </a:t>
            </a:r>
            <a:r>
              <a:rPr lang="zh-CN" altLang="en-US" sz="1100" dirty="0">
                <a:solidFill>
                  <a:srgbClr val="388E3C"/>
                </a:solidFill>
              </a:rPr>
              <a:t>执行操作 </a:t>
            </a:r>
            <a:r>
              <a:rPr lang="en" sz="1100" dirty="0">
                <a:solidFill>
                  <a:srgbClr val="388E3C"/>
                </a:solidFill>
              </a:rPr>
              <a:t>*/</a:t>
            </a:r>
            <a:r>
              <a:rPr lang="en" sz="1100" dirty="0">
                <a:solidFill>
                  <a:srgbClr val="37474F"/>
                </a:solidFill>
              </a:rPr>
              <a:t>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abstract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feed(food: Food)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MyCat : RegularCat()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 val</a:t>
            </a:r>
            <a:r>
              <a:rPr lang="en" sz="1100" dirty="0">
                <a:solidFill>
                  <a:srgbClr val="37474F"/>
                </a:solidFill>
              </a:rPr>
              <a:t> isHungry: Boolean = false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 fun</a:t>
            </a:r>
            <a:r>
              <a:rPr lang="en" sz="1100" dirty="0">
                <a:solidFill>
                  <a:srgbClr val="37474F"/>
                </a:solidFill>
              </a:rPr>
              <a:t> feed(food: Food) { 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if</a:t>
            </a:r>
            <a:r>
              <a:rPr lang="en" sz="1100" dirty="0">
                <a:solidFill>
                  <a:srgbClr val="37474F"/>
                </a:solidFill>
              </a:rPr>
              <a:t> (isHungry) { </a:t>
            </a:r>
            <a:r>
              <a:rPr lang="en" sz="1100" dirty="0">
                <a:solidFill>
                  <a:srgbClr val="388E3C"/>
                </a:solidFill>
              </a:rPr>
              <a:t>/* </a:t>
            </a:r>
            <a:r>
              <a:rPr lang="zh-CN" altLang="en-US" sz="1100" dirty="0">
                <a:solidFill>
                  <a:srgbClr val="388E3C"/>
                </a:solidFill>
              </a:rPr>
              <a:t>执行操作 </a:t>
            </a:r>
            <a:r>
              <a:rPr lang="en" sz="1100" dirty="0">
                <a:solidFill>
                  <a:srgbClr val="388E3C"/>
                </a:solidFill>
              </a:rPr>
              <a:t>*/ </a:t>
            </a: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4572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else</a:t>
            </a:r>
            <a:r>
              <a:rPr lang="en" sz="1100" dirty="0">
                <a:solidFill>
                  <a:srgbClr val="37474F"/>
                </a:solidFill>
              </a:rPr>
              <a:t> { poop() } </a:t>
            </a:r>
            <a:r>
              <a:rPr lang="en" sz="1100" dirty="0">
                <a:solidFill>
                  <a:srgbClr val="D81B60"/>
                </a:solidFill>
              </a:rPr>
              <a:t>// </a:t>
            </a:r>
            <a:r>
              <a:rPr lang="en-US" sz="1100" dirty="0" err="1">
                <a:solidFill>
                  <a:srgbClr val="D81B60"/>
                </a:solidFill>
              </a:rPr>
              <a:t>MyCat</a:t>
            </a:r>
            <a:r>
              <a:rPr lang="en-US" sz="1100" dirty="0">
                <a:solidFill>
                  <a:srgbClr val="D81B60"/>
                </a:solidFill>
              </a:rPr>
              <a:t> </a:t>
            </a:r>
            <a:r>
              <a:rPr lang="zh-CN" altLang="en-US" sz="1100" dirty="0">
                <a:solidFill>
                  <a:srgbClr val="D81B60"/>
                </a:solidFill>
              </a:rPr>
              <a:t>无法执行 </a:t>
            </a:r>
            <a:r>
              <a:rPr lang="en-US" sz="1100" dirty="0">
                <a:solidFill>
                  <a:srgbClr val="D81B60"/>
                </a:solidFill>
              </a:rPr>
              <a:t>poop </a:t>
            </a:r>
            <a:r>
              <a:rPr lang="zh-CN" altLang="en-US" sz="1100" dirty="0">
                <a:solidFill>
                  <a:srgbClr val="D81B60"/>
                </a:solidFill>
              </a:rPr>
              <a:t>操作</a:t>
            </a:r>
            <a:endParaRPr sz="1100" dirty="0">
              <a:solidFill>
                <a:srgbClr val="D81B60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C53929"/>
                </a:solidFill>
              </a:rPr>
              <a:t>Cannot access 'poop': it is invisible (private in a supertype) in 'MyCat'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06" name="Google Shape;206;p2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封装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>
            <a:spLocks noGrp="1"/>
          </p:cNvSpPr>
          <p:nvPr>
            <p:ph type="body" idx="1"/>
          </p:nvPr>
        </p:nvSpPr>
        <p:spPr>
          <a:xfrm>
            <a:off x="292604" y="1335025"/>
            <a:ext cx="37344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SickDomesticCat : RegularCat(), CatAtHospital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var</a:t>
            </a:r>
            <a:r>
              <a:rPr lang="en" sz="1100" dirty="0">
                <a:solidFill>
                  <a:srgbClr val="37474F"/>
                </a:solidFill>
              </a:rPr>
              <a:t> isHungry: Boolean = </a:t>
            </a:r>
            <a:r>
              <a:rPr lang="en" sz="1100" dirty="0">
                <a:solidFill>
                  <a:srgbClr val="3F51B5"/>
                </a:solidFill>
              </a:rPr>
              <a:t>false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 </a:t>
            </a:r>
            <a:r>
              <a:rPr lang="en" sz="1100" dirty="0">
                <a:solidFill>
                  <a:srgbClr val="3F51B5"/>
                </a:solidFill>
              </a:rPr>
              <a:t>get</a:t>
            </a:r>
            <a:r>
              <a:rPr lang="en" sz="1100" dirty="0">
                <a:solidFill>
                  <a:srgbClr val="37474F"/>
                </a:solidFill>
              </a:rPr>
              <a:t>() = field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 </a:t>
            </a:r>
            <a:r>
              <a:rPr lang="en" sz="1100" dirty="0">
                <a:solidFill>
                  <a:srgbClr val="3F51B5"/>
                </a:solidFill>
              </a:rPr>
              <a:t>set</a:t>
            </a:r>
            <a:r>
              <a:rPr lang="en" sz="1100" dirty="0">
                <a:solidFill>
                  <a:srgbClr val="37474F"/>
                </a:solidFill>
              </a:rPr>
              <a:t>(value) {...}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pet() {...}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feed(food: Food) {...}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checkStomach() {...}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giveMedicine(pill: Pill) {...}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继承</a:t>
            </a:r>
            <a:endParaRPr dirty="0"/>
          </a:p>
        </p:txBody>
      </p:sp>
      <p:sp>
        <p:nvSpPr>
          <p:cNvPr id="213" name="Google Shape;213;p30"/>
          <p:cNvSpPr txBox="1">
            <a:spLocks noGrp="1"/>
          </p:cNvSpPr>
          <p:nvPr>
            <p:ph type="body" idx="1"/>
          </p:nvPr>
        </p:nvSpPr>
        <p:spPr>
          <a:xfrm>
            <a:off x="4572000" y="1335025"/>
            <a:ext cx="39591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要使一个类能够被其他类继承，该类应使用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b="1" dirty="0"/>
              <a:t>open</a:t>
            </a:r>
            <a:r>
              <a:rPr lang="en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关键字进行标记。（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抽象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类始终是 </a:t>
            </a:r>
            <a:r>
              <a:rPr lang="en" sz="1100" dirty="0"/>
              <a:t>open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的）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在 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中，你只能从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一个类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继承，但可以从任意多个</a:t>
            </a:r>
            <a:r>
              <a:rPr lang="zh-CN" altLang="en-US" sz="1100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继承。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146050" lvl="0" indent="0" algn="l" rtl="0">
              <a:lnSpc>
                <a:spcPct val="107916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当你从一个类继承时，必须调用该类的构造函数，就像次要构造函数必须调用主要构造函数一样。</a:t>
            </a:r>
          </a:p>
          <a:p>
            <a:pPr marL="0" marR="146050" lvl="0" indent="0" algn="l" rtl="0">
              <a:lnSpc>
                <a:spcPct val="107916"/>
              </a:lnSpc>
              <a:spcBef>
                <a:spcPts val="177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40500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abstract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Cat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008000"/>
                </a:solidFill>
              </a:rPr>
              <a:t>/* final */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anotherDay()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</a:t>
            </a:r>
            <a:r>
              <a:rPr lang="en" sz="1100" dirty="0">
                <a:solidFill>
                  <a:srgbClr val="808080"/>
                </a:solidFill>
              </a:rPr>
              <a:t>// </a:t>
            </a:r>
            <a:r>
              <a:rPr lang="zh-CN" altLang="en-US" sz="1100" dirty="0">
                <a:solidFill>
                  <a:srgbClr val="808080"/>
                </a:solidFill>
              </a:rPr>
              <a:t>各种猫咪活动</a:t>
            </a:r>
            <a:endParaRPr sz="1100" dirty="0">
              <a:solidFill>
                <a:srgbClr val="8080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digest(findFood())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poop(findWhereToPoop())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private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poop(where: Place): Poop {...}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private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digest(food: Food)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</a:t>
            </a:r>
            <a:r>
              <a:rPr lang="en" sz="1100" dirty="0">
                <a:solidFill>
                  <a:srgbClr val="808080"/>
                </a:solidFill>
              </a:rPr>
              <a:t>// </a:t>
            </a:r>
            <a:r>
              <a:rPr lang="zh-CN" altLang="en-US" sz="1100" dirty="0">
                <a:solidFill>
                  <a:srgbClr val="808080"/>
                </a:solidFill>
              </a:rPr>
              <a:t>不知道它们是如何运作的</a:t>
            </a:r>
            <a:endParaRPr sz="1100" dirty="0">
              <a:solidFill>
                <a:srgbClr val="8080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poop(findWhereToPoop())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abstract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feed(food: Food)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abstract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findWhereToPoop(): Place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abstract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findFood(): Food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</a:endParaRPr>
          </a:p>
        </p:txBody>
      </p:sp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你为什么要禁止猫咪拉💩？！</a:t>
            </a:r>
            <a:endParaRPr dirty="0"/>
          </a:p>
        </p:txBody>
      </p:sp>
      <p:sp>
        <p:nvSpPr>
          <p:cNvPr id="220" name="Google Shape;220;p31"/>
          <p:cNvSpPr txBox="1">
            <a:spLocks noGrp="1"/>
          </p:cNvSpPr>
          <p:nvPr>
            <p:ph type="body" idx="1"/>
          </p:nvPr>
        </p:nvSpPr>
        <p:spPr>
          <a:xfrm>
            <a:off x="4876800" y="1335025"/>
            <a:ext cx="41280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DomesticCat(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tray: Tray, 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bowl: Bowl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) : Cat()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feed(food: Food)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</a:t>
            </a:r>
            <a:r>
              <a:rPr lang="en" sz="1100" dirty="0">
                <a:solidFill>
                  <a:srgbClr val="808080"/>
                </a:solidFill>
              </a:rPr>
              <a:t>// </a:t>
            </a:r>
            <a:r>
              <a:rPr lang="zh-CN" altLang="en-US" sz="1100" dirty="0">
                <a:solidFill>
                  <a:srgbClr val="808080"/>
                </a:solidFill>
              </a:rPr>
              <a:t>在碗里放些食物</a:t>
            </a:r>
            <a:endParaRPr sz="1100" dirty="0">
              <a:solidFill>
                <a:srgbClr val="8080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findWhereToPoop() = tray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findFood()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return</a:t>
            </a:r>
            <a:r>
              <a:rPr lang="en" sz="1100" dirty="0">
                <a:solidFill>
                  <a:srgbClr val="37474F"/>
                </a:solidFill>
              </a:rPr>
              <a:t> bowl.getFood() ?: run {</a:t>
            </a:r>
            <a:endParaRPr sz="1100" dirty="0">
              <a:solidFill>
                <a:srgbClr val="37474F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808080"/>
                </a:solidFill>
              </a:rPr>
              <a:t>// </a:t>
            </a:r>
            <a:r>
              <a:rPr lang="zh-CN" altLang="en-US" sz="1100" dirty="0">
                <a:solidFill>
                  <a:srgbClr val="808080"/>
                </a:solidFill>
              </a:rPr>
              <a:t>去别处找食物</a:t>
            </a:r>
            <a:endParaRPr sz="1100" dirty="0">
              <a:solidFill>
                <a:srgbClr val="808080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sz="1100" dirty="0">
              <a:solidFill>
                <a:srgbClr val="3F51B5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interface</a:t>
            </a:r>
            <a:r>
              <a:rPr lang="en" sz="1100" dirty="0">
                <a:solidFill>
                  <a:srgbClr val="37474F"/>
                </a:solidFill>
              </a:rPr>
              <a:t> DomesticAnimal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pet()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Dog: DomesticAnimal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pet() {...}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Cat: DomesticAnimal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pet() {...}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main()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homeZoo = listOf&lt;DomesticAnimal&gt;(Dog(), Cat())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homeZoo.forEach { it.pet()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26" name="Google Shape;226;p3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重探多态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>
            <a:spLocks noGrp="1"/>
          </p:cNvSpPr>
          <p:nvPr>
            <p:ph type="body" idx="1"/>
          </p:nvPr>
        </p:nvSpPr>
        <p:spPr>
          <a:xfrm>
            <a:off x="292604" y="1335025"/>
            <a:ext cx="38280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class</a:t>
            </a:r>
            <a:r>
              <a:rPr lang="en" sz="800" dirty="0">
                <a:solidFill>
                  <a:srgbClr val="37474F"/>
                </a:solidFill>
              </a:rPr>
              <a:t> PositiveAttitude(startingAttitude: Int)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var</a:t>
            </a:r>
            <a:r>
              <a:rPr lang="en" sz="800" dirty="0">
                <a:solidFill>
                  <a:srgbClr val="37474F"/>
                </a:solidFill>
              </a:rPr>
              <a:t> attitude = max(0, startingAttitude)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set</a:t>
            </a:r>
            <a:r>
              <a:rPr lang="en" sz="800" dirty="0">
                <a:solidFill>
                  <a:srgbClr val="37474F"/>
                </a:solidFill>
              </a:rPr>
              <a:t>(value) =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</a:t>
            </a:r>
            <a:r>
              <a:rPr lang="en" sz="800" dirty="0">
                <a:solidFill>
                  <a:srgbClr val="3F51B5"/>
                </a:solidFill>
              </a:rPr>
              <a:t>if</a:t>
            </a:r>
            <a:r>
              <a:rPr lang="en" sz="800" dirty="0">
                <a:solidFill>
                  <a:srgbClr val="37474F"/>
                </a:solidFill>
              </a:rPr>
              <a:t> (value &gt;= 0)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    </a:t>
            </a:r>
            <a:r>
              <a:rPr lang="en" sz="800" u="sng" dirty="0">
                <a:solidFill>
                  <a:srgbClr val="37474F"/>
                </a:solidFill>
              </a:rPr>
              <a:t>field</a:t>
            </a:r>
            <a:r>
              <a:rPr lang="en" sz="800" dirty="0">
                <a:solidFill>
                  <a:srgbClr val="37474F"/>
                </a:solidFill>
              </a:rPr>
              <a:t> = value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} </a:t>
            </a:r>
            <a:r>
              <a:rPr lang="en" sz="800" dirty="0">
                <a:solidFill>
                  <a:srgbClr val="3F51B5"/>
                </a:solidFill>
              </a:rPr>
              <a:t>else</a:t>
            </a:r>
            <a:r>
              <a:rPr lang="en" sz="800" dirty="0">
                <a:solidFill>
                  <a:srgbClr val="37474F"/>
                </a:solidFill>
              </a:rPr>
              <a:t>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    println(</a:t>
            </a:r>
            <a:r>
              <a:rPr lang="en" sz="800" dirty="0">
                <a:solidFill>
                  <a:srgbClr val="008000"/>
                </a:solidFill>
              </a:rPr>
              <a:t>"Only positive attitude!"</a:t>
            </a:r>
            <a:r>
              <a:rPr lang="en" sz="800" dirty="0">
                <a:solidFill>
                  <a:srgbClr val="37474F"/>
                </a:solidFill>
              </a:rPr>
              <a:t>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    </a:t>
            </a:r>
            <a:r>
              <a:rPr lang="en" sz="800" u="sng" dirty="0">
                <a:solidFill>
                  <a:srgbClr val="37474F"/>
                </a:solidFill>
              </a:rPr>
              <a:t>field</a:t>
            </a:r>
            <a:r>
              <a:rPr lang="en" sz="800" dirty="0">
                <a:solidFill>
                  <a:srgbClr val="37474F"/>
                </a:solidFill>
              </a:rPr>
              <a:t> = 0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var</a:t>
            </a:r>
            <a:r>
              <a:rPr lang="en" sz="800" dirty="0">
                <a:solidFill>
                  <a:srgbClr val="37474F"/>
                </a:solidFill>
              </a:rPr>
              <a:t> hiddenAttitude: Int = startingAttitude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private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set</a:t>
            </a:r>
            <a:endParaRPr sz="8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get</a:t>
            </a:r>
            <a:r>
              <a:rPr lang="en" sz="800" dirty="0">
                <a:solidFill>
                  <a:srgbClr val="37474F"/>
                </a:solidFill>
              </a:rPr>
              <a:t>()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</a:t>
            </a:r>
            <a:r>
              <a:rPr lang="en" sz="800" dirty="0">
                <a:solidFill>
                  <a:srgbClr val="3F51B5"/>
                </a:solidFill>
              </a:rPr>
              <a:t>if</a:t>
            </a:r>
            <a:r>
              <a:rPr lang="en" sz="800" dirty="0">
                <a:solidFill>
                  <a:srgbClr val="37474F"/>
                </a:solidFill>
              </a:rPr>
              <a:t> (isSecretelyNegative)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    println(</a:t>
            </a:r>
            <a:r>
              <a:rPr lang="en" sz="800" dirty="0">
                <a:solidFill>
                  <a:srgbClr val="008000"/>
                </a:solidFill>
              </a:rPr>
              <a:t>"Don't ask this!"</a:t>
            </a:r>
            <a:r>
              <a:rPr lang="en" sz="800" dirty="0">
                <a:solidFill>
                  <a:srgbClr val="37474F"/>
                </a:solidFill>
              </a:rPr>
              <a:t>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    </a:t>
            </a:r>
            <a:r>
              <a:rPr lang="en" sz="800" u="sng" dirty="0">
                <a:solidFill>
                  <a:srgbClr val="37474F"/>
                </a:solidFill>
              </a:rPr>
              <a:t>field</a:t>
            </a:r>
            <a:r>
              <a:rPr lang="en" sz="800" dirty="0">
                <a:solidFill>
                  <a:srgbClr val="37474F"/>
                </a:solidFill>
              </a:rPr>
              <a:t> += 10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    </a:t>
            </a:r>
            <a:r>
              <a:rPr lang="en" sz="800" dirty="0">
                <a:solidFill>
                  <a:srgbClr val="3F51B5"/>
                </a:solidFill>
              </a:rPr>
              <a:t>return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u="sng" dirty="0">
                <a:solidFill>
                  <a:srgbClr val="37474F"/>
                </a:solidFill>
              </a:rPr>
              <a:t>field</a:t>
            </a:r>
            <a:endParaRPr sz="800" u="sng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isSecretelyNegative: Boolean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get</a:t>
            </a:r>
            <a:r>
              <a:rPr lang="en" sz="800" dirty="0">
                <a:solidFill>
                  <a:srgbClr val="37474F"/>
                </a:solidFill>
              </a:rPr>
              <a:t>() = hiddenAttitude &lt; 0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/>
          </a:p>
        </p:txBody>
      </p:sp>
      <p:sp>
        <p:nvSpPr>
          <p:cNvPr id="232" name="Google Shape;232;p3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属性</a:t>
            </a:r>
            <a:endParaRPr dirty="0"/>
          </a:p>
        </p:txBody>
      </p:sp>
      <p:sp>
        <p:nvSpPr>
          <p:cNvPr id="233" name="Google Shape;233;p33"/>
          <p:cNvSpPr txBox="1">
            <a:spLocks noGrp="1"/>
          </p:cNvSpPr>
          <p:nvPr>
            <p:ph type="body" idx="1"/>
          </p:nvPr>
        </p:nvSpPr>
        <p:spPr>
          <a:xfrm>
            <a:off x="4572004" y="1335025"/>
            <a:ext cx="38280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marR="27686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属性可以选择性地拥有初始化器、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Getter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Setter。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316865" lvl="0" indent="0" algn="l" rtl="0">
              <a:lnSpc>
                <a:spcPct val="115416"/>
              </a:lnSpc>
              <a:spcBef>
                <a:spcPts val="12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请使用 </a:t>
            </a:r>
            <a:r>
              <a:rPr lang="en" sz="1100" dirty="0"/>
              <a:t>field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关键字来访问 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Getter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 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Setter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内部的值，否则可能会导致无限递归。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7916"/>
              </a:lnSpc>
              <a:spcBef>
                <a:spcPts val="120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属性可能完全不包含（底层）字段。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40665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open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class</a:t>
            </a:r>
            <a:r>
              <a:rPr lang="en" sz="800" dirty="0">
                <a:solidFill>
                  <a:srgbClr val="37474F"/>
                </a:solidFill>
              </a:rPr>
              <a:t> OpenBase(</a:t>
            </a:r>
            <a:r>
              <a:rPr lang="en" sz="800" dirty="0">
                <a:solidFill>
                  <a:srgbClr val="3F51B5"/>
                </a:solidFill>
              </a:rPr>
              <a:t>open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51C75"/>
                </a:solidFill>
              </a:rPr>
              <a:t>value</a:t>
            </a:r>
            <a:r>
              <a:rPr lang="en" sz="800" dirty="0">
                <a:solidFill>
                  <a:srgbClr val="37474F"/>
                </a:solidFill>
              </a:rPr>
              <a:t>: Int)</a:t>
            </a:r>
            <a:endParaRPr sz="8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interface</a:t>
            </a:r>
            <a:r>
              <a:rPr lang="en" sz="800" dirty="0">
                <a:solidFill>
                  <a:srgbClr val="37474F"/>
                </a:solidFill>
              </a:rPr>
              <a:t> AnotherExample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008000"/>
                </a:solidFill>
              </a:rPr>
              <a:t>/* abstract */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51C75"/>
                </a:solidFill>
              </a:rPr>
              <a:t>anotherValue</a:t>
            </a:r>
            <a:r>
              <a:rPr lang="en" sz="800" dirty="0">
                <a:solidFill>
                  <a:srgbClr val="37474F"/>
                </a:solidFill>
              </a:rPr>
              <a:t>: OpenBase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open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class</a:t>
            </a:r>
            <a:r>
              <a:rPr lang="en" sz="800" dirty="0">
                <a:solidFill>
                  <a:srgbClr val="37474F"/>
                </a:solidFill>
              </a:rPr>
              <a:t> OpenChild(value: Int) : OpenBase(value), AnotherExample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override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var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51C75"/>
                </a:solidFill>
              </a:rPr>
              <a:t>value</a:t>
            </a:r>
            <a:r>
              <a:rPr lang="en" sz="800" dirty="0">
                <a:solidFill>
                  <a:srgbClr val="37474F"/>
                </a:solidFill>
              </a:rPr>
              <a:t>: Int = 1000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get</a:t>
            </a:r>
            <a:r>
              <a:rPr lang="en" sz="800" dirty="0">
                <a:solidFill>
                  <a:srgbClr val="37474F"/>
                </a:solidFill>
              </a:rPr>
              <a:t>() = field - 7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override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51C75"/>
                </a:solidFill>
              </a:rPr>
              <a:t>anotherValue</a:t>
            </a:r>
            <a:r>
              <a:rPr lang="en" sz="800" dirty="0">
                <a:solidFill>
                  <a:srgbClr val="37474F"/>
                </a:solidFill>
              </a:rPr>
              <a:t>: OpenBase = OpenBase(</a:t>
            </a:r>
            <a:r>
              <a:rPr lang="en" sz="800" dirty="0">
                <a:solidFill>
                  <a:srgbClr val="351C75"/>
                </a:solidFill>
              </a:rPr>
              <a:t>value</a:t>
            </a:r>
            <a:r>
              <a:rPr lang="en" sz="800" dirty="0">
                <a:solidFill>
                  <a:srgbClr val="37474F"/>
                </a:solidFill>
              </a:rPr>
              <a:t>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open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class</a:t>
            </a:r>
            <a:r>
              <a:rPr lang="en" sz="800" dirty="0">
                <a:solidFill>
                  <a:srgbClr val="37474F"/>
                </a:solidFill>
              </a:rPr>
              <a:t> AnotherChild(value: Int) : OpenChild(value)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final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override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var</a:t>
            </a:r>
            <a:r>
              <a:rPr lang="en" sz="800" dirty="0">
                <a:solidFill>
                  <a:srgbClr val="37474F"/>
                </a:solidFill>
              </a:rPr>
              <a:t> value: Int = value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get</a:t>
            </a:r>
            <a:r>
              <a:rPr lang="en" sz="800" dirty="0">
                <a:solidFill>
                  <a:srgbClr val="37474F"/>
                </a:solidFill>
              </a:rPr>
              <a:t>() = </a:t>
            </a:r>
            <a:r>
              <a:rPr lang="en" sz="800" dirty="0">
                <a:solidFill>
                  <a:srgbClr val="3F51B5"/>
                </a:solidFill>
              </a:rPr>
              <a:t>super</a:t>
            </a:r>
            <a:r>
              <a:rPr lang="en" sz="800" dirty="0">
                <a:solidFill>
                  <a:srgbClr val="37474F"/>
                </a:solidFill>
              </a:rPr>
              <a:t>.value </a:t>
            </a:r>
            <a:r>
              <a:rPr lang="en" sz="800" dirty="0">
                <a:solidFill>
                  <a:srgbClr val="898989"/>
                </a:solidFill>
              </a:rPr>
              <a:t>// </a:t>
            </a:r>
            <a:r>
              <a:rPr lang="zh-CN" altLang="en-US" sz="800" dirty="0">
                <a:solidFill>
                  <a:srgbClr val="898989"/>
                </a:solidFill>
              </a:rPr>
              <a:t>否则将使用默认的 </a:t>
            </a:r>
            <a:r>
              <a:rPr lang="en-US" sz="800" dirty="0">
                <a:solidFill>
                  <a:srgbClr val="898989"/>
                </a:solidFill>
              </a:rPr>
              <a:t>get()</a:t>
            </a:r>
            <a:endParaRPr sz="800" dirty="0">
              <a:solidFill>
                <a:srgbClr val="89898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set</a:t>
            </a:r>
            <a:r>
              <a:rPr lang="en" sz="800" dirty="0">
                <a:solidFill>
                  <a:srgbClr val="37474F"/>
                </a:solidFill>
              </a:rPr>
              <a:t>(value) { field = value * 2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final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override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anotherValue: OpenChild = OpenChild(value) </a:t>
            </a:r>
            <a:r>
              <a:rPr lang="en" sz="800" dirty="0">
                <a:solidFill>
                  <a:srgbClr val="898989"/>
                </a:solidFill>
              </a:rPr>
              <a:t>// </a:t>
            </a:r>
            <a:r>
              <a:rPr lang="zh-CN" altLang="en-US" sz="800" dirty="0">
                <a:solidFill>
                  <a:srgbClr val="898989"/>
                </a:solidFill>
              </a:rPr>
              <a:t>注意这里我们使用的是 </a:t>
            </a:r>
            <a:r>
              <a:rPr lang="en-US" sz="800" dirty="0" err="1">
                <a:solidFill>
                  <a:srgbClr val="898989"/>
                </a:solidFill>
              </a:rPr>
              <a:t>OpenChild</a:t>
            </a:r>
            <a:r>
              <a:rPr lang="en-US" sz="800" dirty="0">
                <a:solidFill>
                  <a:srgbClr val="898989"/>
                </a:solidFill>
              </a:rPr>
              <a:t>，</a:t>
            </a:r>
            <a:r>
              <a:rPr lang="zh-CN" altLang="en-US" sz="800" dirty="0">
                <a:solidFill>
                  <a:srgbClr val="898989"/>
                </a:solidFill>
              </a:rPr>
              <a:t>而不是 </a:t>
            </a:r>
            <a:r>
              <a:rPr lang="en-US" sz="800" dirty="0" err="1">
                <a:solidFill>
                  <a:srgbClr val="898989"/>
                </a:solidFill>
              </a:rPr>
              <a:t>OpenBase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</a:t>
            </a:r>
            <a:endParaRPr sz="8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3F51B5"/>
              </a:solidFill>
            </a:endParaRPr>
          </a:p>
        </p:txBody>
      </p:sp>
      <p:sp>
        <p:nvSpPr>
          <p:cNvPr id="239" name="Google Shape;239;p3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属性</a:t>
            </a:r>
            <a:endParaRPr dirty="0"/>
          </a:p>
        </p:txBody>
      </p:sp>
      <p:sp>
        <p:nvSpPr>
          <p:cNvPr id="240" name="Google Shape;240;p34"/>
          <p:cNvSpPr txBox="1">
            <a:spLocks noGrp="1"/>
          </p:cNvSpPr>
          <p:nvPr>
            <p:ph type="body" idx="1"/>
          </p:nvPr>
        </p:nvSpPr>
        <p:spPr>
          <a:xfrm>
            <a:off x="5029204" y="1335025"/>
            <a:ext cx="38280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marR="100965" lvl="0" indent="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属性可以是 </a:t>
            </a:r>
            <a:r>
              <a:rPr lang="en" sz="1100" dirty="0">
                <a:solidFill>
                  <a:srgbClr val="3E51B4"/>
                </a:solidFill>
              </a:rPr>
              <a:t>open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>
                <a:solidFill>
                  <a:srgbClr val="3E51B4"/>
                </a:solidFill>
              </a:rPr>
              <a:t>abstract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</a:rPr>
              <a:t> </a:t>
            </a:r>
            <a:r>
              <a:rPr lang="zh-CN" altLang="en-US" sz="1100" dirty="0"/>
              <a:t>的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</a:rPr>
              <a:t>，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这意味着它们的 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Getter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 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Setter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可能（对于 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open）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或必须（对于 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abstract）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分别由继承者重写。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marR="107315" lvl="0" indent="0" algn="l" rtl="0">
              <a:lnSpc>
                <a:spcPct val="13625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接口可以拥有属性，但它们始终是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>
                <a:solidFill>
                  <a:srgbClr val="3E51B4"/>
                </a:solidFill>
              </a:rPr>
              <a:t>abstract</a:t>
            </a:r>
            <a:r>
              <a:rPr lang="en" sz="1100" dirty="0">
                <a:solidFill>
                  <a:srgbClr val="585858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zh-CN" altLang="en-US" sz="1100" dirty="0">
                <a:solidFill>
                  <a:srgbClr val="585858"/>
                </a:solidFill>
                <a:latin typeface="Raleway"/>
                <a:ea typeface="Raleway"/>
                <a:cs typeface="Raleway"/>
                <a:sym typeface="Raleway"/>
              </a:rPr>
              <a:t>的。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7916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你可以通过将属性标记为 </a:t>
            </a:r>
            <a:r>
              <a:rPr lang="en" sz="1100" dirty="0">
                <a:solidFill>
                  <a:srgbClr val="3E51B4"/>
                </a:solidFill>
              </a:rPr>
              <a:t>final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来禁止进一步的重写。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>
            <a:spLocks noGrp="1"/>
          </p:cNvSpPr>
          <p:nvPr>
            <p:ph type="body" idx="1"/>
          </p:nvPr>
        </p:nvSpPr>
        <p:spPr>
          <a:xfrm>
            <a:off x="292604" y="1335025"/>
            <a:ext cx="44922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class</a:t>
            </a:r>
            <a:r>
              <a:rPr lang="en" sz="800" dirty="0">
                <a:solidFill>
                  <a:srgbClr val="37474F"/>
                </a:solidFill>
              </a:rPr>
              <a:t> Example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operator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fun</a:t>
            </a:r>
            <a:r>
              <a:rPr lang="en" sz="800" dirty="0">
                <a:solidFill>
                  <a:srgbClr val="37474F"/>
                </a:solidFill>
              </a:rPr>
              <a:t> plus(other: Example): Example { ...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operator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fun</a:t>
            </a:r>
            <a:r>
              <a:rPr lang="en" sz="800" dirty="0">
                <a:solidFill>
                  <a:srgbClr val="37474F"/>
                </a:solidFill>
              </a:rPr>
              <a:t> dec() = this </a:t>
            </a:r>
            <a:r>
              <a:rPr lang="en" sz="800" dirty="0">
                <a:solidFill>
                  <a:srgbClr val="008000"/>
                </a:solidFill>
              </a:rPr>
              <a:t>// </a:t>
            </a:r>
            <a:r>
              <a:rPr lang="zh-CN" altLang="en-US" sz="800" dirty="0">
                <a:solidFill>
                  <a:srgbClr val="008000"/>
                </a:solidFill>
              </a:rPr>
              <a:t>返回类型</a:t>
            </a:r>
            <a:r>
              <a:rPr lang="zh-CN" altLang="en-US" sz="800" u="sng" dirty="0">
                <a:solidFill>
                  <a:srgbClr val="008000"/>
                </a:solidFill>
              </a:rPr>
              <a:t>必须是其子类型</a:t>
            </a:r>
            <a:endParaRPr sz="800" u="sng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operator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fun</a:t>
            </a:r>
            <a:r>
              <a:rPr lang="en" sz="800" dirty="0">
                <a:solidFill>
                  <a:srgbClr val="37474F"/>
                </a:solidFill>
              </a:rPr>
              <a:t> get(i: Int, j: Int): SomeType { ...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operator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fun</a:t>
            </a:r>
            <a:r>
              <a:rPr lang="en" sz="800" dirty="0">
                <a:solidFill>
                  <a:srgbClr val="37474F"/>
                </a:solidFill>
              </a:rPr>
              <a:t> get(x: Double?, y: String) = </a:t>
            </a:r>
            <a:r>
              <a:rPr lang="en" sz="800" dirty="0">
                <a:solidFill>
                  <a:srgbClr val="3F51B5"/>
                </a:solidFill>
              </a:rPr>
              <a:t>this</a:t>
            </a:r>
            <a:endParaRPr sz="8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operator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fun</a:t>
            </a:r>
            <a:r>
              <a:rPr lang="en" sz="800" dirty="0">
                <a:solidFill>
                  <a:srgbClr val="37474F"/>
                </a:solidFill>
              </a:rPr>
              <a:t> &lt;</a:t>
            </a:r>
            <a:r>
              <a:rPr lang="en" sz="800" dirty="0">
                <a:solidFill>
                  <a:srgbClr val="6897BB"/>
                </a:solidFill>
              </a:rPr>
              <a:t>T</a:t>
            </a:r>
            <a:r>
              <a:rPr lang="en" sz="800" dirty="0">
                <a:solidFill>
                  <a:srgbClr val="37474F"/>
                </a:solidFill>
              </a:rPr>
              <a:t>&gt; invoke(l: List&lt;</a:t>
            </a:r>
            <a:r>
              <a:rPr lang="en" sz="800" dirty="0">
                <a:solidFill>
                  <a:srgbClr val="6897BB"/>
                </a:solidFill>
              </a:rPr>
              <a:t>T</a:t>
            </a:r>
            <a:r>
              <a:rPr lang="en" sz="800" dirty="0">
                <a:solidFill>
                  <a:srgbClr val="37474F"/>
                </a:solidFill>
              </a:rPr>
              <a:t>&gt;): SomeType { ...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operator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fun</a:t>
            </a:r>
            <a:r>
              <a:rPr lang="en" sz="800" dirty="0">
                <a:solidFill>
                  <a:srgbClr val="37474F"/>
                </a:solidFill>
              </a:rPr>
              <a:t> Example.rangeTo(other: Example): Iterator&lt;Example&gt; { ...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</a:rPr>
              <a:t>fun</a:t>
            </a:r>
            <a:r>
              <a:rPr lang="en" sz="800" dirty="0">
                <a:solidFill>
                  <a:srgbClr val="37474F"/>
                </a:solidFill>
              </a:rPr>
              <a:t> main()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var</a:t>
            </a:r>
            <a:r>
              <a:rPr lang="en" sz="800" dirty="0">
                <a:solidFill>
                  <a:srgbClr val="37474F"/>
                </a:solidFill>
              </a:rPr>
              <a:t> ex1 = Example()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ex2 = ex1 + --ex1 </a:t>
            </a:r>
            <a:r>
              <a:rPr lang="en" sz="800" dirty="0">
                <a:solidFill>
                  <a:srgbClr val="008000"/>
                </a:solidFill>
              </a:rPr>
              <a:t>// </a:t>
            </a:r>
            <a:r>
              <a:rPr lang="en-US" altLang="zh-CN" sz="800" dirty="0">
                <a:solidFill>
                  <a:srgbClr val="008000"/>
                </a:solidFill>
              </a:rPr>
              <a:t>-- </a:t>
            </a:r>
            <a:r>
              <a:rPr lang="zh-CN" altLang="en-US" sz="800" dirty="0">
                <a:solidFill>
                  <a:srgbClr val="008000"/>
                </a:solidFill>
              </a:rPr>
              <a:t>会对 </a:t>
            </a:r>
            <a:r>
              <a:rPr lang="en-US" altLang="zh-CN" sz="800" dirty="0">
                <a:solidFill>
                  <a:srgbClr val="008000"/>
                </a:solidFill>
              </a:rPr>
              <a:t>ex1 </a:t>
            </a:r>
            <a:r>
              <a:rPr lang="zh-CN" altLang="en-US" sz="800" dirty="0">
                <a:solidFill>
                  <a:srgbClr val="008000"/>
                </a:solidFill>
              </a:rPr>
              <a:t>重新赋值，因此它</a:t>
            </a:r>
            <a:r>
              <a:rPr lang="zh-CN" altLang="en-US" sz="800" u="sng" dirty="0">
                <a:solidFill>
                  <a:srgbClr val="008000"/>
                </a:solidFill>
              </a:rPr>
              <a:t>必须是 </a:t>
            </a:r>
            <a:r>
              <a:rPr lang="en-US" altLang="zh-CN" sz="800" u="sng" dirty="0">
                <a:solidFill>
                  <a:srgbClr val="008000"/>
                </a:solidFill>
              </a:rPr>
              <a:t>var</a:t>
            </a:r>
            <a:endParaRPr sz="800" u="sng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for</a:t>
            </a:r>
            <a:r>
              <a:rPr lang="en" sz="800" dirty="0">
                <a:solidFill>
                  <a:srgbClr val="37474F"/>
                </a:solidFill>
              </a:rPr>
              <a:t> (ex </a:t>
            </a:r>
            <a:r>
              <a:rPr lang="en" sz="800" dirty="0">
                <a:solidFill>
                  <a:srgbClr val="3F51B5"/>
                </a:solidFill>
              </a:rPr>
              <a:t>in</a:t>
            </a:r>
            <a:r>
              <a:rPr lang="en" sz="800" dirty="0">
                <a:solidFill>
                  <a:srgbClr val="37474F"/>
                </a:solidFill>
              </a:rPr>
              <a:t> ex1..ex2)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ex[23, 42]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    ex[</a:t>
            </a:r>
            <a:r>
              <a:rPr lang="en" sz="800" dirty="0">
                <a:solidFill>
                  <a:srgbClr val="3F51B5"/>
                </a:solidFill>
              </a:rPr>
              <a:t>null</a:t>
            </a:r>
            <a:r>
              <a:rPr lang="en" sz="800" dirty="0">
                <a:solidFill>
                  <a:srgbClr val="37474F"/>
                </a:solidFill>
              </a:rPr>
              <a:t>, </a:t>
            </a:r>
            <a:r>
              <a:rPr lang="en" sz="800" dirty="0">
                <a:solidFill>
                  <a:srgbClr val="008000"/>
                </a:solidFill>
              </a:rPr>
              <a:t>"Wow"</a:t>
            </a:r>
            <a:r>
              <a:rPr lang="en" sz="800" dirty="0">
                <a:solidFill>
                  <a:srgbClr val="37474F"/>
                </a:solidFill>
              </a:rPr>
              <a:t>](listOf(1,2,3))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  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</a:rPr>
              <a:t>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/>
          </a:p>
        </p:txBody>
      </p:sp>
      <p:sp>
        <p:nvSpPr>
          <p:cNvPr id="246" name="Google Shape;246;p3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运算符重载</a:t>
            </a:r>
            <a:endParaRPr dirty="0"/>
          </a:p>
        </p:txBody>
      </p:sp>
      <p:sp>
        <p:nvSpPr>
          <p:cNvPr id="247" name="Google Shape;247;p35"/>
          <p:cNvSpPr txBox="1">
            <a:spLocks noGrp="1"/>
          </p:cNvSpPr>
          <p:nvPr>
            <p:ph type="body" idx="1"/>
          </p:nvPr>
        </p:nvSpPr>
        <p:spPr>
          <a:xfrm>
            <a:off x="5349901" y="1335025"/>
            <a:ext cx="33831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允许进行运算符“重载”。</a:t>
            </a: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几乎所有的运算符都可以被重写。</a:t>
            </a: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zh-CN" altLang="en-US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运算符可以在类外部进行重写。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能够</a:t>
            </a:r>
            <a:r>
              <a:rPr lang="zh-CN" altLang="en-US" u="sng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扩展一个类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或接口并为其添加新功能，</a:t>
            </a:r>
            <a:r>
              <a:rPr lang="zh-CN" altLang="en-US" u="sng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而无需继承该类或</a:t>
            </a:r>
            <a:r>
              <a:rPr lang="zh-CN" altLang="en-US" i="1" u="sng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使用某些被禁用的魔法（反射）</a:t>
            </a:r>
            <a:r>
              <a:rPr lang="en-US" i="1" u="sng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  <a:endParaRPr i="1" u="sng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1" u="sng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F51B5"/>
                </a:solidFill>
              </a:rPr>
              <a:t>fun</a:t>
            </a:r>
            <a:r>
              <a:rPr lang="en" dirty="0">
                <a:solidFill>
                  <a:srgbClr val="37474F"/>
                </a:solidFill>
              </a:rPr>
              <a:t> &lt;T&gt; MutableList&lt;T&gt;.swap(index1: Int, index2: Int) {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tmp = </a:t>
            </a:r>
            <a:r>
              <a:rPr lang="en" dirty="0">
                <a:solidFill>
                  <a:srgbClr val="3F51B5"/>
                </a:solidFill>
              </a:rPr>
              <a:t>this</a:t>
            </a:r>
            <a:r>
              <a:rPr lang="en" dirty="0">
                <a:solidFill>
                  <a:srgbClr val="37474F"/>
                </a:solidFill>
              </a:rPr>
              <a:t>[index1] </a:t>
            </a:r>
            <a:r>
              <a:rPr lang="en" dirty="0">
                <a:solidFill>
                  <a:srgbClr val="D81B60"/>
                </a:solidFill>
              </a:rPr>
              <a:t>// </a:t>
            </a:r>
            <a:r>
              <a:rPr lang="en-US" dirty="0">
                <a:solidFill>
                  <a:srgbClr val="D81B60"/>
                </a:solidFill>
              </a:rPr>
              <a:t>'this' </a:t>
            </a:r>
            <a:r>
              <a:rPr lang="zh-CN" altLang="en-US" dirty="0">
                <a:solidFill>
                  <a:srgbClr val="D81B60"/>
                </a:solidFill>
              </a:rPr>
              <a:t>指代当前的 </a:t>
            </a:r>
            <a:r>
              <a:rPr lang="en-US" dirty="0" err="1">
                <a:solidFill>
                  <a:srgbClr val="D81B60"/>
                </a:solidFill>
              </a:rPr>
              <a:t>MutableList</a:t>
            </a:r>
            <a:r>
              <a:rPr lang="en-US" dirty="0">
                <a:solidFill>
                  <a:srgbClr val="D81B60"/>
                </a:solidFill>
              </a:rPr>
              <a:t>&lt;T&gt;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</a:t>
            </a:r>
            <a:r>
              <a:rPr lang="en" dirty="0">
                <a:solidFill>
                  <a:srgbClr val="3F51B5"/>
                </a:solidFill>
              </a:rPr>
              <a:t>this</a:t>
            </a:r>
            <a:r>
              <a:rPr lang="en" dirty="0">
                <a:solidFill>
                  <a:srgbClr val="37474F"/>
                </a:solidFill>
              </a:rPr>
              <a:t>[index1] = </a:t>
            </a:r>
            <a:r>
              <a:rPr lang="en" dirty="0">
                <a:solidFill>
                  <a:srgbClr val="3F51B5"/>
                </a:solidFill>
              </a:rPr>
              <a:t>this</a:t>
            </a:r>
            <a:r>
              <a:rPr lang="en" dirty="0">
                <a:solidFill>
                  <a:srgbClr val="37474F"/>
                </a:solidFill>
              </a:rPr>
              <a:t>[index2]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 </a:t>
            </a:r>
            <a:r>
              <a:rPr lang="en" dirty="0">
                <a:solidFill>
                  <a:srgbClr val="3F51B5"/>
                </a:solidFill>
              </a:rPr>
              <a:t>this</a:t>
            </a:r>
            <a:r>
              <a:rPr lang="en" dirty="0">
                <a:solidFill>
                  <a:srgbClr val="37474F"/>
                </a:solidFill>
              </a:rPr>
              <a:t>[index2] = tmp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7474F"/>
                </a:solidFill>
              </a:rPr>
              <a:t>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如果被扩展的类</a:t>
            </a:r>
            <a:r>
              <a:rPr lang="zh-CN" altLang="en-US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已经拥有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一个具有相同名称和签名的新方法，则会优先使用</a:t>
            </a:r>
            <a:r>
              <a:rPr lang="zh-CN" altLang="en-US" b="1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原始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扩展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被扩展的类本身完全不会改变；扩展仅仅是一个可以像方法一样被调用的新函数。例如，它无法访问类的私有成员。</a:t>
            </a:r>
          </a:p>
          <a:p>
            <a:pPr marL="0" marR="102235" lvl="0" indent="0" algn="l" rtl="0">
              <a:lnSpc>
                <a:spcPct val="106666"/>
              </a:lnSpc>
              <a:spcBef>
                <a:spcPts val="7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扩展采用的是静态分发，而不是基于接收者类型的虚拟分发。调用的扩展函数是由调用该函数的表达式类型决定的，而不是由运行时评估该表达式所得结果的类型决定的。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open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Shape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Rectangle: Shape()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Shape.getName() = </a:t>
            </a:r>
            <a:r>
              <a:rPr lang="en" sz="1100" dirty="0">
                <a:solidFill>
                  <a:srgbClr val="388E3C"/>
                </a:solidFill>
              </a:rPr>
              <a:t>"Shape"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Rectangle.getName() = </a:t>
            </a:r>
            <a:r>
              <a:rPr lang="en" sz="1100" dirty="0">
                <a:solidFill>
                  <a:srgbClr val="388E3C"/>
                </a:solidFill>
              </a:rPr>
              <a:t>"Rectangle"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printClassName(s: Shape)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println(s.getName())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printClassName(Rectangle()) </a:t>
            </a:r>
            <a:r>
              <a:rPr lang="en" sz="1100" dirty="0">
                <a:solidFill>
                  <a:srgbClr val="388E3C"/>
                </a:solidFill>
              </a:rPr>
              <a:t>// </a:t>
            </a:r>
            <a:r>
              <a:rPr lang="zh-CN" altLang="en-US" sz="1100" dirty="0">
                <a:solidFill>
                  <a:srgbClr val="388E3C"/>
                </a:solidFill>
              </a:rPr>
              <a:t>输出 </a:t>
            </a:r>
            <a:r>
              <a:rPr lang="en-US" altLang="zh-CN" sz="1100" dirty="0">
                <a:solidFill>
                  <a:srgbClr val="388E3C"/>
                </a:solidFill>
              </a:rPr>
              <a:t>"</a:t>
            </a:r>
            <a:r>
              <a:rPr lang="en-US" sz="1100" dirty="0">
                <a:solidFill>
                  <a:srgbClr val="388E3C"/>
                </a:solidFill>
              </a:rPr>
              <a:t>Shape"，</a:t>
            </a:r>
            <a:r>
              <a:rPr lang="zh-CN" altLang="en-US" sz="1100" dirty="0">
                <a:solidFill>
                  <a:srgbClr val="388E3C"/>
                </a:solidFill>
              </a:rPr>
              <a:t>而不是 </a:t>
            </a:r>
            <a:r>
              <a:rPr lang="en-US" altLang="zh-CN" sz="1100" dirty="0">
                <a:solidFill>
                  <a:srgbClr val="388E3C"/>
                </a:solidFill>
              </a:rPr>
              <a:t>"</a:t>
            </a:r>
            <a:r>
              <a:rPr lang="en-US" sz="1100" dirty="0">
                <a:solidFill>
                  <a:srgbClr val="388E3C"/>
                </a:solidFill>
              </a:rPr>
              <a:t>Rectangle"</a:t>
            </a:r>
            <a:endParaRPr sz="1100" dirty="0">
              <a:solidFill>
                <a:srgbClr val="388E3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59" name="Google Shape;259;p3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扩展背后的原理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F51B5"/>
                </a:solidFill>
              </a:rPr>
              <a:t>data</a:t>
            </a:r>
            <a:r>
              <a:rPr lang="en" dirty="0">
                <a:solidFill>
                  <a:srgbClr val="37474F"/>
                </a:solidFill>
              </a:rPr>
              <a:t> </a:t>
            </a:r>
            <a:r>
              <a:rPr lang="en" dirty="0">
                <a:solidFill>
                  <a:srgbClr val="3F51B5"/>
                </a:solidFill>
              </a:rPr>
              <a:t>class</a:t>
            </a:r>
            <a:r>
              <a:rPr lang="en" dirty="0">
                <a:solidFill>
                  <a:srgbClr val="37474F"/>
                </a:solidFill>
              </a:rPr>
              <a:t> Person(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name: String, 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surname: String)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F51B5"/>
                </a:solidFill>
              </a:rPr>
              <a:t>infix</a:t>
            </a:r>
            <a:r>
              <a:rPr lang="en" dirty="0">
                <a:solidFill>
                  <a:srgbClr val="37474F"/>
                </a:solidFill>
              </a:rPr>
              <a:t> </a:t>
            </a:r>
            <a:r>
              <a:rPr lang="en" dirty="0">
                <a:solidFill>
                  <a:srgbClr val="3F51B5"/>
                </a:solidFill>
              </a:rPr>
              <a:t>fun</a:t>
            </a:r>
            <a:r>
              <a:rPr lang="en" dirty="0">
                <a:solidFill>
                  <a:srgbClr val="37474F"/>
                </a:solidFill>
              </a:rPr>
              <a:t> String.with(other: String) = Person(</a:t>
            </a:r>
            <a:r>
              <a:rPr lang="en" dirty="0">
                <a:solidFill>
                  <a:srgbClr val="3F51B5"/>
                </a:solidFill>
              </a:rPr>
              <a:t>this</a:t>
            </a:r>
            <a:r>
              <a:rPr lang="en" dirty="0">
                <a:solidFill>
                  <a:srgbClr val="37474F"/>
                </a:solidFill>
              </a:rPr>
              <a:t>, other)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F51B5"/>
                </a:solidFill>
              </a:rPr>
              <a:t>fun</a:t>
            </a:r>
            <a:r>
              <a:rPr lang="en" dirty="0">
                <a:solidFill>
                  <a:srgbClr val="37474F"/>
                </a:solidFill>
              </a:rPr>
              <a:t> main() {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realHero = </a:t>
            </a:r>
            <a:r>
              <a:rPr lang="en" dirty="0">
                <a:solidFill>
                  <a:srgbClr val="008000"/>
                </a:solidFill>
              </a:rPr>
              <a:t>"Ryan"</a:t>
            </a:r>
            <a:r>
              <a:rPr lang="en" dirty="0">
                <a:solidFill>
                  <a:srgbClr val="37474F"/>
                </a:solidFill>
              </a:rPr>
              <a:t> </a:t>
            </a:r>
            <a:r>
              <a:rPr lang="en" i="1" dirty="0">
                <a:solidFill>
                  <a:srgbClr val="37474F"/>
                </a:solidFill>
              </a:rPr>
              <a:t>with</a:t>
            </a:r>
            <a:r>
              <a:rPr lang="en" dirty="0">
                <a:solidFill>
                  <a:srgbClr val="37474F"/>
                </a:solidFill>
              </a:rPr>
              <a:t> </a:t>
            </a:r>
            <a:r>
              <a:rPr lang="en" dirty="0">
                <a:solidFill>
                  <a:srgbClr val="008000"/>
                </a:solidFill>
              </a:rPr>
              <a:t>"Gosling"</a:t>
            </a:r>
            <a:endParaRPr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   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(real, bean) = realHero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37474F"/>
                </a:solidFill>
              </a:rPr>
              <a:t>}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3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中缀函数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8900" cy="13383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SomeData(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list: List&lt;Int&gt;)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operator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component1() = list.first()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operator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component2() = SomeData(list.subList(1, list.size))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operator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component3() = </a:t>
            </a:r>
            <a:r>
              <a:rPr lang="en" sz="1100" dirty="0">
                <a:solidFill>
                  <a:srgbClr val="008000"/>
                </a:solidFill>
              </a:rPr>
              <a:t>"This is weird"</a:t>
            </a:r>
            <a:endParaRPr sz="1100" dirty="0">
              <a:solidFill>
                <a:srgbClr val="00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main()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sd = SomeData(listOf(1, 2, 3))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(head, tail, msg) = sd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(h, t) = sd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(onlyComponent1) = sd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/>
          </a:p>
        </p:txBody>
      </p:sp>
      <p:sp>
        <p:nvSpPr>
          <p:cNvPr id="271" name="Google Shape;271;p3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ComponentN </a:t>
            </a:r>
            <a:r>
              <a:rPr lang="zh-CN" altLang="en-US" dirty="0"/>
              <a:t>运算符</a:t>
            </a:r>
            <a:endParaRPr dirty="0"/>
          </a:p>
        </p:txBody>
      </p:sp>
      <p:sp>
        <p:nvSpPr>
          <p:cNvPr id="272" name="Google Shape;272;p39"/>
          <p:cNvSpPr txBox="1">
            <a:spLocks noGrp="1"/>
          </p:cNvSpPr>
          <p:nvPr>
            <p:ph type="body" idx="1"/>
          </p:nvPr>
        </p:nvSpPr>
        <p:spPr>
          <a:xfrm>
            <a:off x="5065825" y="2571745"/>
            <a:ext cx="3431100" cy="13383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任何类都可以重载任意数量的 </a:t>
            </a:r>
            <a:r>
              <a:rPr lang="en-US" altLang="zh-CN" sz="1100" dirty="0" err="1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componentN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方法，这些方法可用于解构声明。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lang="zh-CN" altLang="en-US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数据类默认拥有这些方法。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F51B5"/>
                </a:solidFill>
              </a:rPr>
              <a:t>data</a:t>
            </a:r>
            <a:r>
              <a:rPr lang="en" dirty="0">
                <a:solidFill>
                  <a:srgbClr val="37474F"/>
                </a:solidFill>
              </a:rPr>
              <a:t> </a:t>
            </a:r>
            <a:r>
              <a:rPr lang="en" dirty="0">
                <a:solidFill>
                  <a:srgbClr val="3F51B5"/>
                </a:solidFill>
              </a:rPr>
              <a:t>class</a:t>
            </a:r>
            <a:r>
              <a:rPr lang="en" dirty="0">
                <a:solidFill>
                  <a:srgbClr val="37474F"/>
                </a:solidFill>
              </a:rPr>
              <a:t> User(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name: String, </a:t>
            </a:r>
            <a:r>
              <a:rPr lang="en" dirty="0">
                <a:solidFill>
                  <a:srgbClr val="3F51B5"/>
                </a:solidFill>
              </a:rPr>
              <a:t>val</a:t>
            </a:r>
            <a:r>
              <a:rPr lang="en" dirty="0">
                <a:solidFill>
                  <a:srgbClr val="37474F"/>
                </a:solidFill>
              </a:rPr>
              <a:t> age: Int)</a:t>
            </a:r>
            <a:endParaRPr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编译器会自动推导出：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equals()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dirty="0"/>
              <a:t>hashCode()</a:t>
            </a:r>
            <a:endParaRPr dirty="0"/>
          </a:p>
          <a:p>
            <a:pPr lvl="0">
              <a:spcBef>
                <a:spcPts val="1000"/>
              </a:spcBef>
              <a:buFont typeface="Open Sans"/>
              <a:buChar char="●"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</a:rPr>
              <a:t>格式为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dirty="0"/>
              <a:t>User(name=John, age=42)</a:t>
            </a:r>
            <a:r>
              <a:rPr lang="en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</a:rPr>
              <a:t>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</a:rPr>
              <a:t>的 </a:t>
            </a:r>
            <a:r>
              <a:rPr lang="en" altLang="zh-CN" dirty="0"/>
              <a:t>toString()</a:t>
            </a:r>
            <a:r>
              <a:rPr lang="en" altLang="zh-C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</a:rPr>
              <a:t>与属性按声明顺序对应的 </a:t>
            </a:r>
            <a:r>
              <a:rPr lang="en" dirty="0"/>
              <a:t>componentN()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solidFill>
                  <a:schemeClr val="accent1"/>
                </a:solidFill>
                <a:uFill>
                  <a:noFill/>
                </a:u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函数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dirty="0"/>
              <a:t>copy()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用于复制对象，允许您修改其中某些属性，同时保持其余属性不变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标准库提供了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dirty="0"/>
              <a:t>Pair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和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dirty="0"/>
              <a:t>Triple</a:t>
            </a:r>
            <a:r>
              <a:rPr lang="en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类，但命名数据类是更好的设计选择。</a:t>
            </a:r>
            <a:endParaRPr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sp>
        <p:nvSpPr>
          <p:cNvPr id="278" name="Google Shape;278;p4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数据类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marR="27559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有时你需要对类进行封装，但封装总会带来内存和执行时间的开销。内联类或许能帮助你实现所需的行为，同时避免因性能下降而付出代价。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695"/>
              </a:spcBef>
              <a:spcAft>
                <a:spcPts val="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F51B5"/>
                </a:solidFill>
              </a:rPr>
              <a:t>interface</a:t>
            </a:r>
            <a:r>
              <a:rPr lang="en" sz="1100" dirty="0">
                <a:solidFill>
                  <a:srgbClr val="37474F"/>
                </a:solidFill>
              </a:rPr>
              <a:t> Greeter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greet(): Unit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MyGreeter(</a:t>
            </a:r>
            <a:r>
              <a:rPr lang="en" sz="1100" dirty="0">
                <a:solidFill>
                  <a:srgbClr val="3F51B5"/>
                </a:solidFill>
              </a:rPr>
              <a:t>var</a:t>
            </a:r>
            <a:r>
              <a:rPr lang="en" sz="1100" dirty="0">
                <a:solidFill>
                  <a:srgbClr val="37474F"/>
                </a:solidFill>
              </a:rPr>
              <a:t> myNameToday: String) : Greeter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greet() = println(</a:t>
            </a:r>
            <a:r>
              <a:rPr lang="en" sz="1100" dirty="0">
                <a:solidFill>
                  <a:srgbClr val="008000"/>
                </a:solidFill>
              </a:rPr>
              <a:t>"Hello, $myNameToday!"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CC7832"/>
                </a:solidFill>
              </a:rPr>
              <a:t>@JvmInline</a:t>
            </a:r>
            <a:endParaRPr sz="1100" dirty="0">
              <a:solidFill>
                <a:srgbClr val="CC783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008000"/>
                </a:solidFill>
              </a:rPr>
              <a:t>/* final */ </a:t>
            </a:r>
            <a:r>
              <a:rPr lang="en" sz="1100" dirty="0">
                <a:solidFill>
                  <a:srgbClr val="3F51B5"/>
                </a:solidFill>
              </a:rPr>
              <a:t>value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BadDayGreeter(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greeter: Greeter) : Greeter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greet()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greeter.greet()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println(</a:t>
            </a:r>
            <a:r>
              <a:rPr lang="en" sz="1100" dirty="0">
                <a:solidFill>
                  <a:srgbClr val="008000"/>
                </a:solidFill>
              </a:rPr>
              <a:t>"Having a bad day, huh?"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84" name="Google Shape;284;p41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内联（值）类</a:t>
            </a:r>
            <a:endParaRPr dirty="0"/>
          </a:p>
        </p:txBody>
      </p:sp>
      <p:sp>
        <p:nvSpPr>
          <p:cNvPr id="285" name="Google Shape;285;p41"/>
          <p:cNvSpPr txBox="1"/>
          <p:nvPr/>
        </p:nvSpPr>
        <p:spPr>
          <a:xfrm>
            <a:off x="5568125" y="4297750"/>
            <a:ext cx="3456600" cy="677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</a:t>
            </a: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greeter: Greeter = MyGreeter(</a:t>
            </a:r>
            <a:r>
              <a:rPr lang="en" sz="800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"Cyr"</a:t>
            </a: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(today.isBad()) { greeter = BadDayGreeter(greeter) }</a:t>
            </a:r>
            <a:endParaRPr sz="800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greeter.greet()</a:t>
            </a:r>
            <a:endParaRPr sz="800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内联类必须且仅有一个主要构造函数参数。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内联类可以实现接口、声明属性（不包含后备字段）并包含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/>
              <a:t>init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块。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内联类不允许参与类继承体系，也就是说它们会被自动标记为 </a:t>
            </a:r>
            <a:r>
              <a:rPr lang="en-US" altLang="zh-CN" sz="1100" dirty="0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final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编译器会尝试利用底层类型生成性能最佳的代码。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CC7832"/>
                </a:solidFill>
              </a:rPr>
              <a:t>@JvmInline</a:t>
            </a:r>
            <a:endParaRPr sz="800" dirty="0">
              <a:solidFill>
                <a:srgbClr val="CC783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008000"/>
                </a:solidFill>
              </a:rPr>
              <a:t>/* final */ </a:t>
            </a:r>
            <a:r>
              <a:rPr lang="en" sz="800" dirty="0">
                <a:solidFill>
                  <a:srgbClr val="3F51B5"/>
                </a:solidFill>
              </a:rPr>
              <a:t>value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class</a:t>
            </a:r>
            <a:r>
              <a:rPr lang="en" sz="800" dirty="0">
                <a:solidFill>
                  <a:srgbClr val="37474F"/>
                </a:solidFill>
              </a:rPr>
              <a:t> Name(</a:t>
            </a:r>
            <a:r>
              <a:rPr lang="en" sz="800" dirty="0">
                <a:solidFill>
                  <a:srgbClr val="3F51B5"/>
                </a:solidFill>
              </a:rPr>
              <a:t>val</a:t>
            </a:r>
            <a:r>
              <a:rPr lang="en" sz="800" dirty="0">
                <a:solidFill>
                  <a:srgbClr val="37474F"/>
                </a:solidFill>
              </a:rPr>
              <a:t> name: String) : Greeter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init</a:t>
            </a:r>
            <a:r>
              <a:rPr lang="en" sz="800" dirty="0">
                <a:solidFill>
                  <a:srgbClr val="37474F"/>
                </a:solidFill>
              </a:rPr>
              <a:t> {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i="1" dirty="0">
                <a:solidFill>
                  <a:srgbClr val="37474F"/>
                </a:solidFill>
              </a:rPr>
              <a:t>require</a:t>
            </a:r>
            <a:r>
              <a:rPr lang="en" sz="800" dirty="0">
                <a:solidFill>
                  <a:srgbClr val="37474F"/>
                </a:solidFill>
              </a:rPr>
              <a:t>(name.isNotEmpty()) { </a:t>
            </a:r>
            <a:r>
              <a:rPr lang="en" sz="800" dirty="0">
                <a:solidFill>
                  <a:srgbClr val="008000"/>
                </a:solidFill>
              </a:rPr>
              <a:t>"An empty name is absurd!"</a:t>
            </a:r>
            <a:r>
              <a:rPr lang="en" sz="800" dirty="0">
                <a:solidFill>
                  <a:srgbClr val="37474F"/>
                </a:solidFill>
              </a:rPr>
              <a:t>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  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808080"/>
                </a:solidFill>
              </a:rPr>
              <a:t>// val withABackingField: String = "Not allowed"</a:t>
            </a:r>
            <a:endParaRPr sz="800" dirty="0">
              <a:solidFill>
                <a:srgbClr val="8080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var</a:t>
            </a:r>
            <a:r>
              <a:rPr lang="en" sz="800" dirty="0">
                <a:solidFill>
                  <a:srgbClr val="37474F"/>
                </a:solidFill>
              </a:rPr>
              <a:t> length: Int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get</a:t>
            </a:r>
            <a:r>
              <a:rPr lang="en" sz="800" dirty="0">
                <a:solidFill>
                  <a:srgbClr val="37474F"/>
                </a:solidFill>
              </a:rPr>
              <a:t>() = name.length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       </a:t>
            </a:r>
            <a:r>
              <a:rPr lang="en" sz="800" dirty="0">
                <a:solidFill>
                  <a:srgbClr val="3F51B5"/>
                </a:solidFill>
              </a:rPr>
              <a:t>set</a:t>
            </a:r>
            <a:r>
              <a:rPr lang="en" sz="800" dirty="0">
                <a:solidFill>
                  <a:srgbClr val="37474F"/>
                </a:solidFill>
              </a:rPr>
              <a:t>(value) { println(</a:t>
            </a:r>
            <a:r>
              <a:rPr lang="en" sz="800" dirty="0">
                <a:solidFill>
                  <a:srgbClr val="008000"/>
                </a:solidFill>
              </a:rPr>
              <a:t>"What do you expect to happen?"</a:t>
            </a:r>
            <a:r>
              <a:rPr lang="en" sz="800" dirty="0">
                <a:solidFill>
                  <a:srgbClr val="37474F"/>
                </a:solidFill>
              </a:rPr>
              <a:t>) 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   </a:t>
            </a:r>
            <a:r>
              <a:rPr lang="en" sz="800" dirty="0">
                <a:solidFill>
                  <a:srgbClr val="3F51B5"/>
                </a:solidFill>
              </a:rPr>
              <a:t>override</a:t>
            </a:r>
            <a:r>
              <a:rPr lang="en" sz="800" dirty="0">
                <a:solidFill>
                  <a:srgbClr val="37474F"/>
                </a:solidFill>
              </a:rPr>
              <a:t> </a:t>
            </a:r>
            <a:r>
              <a:rPr lang="en" sz="800" dirty="0">
                <a:solidFill>
                  <a:srgbClr val="3F51B5"/>
                </a:solidFill>
              </a:rPr>
              <a:t>fun</a:t>
            </a:r>
            <a:r>
              <a:rPr lang="en" sz="800" dirty="0">
                <a:solidFill>
                  <a:srgbClr val="37474F"/>
                </a:solidFill>
              </a:rPr>
              <a:t> greet() { println(</a:t>
            </a:r>
            <a:r>
              <a:rPr lang="en" sz="800" dirty="0">
                <a:solidFill>
                  <a:srgbClr val="008000"/>
                </a:solidFill>
              </a:rPr>
              <a:t>"Hello, $name"</a:t>
            </a:r>
            <a:r>
              <a:rPr lang="en" sz="800" dirty="0">
                <a:solidFill>
                  <a:srgbClr val="37474F"/>
                </a:solidFill>
              </a:rPr>
              <a:t>) }</a:t>
            </a:r>
            <a:endParaRPr sz="8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</a:rPr>
              <a:t>}</a:t>
            </a:r>
            <a:endParaRPr sz="8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91" name="Google Shape;291;p42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内联（值）类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marR="23304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由于内联类只是包装器，且编译器会尝试使用底层类型，因此引入了名称修饰机制来解决可能出现的签名冲突问题。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95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foo(name: Name) { ... } -&gt; </a:t>
            </a:r>
            <a:r>
              <a:rPr lang="en" sz="1100" dirty="0">
                <a:solidFill>
                  <a:srgbClr val="3F51B5"/>
                </a:solidFill>
              </a:rPr>
              <a:t>public final void </a:t>
            </a:r>
            <a:r>
              <a:rPr lang="en" sz="1100" dirty="0">
                <a:solidFill>
                  <a:srgbClr val="37474F"/>
                </a:solidFill>
              </a:rPr>
              <a:t>foo-&lt;stable-hashcode&gt;(name: String) { ...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foo(name: String) { ... } -&gt; </a:t>
            </a:r>
            <a:r>
              <a:rPr lang="en" sz="1100" dirty="0">
                <a:solidFill>
                  <a:srgbClr val="3F51B5"/>
                </a:solidFill>
              </a:rPr>
              <a:t>public final void </a:t>
            </a:r>
            <a:r>
              <a:rPr lang="en" sz="1100" dirty="0">
                <a:solidFill>
                  <a:srgbClr val="37474F"/>
                </a:solidFill>
              </a:rPr>
              <a:t>foo(name: String) { ... }</a:t>
            </a:r>
            <a:br>
              <a:rPr lang="en" sz="1100" dirty="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若要在 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Java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代码中调用此类函数，应使用</a:t>
            </a:r>
            <a:r>
              <a:rPr lang="en" sz="1100" dirty="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100" dirty="0">
                <a:solidFill>
                  <a:srgbClr val="CC7832"/>
                </a:solidFill>
              </a:rPr>
              <a:t>@JvmName</a:t>
            </a:r>
            <a:r>
              <a:rPr lang="en" sz="1100" dirty="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注解。</a:t>
            </a:r>
            <a:endParaRPr lang="en-US" altLang="zh-CN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CC7832"/>
                </a:solidFill>
              </a:rPr>
              <a:t>@JvmName("fooName")</a:t>
            </a:r>
            <a:endParaRPr sz="1100" dirty="0">
              <a:solidFill>
                <a:srgbClr val="CC783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foo(name: Name) { ... } -&gt; </a:t>
            </a:r>
            <a:r>
              <a:rPr lang="en" sz="1100" dirty="0">
                <a:solidFill>
                  <a:srgbClr val="3F51B5"/>
                </a:solidFill>
              </a:rPr>
              <a:t>public final void </a:t>
            </a:r>
            <a:r>
              <a:rPr lang="en" sz="1100" dirty="0">
                <a:solidFill>
                  <a:srgbClr val="37474F"/>
                </a:solidFill>
              </a:rPr>
              <a:t>fooName(name: String) { ... }</a:t>
            </a: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297" name="Google Shape;297;p43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内联（值）类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8900" cy="33306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enum class</a:t>
            </a:r>
            <a:r>
              <a:rPr lang="en" sz="1100" dirty="0">
                <a:solidFill>
                  <a:srgbClr val="19191C"/>
                </a:solidFill>
              </a:rPr>
              <a:t> </a:t>
            </a:r>
            <a:r>
              <a:rPr lang="en" sz="1100" dirty="0">
                <a:solidFill>
                  <a:srgbClr val="37474F"/>
                </a:solidFill>
              </a:rPr>
              <a:t>Direction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NORTH, SOUTH, WEST, EAST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每个枚举常量都是一个对象。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每个枚举都是枚举类的实例，因此可以这样初始化：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enum class</a:t>
            </a:r>
            <a:r>
              <a:rPr lang="en" sz="1100" dirty="0">
                <a:solidFill>
                  <a:srgbClr val="37474F"/>
                </a:solidFill>
              </a:rPr>
              <a:t> Color(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rgb: Int)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D81B60"/>
                </a:solidFill>
              </a:rPr>
              <a:t>RED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D81B60"/>
                </a:solidFill>
              </a:rPr>
              <a:t>0xFF0000</a:t>
            </a:r>
            <a:r>
              <a:rPr lang="en" sz="1100" dirty="0">
                <a:solidFill>
                  <a:srgbClr val="37474F"/>
                </a:solidFill>
              </a:rPr>
              <a:t>),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D81B60"/>
                </a:solidFill>
              </a:rPr>
              <a:t>GREEN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D81B60"/>
                </a:solidFill>
              </a:rPr>
              <a:t>0x00FF00</a:t>
            </a:r>
            <a:r>
              <a:rPr lang="en" sz="1100" dirty="0">
                <a:solidFill>
                  <a:srgbClr val="37474F"/>
                </a:solidFill>
              </a:rPr>
              <a:t>),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D81B60"/>
                </a:solidFill>
              </a:rPr>
              <a:t>BLUE</a:t>
            </a:r>
            <a:r>
              <a:rPr lang="en" sz="1100" dirty="0">
                <a:solidFill>
                  <a:srgbClr val="37474F"/>
                </a:solidFill>
              </a:rPr>
              <a:t>(</a:t>
            </a:r>
            <a:r>
              <a:rPr lang="en" sz="1100" dirty="0">
                <a:solidFill>
                  <a:srgbClr val="D81B60"/>
                </a:solidFill>
              </a:rPr>
              <a:t>0x0000FF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枚举类可以拥有方法，甚至可以实现接口。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303" name="Google Shape;303;p44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枚举类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8900" cy="2980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user = User(</a:t>
            </a:r>
            <a:r>
              <a:rPr lang="en" sz="1100" dirty="0">
                <a:solidFill>
                  <a:srgbClr val="388E3C"/>
                </a:solidFill>
              </a:rPr>
              <a:t>"John"</a:t>
            </a:r>
            <a:r>
              <a:rPr lang="en" sz="1100" dirty="0">
                <a:solidFill>
                  <a:srgbClr val="37474F"/>
                </a:solidFill>
              </a:rPr>
              <a:t>, 23)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(name, age) = user // </a:t>
            </a:r>
            <a:r>
              <a:rPr lang="zh-CN" altLang="en-US" sz="1100" dirty="0">
                <a:solidFill>
                  <a:srgbClr val="37474F"/>
                </a:solidFill>
              </a:rPr>
              <a:t>解构声明会调用 </a:t>
            </a:r>
            <a:r>
              <a:rPr lang="en-US" sz="1100" dirty="0" err="1">
                <a:solidFill>
                  <a:srgbClr val="37474F"/>
                </a:solidFill>
              </a:rPr>
              <a:t>componentN</a:t>
            </a:r>
            <a:r>
              <a:rPr lang="en-US" sz="1100" dirty="0">
                <a:solidFill>
                  <a:srgbClr val="37474F"/>
                </a:solidFill>
              </a:rPr>
              <a:t>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(onlyName) = user 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olderUser = user.copy(age = 42)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g = Color.valueOf(</a:t>
            </a:r>
            <a:r>
              <a:rPr lang="en" sz="1100" dirty="0">
                <a:solidFill>
                  <a:srgbClr val="388E3C"/>
                </a:solidFill>
              </a:rPr>
              <a:t>"green"</a:t>
            </a:r>
            <a:r>
              <a:rPr lang="en" sz="1100" dirty="0">
                <a:solidFill>
                  <a:srgbClr val="37474F"/>
                </a:solidFill>
              </a:rPr>
              <a:t>.uppercase())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(g)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Color.RED -&gt; println(</a:t>
            </a:r>
            <a:r>
              <a:rPr lang="en" sz="1100" dirty="0">
                <a:solidFill>
                  <a:srgbClr val="388E3C"/>
                </a:solidFill>
              </a:rPr>
              <a:t>"blood"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Color.GREEN -&gt; println(</a:t>
            </a:r>
            <a:r>
              <a:rPr lang="en" sz="1100" dirty="0">
                <a:solidFill>
                  <a:srgbClr val="388E3C"/>
                </a:solidFill>
              </a:rPr>
              <a:t>"grass"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Color.BLUE -&gt; println(</a:t>
            </a:r>
            <a:r>
              <a:rPr lang="en" sz="1100" dirty="0">
                <a:solidFill>
                  <a:srgbClr val="388E3C"/>
                </a:solidFill>
              </a:rPr>
              <a:t>"sky"</a:t>
            </a:r>
            <a:r>
              <a:rPr lang="en" sz="1100" dirty="0">
                <a:solidFill>
                  <a:srgbClr val="37474F"/>
                </a:solidFill>
              </a:rPr>
              <a:t>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19191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309" name="Google Shape;309;p45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Kotlin </a:t>
            </a:r>
            <a:r>
              <a:rPr lang="zh-CN" altLang="en-US" dirty="0"/>
              <a:t>示例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>
            <a:spLocks noGrp="1"/>
          </p:cNvSpPr>
          <p:nvPr>
            <p:ph type="body" idx="1"/>
          </p:nvPr>
        </p:nvSpPr>
        <p:spPr>
          <a:xfrm>
            <a:off x="292604" y="1335025"/>
            <a:ext cx="40581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sealed</a:t>
            </a:r>
            <a:r>
              <a:rPr lang="en" sz="1100" dirty="0">
                <a:solidFill>
                  <a:srgbClr val="37474F"/>
                </a:solidFill>
              </a:rPr>
              <a:t> class Base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open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var</a:t>
            </a:r>
            <a:r>
              <a:rPr lang="en" sz="1100" dirty="0">
                <a:solidFill>
                  <a:srgbClr val="37474F"/>
                </a:solidFill>
              </a:rPr>
              <a:t> value: Int = 23</a:t>
            </a: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   open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foo() = value * 2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open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Child1 : Base()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foo() = value * 3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final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override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var</a:t>
            </a:r>
            <a:r>
              <a:rPr lang="en" sz="1100" dirty="0">
                <a:solidFill>
                  <a:srgbClr val="37474F"/>
                </a:solidFill>
              </a:rPr>
              <a:t> value: Int = 10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</a:t>
            </a:r>
            <a:r>
              <a:rPr lang="en" sz="1100" dirty="0">
                <a:solidFill>
                  <a:srgbClr val="3F51B5"/>
                </a:solidFill>
              </a:rPr>
              <a:t>set</a:t>
            </a:r>
            <a:r>
              <a:rPr lang="en" sz="1100" dirty="0">
                <a:solidFill>
                  <a:srgbClr val="37474F"/>
                </a:solidFill>
              </a:rPr>
              <a:t>(value) = run { field = </a:t>
            </a:r>
            <a:r>
              <a:rPr lang="en" sz="1100" dirty="0">
                <a:solidFill>
                  <a:srgbClr val="3F51B5"/>
                </a:solidFill>
              </a:rPr>
              <a:t>super</a:t>
            </a:r>
            <a:r>
              <a:rPr lang="en" sz="1100" dirty="0">
                <a:solidFill>
                  <a:srgbClr val="37474F"/>
                </a:solidFill>
              </a:rPr>
              <a:t>.foo()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class</a:t>
            </a:r>
            <a:r>
              <a:rPr lang="en" sz="1100" dirty="0">
                <a:solidFill>
                  <a:srgbClr val="37474F"/>
                </a:solidFill>
              </a:rPr>
              <a:t> Child2 : Base()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b: Base = Child1()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when</a:t>
            </a:r>
            <a:r>
              <a:rPr lang="en" sz="1100" dirty="0">
                <a:solidFill>
                  <a:srgbClr val="37474F"/>
                </a:solidFill>
              </a:rPr>
              <a:t>(b)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Child1 -&gt; println(1)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</a:t>
            </a:r>
            <a:r>
              <a:rPr lang="en" sz="1100" dirty="0">
                <a:solidFill>
                  <a:srgbClr val="3F51B5"/>
                </a:solidFill>
              </a:rPr>
              <a:t>is</a:t>
            </a:r>
            <a:r>
              <a:rPr lang="en" sz="1100" dirty="0">
                <a:solidFill>
                  <a:srgbClr val="37474F"/>
                </a:solidFill>
              </a:rPr>
              <a:t> Child2 -&gt; println(2)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密封类</a:t>
            </a:r>
            <a:endParaRPr dirty="0"/>
          </a:p>
        </p:txBody>
      </p:sp>
      <p:sp>
        <p:nvSpPr>
          <p:cNvPr id="316" name="Google Shape;316;p46"/>
          <p:cNvSpPr txBox="1">
            <a:spLocks noGrp="1"/>
          </p:cNvSpPr>
          <p:nvPr>
            <p:ph type="body" idx="1"/>
          </p:nvPr>
        </p:nvSpPr>
        <p:spPr>
          <a:xfrm>
            <a:off x="5067750" y="1335025"/>
            <a:ext cx="36651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sealed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类的所有继承者必须在编译时已知。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when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用法与枚举类型类似。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altLang="en-US" sz="110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以下不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限于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sealed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Raleway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将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open</a:t>
            </a:r>
            <a:r>
              <a:rPr lang="en" sz="1100" dirty="0">
                <a:solidFill>
                  <a:srgbClr val="37474F"/>
                </a:solidFill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或属性声明为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final</a:t>
            </a:r>
            <a:r>
              <a:rPr lang="en" sz="1100" dirty="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Raleway"/>
              </a:rPr>
              <a:t>来禁止对其进行重写。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Raleway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Raleway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使用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en" sz="1100" dirty="0">
                <a:solidFill>
                  <a:srgbClr val="3F51B5"/>
                </a:solidFill>
              </a:rPr>
              <a:t>super</a:t>
            </a:r>
            <a:r>
              <a:rPr lang="e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访问父类的方法。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100" dirty="0">
              <a:solidFill>
                <a:srgbClr val="3F51B5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>
            <a:spLocks noGrp="1"/>
          </p:cNvSpPr>
          <p:nvPr>
            <p:ph type="body" idx="1"/>
          </p:nvPr>
        </p:nvSpPr>
        <p:spPr>
          <a:xfrm>
            <a:off x="292600" y="1335025"/>
            <a:ext cx="8328900" cy="13212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单一抽象方法（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Single Abstract </a:t>
            </a:r>
            <a:r>
              <a:rPr lang="en-US" sz="1100" dirty="0" err="1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Method，SAM</a:t>
            </a:r>
            <a:r>
              <a:rPr 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）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接口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包含一个抽象方法。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Kotlin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允许我们使用 </a:t>
            </a:r>
            <a:r>
              <a:rPr lang="en-US" altLang="zh-CN" sz="1100" dirty="0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lambda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表达式代替类定义来实现单一抽象方法。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322" name="Google Shape;322;p47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函数式接口（单一抽象方法）</a:t>
            </a:r>
            <a:endParaRPr dirty="0"/>
          </a:p>
        </p:txBody>
      </p:sp>
      <p:sp>
        <p:nvSpPr>
          <p:cNvPr id="323" name="Google Shape;323;p47"/>
          <p:cNvSpPr txBox="1"/>
          <p:nvPr/>
        </p:nvSpPr>
        <p:spPr>
          <a:xfrm>
            <a:off x="2995800" y="249850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IntPredicate {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accept(i: Int): Boolean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4" name="Google Shape;324;p47"/>
          <p:cNvSpPr txBox="1"/>
          <p:nvPr/>
        </p:nvSpPr>
        <p:spPr>
          <a:xfrm>
            <a:off x="235500" y="3267400"/>
            <a:ext cx="41298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isEven = </a:t>
            </a: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object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: IntPredicate {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override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accept(i: Int): Boolean {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 % </a:t>
            </a:r>
            <a:r>
              <a:rPr lang="en" sz="1100" b="0" i="0" u="none" strike="noStrike" cap="none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" sz="1100" b="0" i="0" u="none" strike="noStrike" cap="none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5" name="Google Shape;325;p47"/>
          <p:cNvSpPr txBox="1"/>
          <p:nvPr/>
        </p:nvSpPr>
        <p:spPr>
          <a:xfrm>
            <a:off x="5104925" y="3410750"/>
            <a:ext cx="389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isEven = IntPredicate { it % </a:t>
            </a:r>
            <a:r>
              <a:rPr lang="en" sz="1100" b="0" i="0" u="none" strike="noStrike" cap="none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" sz="1100" b="0" i="0" u="none" strike="noStrike" cap="none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6" name="Google Shape;326;p47"/>
          <p:cNvSpPr txBox="1"/>
          <p:nvPr/>
        </p:nvSpPr>
        <p:spPr>
          <a:xfrm>
            <a:off x="2373300" y="4135650"/>
            <a:ext cx="4245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F51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main() {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println(</a:t>
            </a:r>
            <a:r>
              <a:rPr lang="en" sz="1100" b="0" i="0" u="none" strike="noStrike" cap="none" dirty="0">
                <a:solidFill>
                  <a:srgbClr val="388E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"Is 7 even? - </a:t>
            </a:r>
            <a:r>
              <a:rPr lang="en" sz="1100" b="0" i="0" u="none" strike="noStrike" cap="none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${</a:t>
            </a:r>
            <a:r>
              <a:rPr lang="en" sz="1100" b="0" i="0" u="none" strike="noStrike" cap="none" dirty="0">
                <a:solidFill>
                  <a:srgbClr val="388E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isEven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100" b="0" i="0" u="none" strike="noStrike" cap="none" dirty="0">
                <a:solidFill>
                  <a:srgbClr val="388E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accept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100" b="0" i="0" u="none" strike="noStrike" cap="none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en" sz="1100" b="0" i="0" u="none" strike="noStrike" cap="none" dirty="0">
                <a:solidFill>
                  <a:srgbClr val="C5392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r>
              <a:rPr lang="en" sz="1100" b="0" i="0" u="none" strike="noStrike" cap="none" dirty="0">
                <a:solidFill>
                  <a:srgbClr val="388E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" sz="1100" b="0" i="0" u="none" strike="noStrike" cap="none" dirty="0">
                <a:solidFill>
                  <a:srgbClr val="37474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100" b="0" i="0" u="none" strike="noStrike" cap="none" dirty="0">
              <a:solidFill>
                <a:srgbClr val="37474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7" name="Google Shape;327;p47"/>
          <p:cNvSpPr txBox="1"/>
          <p:nvPr/>
        </p:nvSpPr>
        <p:spPr>
          <a:xfrm>
            <a:off x="4247650" y="3356900"/>
            <a:ext cx="41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318C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vs</a:t>
            </a:r>
            <a:endParaRPr sz="3000" b="1" i="0" u="none" strike="noStrike" cap="none" dirty="0">
              <a:solidFill>
                <a:srgbClr val="FF318C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>
            <a:spLocks noGrp="1"/>
          </p:cNvSpPr>
          <p:nvPr>
            <p:ph type="body" idx="1"/>
          </p:nvPr>
        </p:nvSpPr>
        <p:spPr>
          <a:xfrm>
            <a:off x="292608" y="1335024"/>
            <a:ext cx="83289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F51B5"/>
                </a:solidFill>
              </a:rPr>
              <a:t>object</a:t>
            </a:r>
            <a:r>
              <a:rPr lang="en" sz="1100" dirty="0">
                <a:solidFill>
                  <a:srgbClr val="37474F"/>
                </a:solidFill>
              </a:rPr>
              <a:t> DataProviderManager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fun</a:t>
            </a:r>
            <a:r>
              <a:rPr lang="en" sz="1100" dirty="0">
                <a:solidFill>
                  <a:srgbClr val="37474F"/>
                </a:solidFill>
              </a:rPr>
              <a:t> registerDataProvider(provider: DataProvider) {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 </a:t>
            </a:r>
            <a:r>
              <a:rPr lang="en" sz="1100" dirty="0">
                <a:solidFill>
                  <a:srgbClr val="D81B60"/>
                </a:solidFill>
              </a:rPr>
              <a:t>// ...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</a:t>
            </a:r>
            <a:r>
              <a:rPr lang="en" sz="1100" dirty="0">
                <a:solidFill>
                  <a:srgbClr val="3F51B5"/>
                </a:solidFill>
              </a:rPr>
              <a:t>val</a:t>
            </a:r>
            <a:r>
              <a:rPr lang="en" sz="1100" dirty="0">
                <a:solidFill>
                  <a:srgbClr val="37474F"/>
                </a:solidFill>
              </a:rPr>
              <a:t> allDataProviders: Collection&lt;DataProvider&gt;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        </a:t>
            </a:r>
            <a:r>
              <a:rPr lang="en" sz="1100" dirty="0">
                <a:solidFill>
                  <a:srgbClr val="3F51B5"/>
                </a:solidFill>
              </a:rPr>
              <a:t>get</a:t>
            </a:r>
            <a:r>
              <a:rPr lang="en" sz="1100" dirty="0">
                <a:solidFill>
                  <a:srgbClr val="37474F"/>
                </a:solidFill>
              </a:rPr>
              <a:t>() = </a:t>
            </a:r>
            <a:r>
              <a:rPr lang="en" sz="1100" dirty="0">
                <a:solidFill>
                  <a:srgbClr val="D81B60"/>
                </a:solidFill>
              </a:rPr>
              <a:t>// ...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}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100" dirty="0">
                <a:solidFill>
                  <a:srgbClr val="37474F"/>
                </a:solidFill>
              </a:rPr>
              <a:t>DataProviderManager.registerDataProvider(...)</a:t>
            </a:r>
            <a:endParaRPr sz="110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dirty="0">
              <a:solidFill>
                <a:srgbClr val="3F51B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333" name="Google Shape;333;p48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Kotlin </a:t>
            </a:r>
            <a:r>
              <a:rPr lang="zh-CN" altLang="en-US" dirty="0"/>
              <a:t>单例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>
            <a:spLocks noGrp="1"/>
          </p:cNvSpPr>
          <p:nvPr>
            <p:ph type="body" idx="1"/>
          </p:nvPr>
        </p:nvSpPr>
        <p:spPr>
          <a:xfrm>
            <a:off x="292604" y="1335025"/>
            <a:ext cx="41262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类内部的对象声明可以使用 </a:t>
            </a:r>
            <a:r>
              <a:rPr lang="en-US" altLang="zh-CN" sz="1100" dirty="0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companion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关键字进行标记。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伴生对象类似于静态成员：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914400" lvl="1" indent="-298450" algn="l" rtl="0">
              <a:spcBef>
                <a:spcPts val="1000"/>
              </a:spcBef>
              <a:spcAft>
                <a:spcPts val="0"/>
              </a:spcAft>
              <a:buSzPts val="1100"/>
              <a:buFont typeface="Open Sans"/>
              <a:buChar char="○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工厂方法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914400" lvl="1" indent="-298450" algn="l" rtl="0">
              <a:spcBef>
                <a:spcPts val="1000"/>
              </a:spcBef>
              <a:spcAft>
                <a:spcPts val="0"/>
              </a:spcAft>
              <a:buSzPts val="1100"/>
              <a:buFont typeface="Open Sans"/>
              <a:buChar char="○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常量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914400" lvl="1" indent="-298450" algn="l" rtl="0">
              <a:spcBef>
                <a:spcPts val="1000"/>
              </a:spcBef>
              <a:spcAft>
                <a:spcPts val="0"/>
              </a:spcAft>
              <a:buSzPts val="1100"/>
              <a:buFont typeface="Open Sans"/>
              <a:buChar char="○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等等。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可见性修饰符同样适用。</a:t>
            </a:r>
            <a:endParaRPr lang="en-US" altLang="zh-CN"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使用 </a:t>
            </a:r>
            <a:r>
              <a:rPr lang="en-US" altLang="zh-CN" sz="1100" dirty="0">
                <a:latin typeface="JetBrains Mono" panose="020B0604020202020204" charset="0"/>
                <a:ea typeface="HONOR Sans CN" panose="02000500000000000000" pitchFamily="2" charset="-122"/>
                <a:cs typeface="JetBrains Mono" panose="020B0604020202020204" charset="0"/>
                <a:sym typeface="Open Sans"/>
              </a:rPr>
              <a:t>@JvmStatic</a:t>
            </a:r>
            <a:r>
              <a:rPr lang="en-US" altLang="zh-CN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 </a:t>
            </a:r>
            <a:r>
              <a:rPr lang="zh-CN" altLang="en-US" sz="1100" dirty="0">
                <a:latin typeface="HONOR Sans CN" panose="02000500000000000000" pitchFamily="2" charset="-122"/>
                <a:ea typeface="HONOR Sans CN" panose="02000500000000000000" pitchFamily="2" charset="-122"/>
                <a:cs typeface="Open Sans"/>
                <a:sym typeface="Open Sans"/>
              </a:rPr>
              <a:t>可以使其完全静态化。</a:t>
            </a:r>
            <a:endParaRPr sz="1100" dirty="0">
              <a:latin typeface="HONOR Sans CN" panose="02000500000000000000" pitchFamily="2" charset="-122"/>
              <a:ea typeface="HONOR Sans CN" panose="02000500000000000000" pitchFamily="2" charset="-122"/>
              <a:cs typeface="Open Sans"/>
              <a:sym typeface="Open Sans"/>
            </a:endParaRPr>
          </a:p>
        </p:txBody>
      </p:sp>
      <p:sp>
        <p:nvSpPr>
          <p:cNvPr id="339" name="Google Shape;339;p49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伴生对象</a:t>
            </a:r>
            <a:endParaRPr dirty="0"/>
          </a:p>
        </p:txBody>
      </p:sp>
      <p:sp>
        <p:nvSpPr>
          <p:cNvPr id="340" name="Google Shape;340;p49"/>
          <p:cNvSpPr txBox="1">
            <a:spLocks noGrp="1"/>
          </p:cNvSpPr>
          <p:nvPr>
            <p:ph type="body" idx="1"/>
          </p:nvPr>
        </p:nvSpPr>
        <p:spPr>
          <a:xfrm>
            <a:off x="4796504" y="1335025"/>
            <a:ext cx="4126200" cy="2377500"/>
          </a:xfrm>
          <a:prstGeom prst="rect">
            <a:avLst/>
          </a:prstGeom>
        </p:spPr>
        <p:txBody>
          <a:bodyPr spcFirstLastPara="1" wrap="square" lIns="0" tIns="7315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F51B5"/>
                </a:solidFill>
              </a:rPr>
              <a:t>interface</a:t>
            </a:r>
            <a:r>
              <a:rPr lang="en" sz="1150" dirty="0">
                <a:solidFill>
                  <a:srgbClr val="37474F"/>
                </a:solidFill>
              </a:rPr>
              <a:t> Factory&lt;T&gt; {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    </a:t>
            </a:r>
            <a:r>
              <a:rPr lang="en" sz="1150" dirty="0">
                <a:solidFill>
                  <a:srgbClr val="3F51B5"/>
                </a:solidFill>
              </a:rPr>
              <a:t>fun</a:t>
            </a:r>
            <a:r>
              <a:rPr lang="en" sz="1150" dirty="0">
                <a:solidFill>
                  <a:srgbClr val="37474F"/>
                </a:solidFill>
              </a:rPr>
              <a:t> create(): T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}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F51B5"/>
                </a:solidFill>
              </a:rPr>
              <a:t>class</a:t>
            </a:r>
            <a:r>
              <a:rPr lang="en" sz="1150" dirty="0">
                <a:solidFill>
                  <a:srgbClr val="37474F"/>
                </a:solidFill>
              </a:rPr>
              <a:t> MyClass {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    </a:t>
            </a:r>
            <a:r>
              <a:rPr lang="en" sz="1150" dirty="0">
                <a:solidFill>
                  <a:srgbClr val="3F51B5"/>
                </a:solidFill>
              </a:rPr>
              <a:t>companion</a:t>
            </a:r>
            <a:r>
              <a:rPr lang="en" sz="1150" dirty="0">
                <a:solidFill>
                  <a:srgbClr val="37474F"/>
                </a:solidFill>
              </a:rPr>
              <a:t> </a:t>
            </a:r>
            <a:r>
              <a:rPr lang="en" sz="1150" dirty="0">
                <a:solidFill>
                  <a:srgbClr val="3F51B5"/>
                </a:solidFill>
              </a:rPr>
              <a:t>object</a:t>
            </a:r>
            <a:r>
              <a:rPr lang="en" sz="1150" dirty="0">
                <a:solidFill>
                  <a:srgbClr val="37474F"/>
                </a:solidFill>
              </a:rPr>
              <a:t> : Factory&lt;MyClass&gt; {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        </a:t>
            </a:r>
            <a:r>
              <a:rPr lang="en" sz="1150" dirty="0">
                <a:solidFill>
                  <a:srgbClr val="3F51B5"/>
                </a:solidFill>
              </a:rPr>
              <a:t>private var</a:t>
            </a:r>
            <a:r>
              <a:rPr lang="en" sz="1150" dirty="0">
                <a:solidFill>
                  <a:srgbClr val="37474F"/>
                </a:solidFill>
              </a:rPr>
              <a:t> counter: Int = 0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        </a:t>
            </a:r>
            <a:r>
              <a:rPr lang="en" sz="1150" dirty="0">
                <a:solidFill>
                  <a:srgbClr val="3F51B5"/>
                </a:solidFill>
              </a:rPr>
              <a:t>override</a:t>
            </a:r>
            <a:r>
              <a:rPr lang="en" sz="1150" dirty="0">
                <a:solidFill>
                  <a:srgbClr val="37474F"/>
                </a:solidFill>
              </a:rPr>
              <a:t> </a:t>
            </a:r>
            <a:r>
              <a:rPr lang="en" sz="1150" dirty="0">
                <a:solidFill>
                  <a:srgbClr val="3F51B5"/>
                </a:solidFill>
              </a:rPr>
              <a:t>fun</a:t>
            </a:r>
            <a:r>
              <a:rPr lang="en" sz="1150" dirty="0">
                <a:solidFill>
                  <a:srgbClr val="37474F"/>
                </a:solidFill>
              </a:rPr>
              <a:t> create(): MyClass = 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                MyClass().</a:t>
            </a:r>
            <a:r>
              <a:rPr lang="en" sz="1150" dirty="0">
                <a:solidFill>
                  <a:srgbClr val="3F51B5"/>
                </a:solidFill>
              </a:rPr>
              <a:t>also</a:t>
            </a:r>
            <a:r>
              <a:rPr lang="en" sz="1150" dirty="0">
                <a:solidFill>
                  <a:srgbClr val="37474F"/>
                </a:solidFill>
              </a:rPr>
              <a:t> { counter += 1}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    }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    </a:t>
            </a:r>
            <a:r>
              <a:rPr lang="en" sz="1150" dirty="0">
                <a:solidFill>
                  <a:srgbClr val="388E3C"/>
                </a:solidFill>
              </a:rPr>
              <a:t>// … </a:t>
            </a:r>
            <a:r>
              <a:rPr lang="zh-CN" altLang="en-US" sz="1150" dirty="0">
                <a:solidFill>
                  <a:srgbClr val="388E3C"/>
                </a:solidFill>
              </a:rPr>
              <a:t>一些代码</a:t>
            </a:r>
            <a:r>
              <a:rPr lang="en" sz="1150" dirty="0">
                <a:solidFill>
                  <a:srgbClr val="388E3C"/>
                </a:solidFill>
              </a:rPr>
              <a:t> …</a:t>
            </a:r>
            <a:endParaRPr sz="1150" dirty="0">
              <a:solidFill>
                <a:srgbClr val="388E3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7474F"/>
                </a:solidFill>
              </a:rPr>
              <a:t>}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F51B5"/>
                </a:solidFill>
              </a:rPr>
              <a:t>val</a:t>
            </a:r>
            <a:r>
              <a:rPr lang="en" sz="1150" dirty="0">
                <a:solidFill>
                  <a:srgbClr val="37474F"/>
                </a:solidFill>
              </a:rPr>
              <a:t> f: Factory&lt;MyClass&gt; = MyClass.Companion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F51B5"/>
                </a:solidFill>
              </a:rPr>
              <a:t>val</a:t>
            </a:r>
            <a:r>
              <a:rPr lang="en" sz="1150" dirty="0">
                <a:solidFill>
                  <a:srgbClr val="37474F"/>
                </a:solidFill>
              </a:rPr>
              <a:t> instance1 = f.create()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3F51B5"/>
                </a:solidFill>
              </a:rPr>
              <a:t>val</a:t>
            </a:r>
            <a:r>
              <a:rPr lang="en" sz="1150" dirty="0">
                <a:solidFill>
                  <a:srgbClr val="37474F"/>
                </a:solidFill>
              </a:rPr>
              <a:t> instance2 = f.create()</a:t>
            </a:r>
            <a:endParaRPr sz="1150" dirty="0">
              <a:solidFill>
                <a:srgbClr val="37474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0"/>
          <p:cNvSpPr txBox="1">
            <a:spLocks noGrp="1"/>
          </p:cNvSpPr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Kotlin </a:t>
            </a:r>
            <a:r>
              <a:rPr lang="zh-CN" altLang="en-US" dirty="0"/>
              <a:t>类型层次结构</a:t>
            </a:r>
            <a:endParaRPr dirty="0"/>
          </a:p>
        </p:txBody>
      </p:sp>
      <p:sp>
        <p:nvSpPr>
          <p:cNvPr id="346" name="Google Shape;346;p50"/>
          <p:cNvSpPr/>
          <p:nvPr/>
        </p:nvSpPr>
        <p:spPr>
          <a:xfrm>
            <a:off x="212725" y="24240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47" name="Google Shape;347;p50"/>
          <p:cNvSpPr/>
          <p:nvPr/>
        </p:nvSpPr>
        <p:spPr>
          <a:xfrm>
            <a:off x="1718965" y="162720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Any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48" name="Google Shape;348;p50"/>
          <p:cNvSpPr/>
          <p:nvPr/>
        </p:nvSpPr>
        <p:spPr>
          <a:xfrm>
            <a:off x="1174752" y="24240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49" name="Google Shape;349;p50"/>
          <p:cNvSpPr/>
          <p:nvPr/>
        </p:nvSpPr>
        <p:spPr>
          <a:xfrm>
            <a:off x="2136779" y="24240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List&lt;T&gt;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50" name="Google Shape;350;p50"/>
          <p:cNvSpPr/>
          <p:nvPr/>
        </p:nvSpPr>
        <p:spPr>
          <a:xfrm>
            <a:off x="3369913" y="24240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Parent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51" name="Google Shape;351;p50"/>
          <p:cNvSpPr/>
          <p:nvPr/>
        </p:nvSpPr>
        <p:spPr>
          <a:xfrm>
            <a:off x="1845925" y="3054350"/>
            <a:ext cx="1417500" cy="308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MutableList&lt;T&gt;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52" name="Google Shape;352;p50"/>
          <p:cNvSpPr/>
          <p:nvPr/>
        </p:nvSpPr>
        <p:spPr>
          <a:xfrm>
            <a:off x="3369913" y="30543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Child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53" name="Google Shape;353;p50"/>
          <p:cNvSpPr/>
          <p:nvPr/>
        </p:nvSpPr>
        <p:spPr>
          <a:xfrm>
            <a:off x="1718965" y="462110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Nothing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354" name="Google Shape;354;p50"/>
          <p:cNvCxnSpPr>
            <a:stCxn id="346" idx="0"/>
            <a:endCxn id="347" idx="1"/>
          </p:cNvCxnSpPr>
          <p:nvPr/>
        </p:nvCxnSpPr>
        <p:spPr>
          <a:xfrm rot="-5400000">
            <a:off x="853375" y="1558400"/>
            <a:ext cx="642900" cy="10884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" name="Google Shape;355;p50"/>
          <p:cNvCxnSpPr>
            <a:stCxn id="348" idx="0"/>
          </p:cNvCxnSpPr>
          <p:nvPr/>
        </p:nvCxnSpPr>
        <p:spPr>
          <a:xfrm rot="-5400000">
            <a:off x="1472352" y="2077850"/>
            <a:ext cx="466500" cy="2259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6" name="Google Shape;356;p50"/>
          <p:cNvCxnSpPr>
            <a:stCxn id="349" idx="0"/>
          </p:cNvCxnSpPr>
          <p:nvPr/>
        </p:nvCxnSpPr>
        <p:spPr>
          <a:xfrm rot="5400000" flipH="1">
            <a:off x="2259329" y="2128700"/>
            <a:ext cx="466500" cy="1242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7" name="Google Shape;357;p50"/>
          <p:cNvCxnSpPr>
            <a:stCxn id="350" idx="0"/>
            <a:endCxn id="347" idx="3"/>
          </p:cNvCxnSpPr>
          <p:nvPr/>
        </p:nvCxnSpPr>
        <p:spPr>
          <a:xfrm rot="5400000" flipH="1">
            <a:off x="2849863" y="1486100"/>
            <a:ext cx="642900" cy="12330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" name="Google Shape;358;p50"/>
          <p:cNvCxnSpPr>
            <a:stCxn id="351" idx="0"/>
            <a:endCxn id="349" idx="2"/>
          </p:cNvCxnSpPr>
          <p:nvPr/>
        </p:nvCxnSpPr>
        <p:spPr>
          <a:xfrm rot="-5400000">
            <a:off x="2393875" y="2892950"/>
            <a:ext cx="3222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50"/>
          <p:cNvCxnSpPr>
            <a:stCxn id="352" idx="0"/>
            <a:endCxn id="350" idx="2"/>
          </p:cNvCxnSpPr>
          <p:nvPr/>
        </p:nvCxnSpPr>
        <p:spPr>
          <a:xfrm rot="-5400000">
            <a:off x="3627013" y="2892950"/>
            <a:ext cx="3222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0" name="Google Shape;360;p50"/>
          <p:cNvCxnSpPr>
            <a:stCxn id="353" idx="0"/>
            <a:endCxn id="346" idx="2"/>
          </p:cNvCxnSpPr>
          <p:nvPr/>
        </p:nvCxnSpPr>
        <p:spPr>
          <a:xfrm rot="5400000" flipH="1">
            <a:off x="439315" y="2923550"/>
            <a:ext cx="1888800" cy="1506300"/>
          </a:xfrm>
          <a:prstGeom prst="curved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" name="Google Shape;361;p50"/>
          <p:cNvCxnSpPr>
            <a:stCxn id="353" idx="0"/>
            <a:endCxn id="348" idx="2"/>
          </p:cNvCxnSpPr>
          <p:nvPr/>
        </p:nvCxnSpPr>
        <p:spPr>
          <a:xfrm rot="5400000" flipH="1">
            <a:off x="920365" y="3404600"/>
            <a:ext cx="1888800" cy="544200"/>
          </a:xfrm>
          <a:prstGeom prst="curved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2" name="Google Shape;362;p50"/>
          <p:cNvCxnSpPr>
            <a:stCxn id="353" idx="0"/>
            <a:endCxn id="351" idx="2"/>
          </p:cNvCxnSpPr>
          <p:nvPr/>
        </p:nvCxnSpPr>
        <p:spPr>
          <a:xfrm rot="-5400000">
            <a:off x="1716565" y="3782900"/>
            <a:ext cx="1258500" cy="417900"/>
          </a:xfrm>
          <a:prstGeom prst="curved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50"/>
          <p:cNvCxnSpPr>
            <a:stCxn id="353" idx="0"/>
            <a:endCxn id="352" idx="2"/>
          </p:cNvCxnSpPr>
          <p:nvPr/>
        </p:nvCxnSpPr>
        <p:spPr>
          <a:xfrm rot="-5400000">
            <a:off x="2333065" y="3166400"/>
            <a:ext cx="1258500" cy="1650900"/>
          </a:xfrm>
          <a:prstGeom prst="curved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4" name="Google Shape;364;p50"/>
          <p:cNvSpPr/>
          <p:nvPr/>
        </p:nvSpPr>
        <p:spPr>
          <a:xfrm>
            <a:off x="4778000" y="16477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Int?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5" name="Google Shape;365;p50"/>
          <p:cNvSpPr/>
          <p:nvPr/>
        </p:nvSpPr>
        <p:spPr>
          <a:xfrm>
            <a:off x="6284240" y="85090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Any</a:t>
            </a: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6" name="Google Shape;366;p50"/>
          <p:cNvSpPr/>
          <p:nvPr/>
        </p:nvSpPr>
        <p:spPr>
          <a:xfrm>
            <a:off x="5740027" y="16477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7" name="Google Shape;367;p50"/>
          <p:cNvSpPr/>
          <p:nvPr/>
        </p:nvSpPr>
        <p:spPr>
          <a:xfrm>
            <a:off x="6674462" y="1647750"/>
            <a:ext cx="891000" cy="3081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List&lt;T&gt;</a:t>
            </a: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8" name="Google Shape;368;p50"/>
          <p:cNvSpPr/>
          <p:nvPr/>
        </p:nvSpPr>
        <p:spPr>
          <a:xfrm>
            <a:off x="7935188" y="16477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Parent</a:t>
            </a: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9" name="Google Shape;369;p50"/>
          <p:cNvSpPr/>
          <p:nvPr/>
        </p:nvSpPr>
        <p:spPr>
          <a:xfrm>
            <a:off x="6411200" y="2278050"/>
            <a:ext cx="1417500" cy="3081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etBrains Mono"/>
                <a:ea typeface="JetBrains Mono"/>
                <a:cs typeface="JetBrains Mono"/>
                <a:sym typeface="JetBrains Mono"/>
              </a:rPr>
              <a:t>MutableList&lt;T&gt;</a:t>
            </a:r>
            <a:r>
              <a:rPr lang="en" sz="1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  <a:endParaRPr sz="10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0" name="Google Shape;370;p50"/>
          <p:cNvSpPr/>
          <p:nvPr/>
        </p:nvSpPr>
        <p:spPr>
          <a:xfrm>
            <a:off x="7935188" y="2278050"/>
            <a:ext cx="835800" cy="3081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Child</a:t>
            </a: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1" name="Google Shape;371;p50"/>
          <p:cNvSpPr/>
          <p:nvPr/>
        </p:nvSpPr>
        <p:spPr>
          <a:xfrm>
            <a:off x="6232500" y="3844800"/>
            <a:ext cx="939300" cy="3081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Nothing</a:t>
            </a: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372" name="Google Shape;372;p50"/>
          <p:cNvCxnSpPr>
            <a:stCxn id="364" idx="0"/>
            <a:endCxn id="365" idx="1"/>
          </p:cNvCxnSpPr>
          <p:nvPr/>
        </p:nvCxnSpPr>
        <p:spPr>
          <a:xfrm rot="-5400000">
            <a:off x="5418650" y="782100"/>
            <a:ext cx="642900" cy="10884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50"/>
          <p:cNvCxnSpPr>
            <a:stCxn id="366" idx="0"/>
          </p:cNvCxnSpPr>
          <p:nvPr/>
        </p:nvCxnSpPr>
        <p:spPr>
          <a:xfrm rot="-5400000">
            <a:off x="6037627" y="1301550"/>
            <a:ext cx="466500" cy="2259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4" name="Google Shape;374;p50"/>
          <p:cNvCxnSpPr>
            <a:stCxn id="367" idx="0"/>
          </p:cNvCxnSpPr>
          <p:nvPr/>
        </p:nvCxnSpPr>
        <p:spPr>
          <a:xfrm rot="5400000" flipH="1">
            <a:off x="6824612" y="1352400"/>
            <a:ext cx="466500" cy="1242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" name="Google Shape;375;p50"/>
          <p:cNvCxnSpPr>
            <a:stCxn id="368" idx="0"/>
            <a:endCxn id="365" idx="3"/>
          </p:cNvCxnSpPr>
          <p:nvPr/>
        </p:nvCxnSpPr>
        <p:spPr>
          <a:xfrm rot="5400000" flipH="1">
            <a:off x="7415138" y="709800"/>
            <a:ext cx="642900" cy="12330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50"/>
          <p:cNvCxnSpPr>
            <a:stCxn id="369" idx="0"/>
            <a:endCxn id="367" idx="2"/>
          </p:cNvCxnSpPr>
          <p:nvPr/>
        </p:nvCxnSpPr>
        <p:spPr>
          <a:xfrm rot="-5400000">
            <a:off x="6959150" y="2116650"/>
            <a:ext cx="3222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50"/>
          <p:cNvCxnSpPr>
            <a:stCxn id="370" idx="0"/>
            <a:endCxn id="368" idx="2"/>
          </p:cNvCxnSpPr>
          <p:nvPr/>
        </p:nvCxnSpPr>
        <p:spPr>
          <a:xfrm rot="-5400000">
            <a:off x="8192288" y="2116650"/>
            <a:ext cx="3222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" name="Google Shape;378;p50"/>
          <p:cNvCxnSpPr>
            <a:stCxn id="371" idx="0"/>
            <a:endCxn id="364" idx="2"/>
          </p:cNvCxnSpPr>
          <p:nvPr/>
        </p:nvCxnSpPr>
        <p:spPr>
          <a:xfrm rot="5400000" flipH="1">
            <a:off x="5004600" y="2147250"/>
            <a:ext cx="1888800" cy="1506300"/>
          </a:xfrm>
          <a:prstGeom prst="curved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9" name="Google Shape;379;p50"/>
          <p:cNvCxnSpPr>
            <a:stCxn id="371" idx="0"/>
            <a:endCxn id="366" idx="2"/>
          </p:cNvCxnSpPr>
          <p:nvPr/>
        </p:nvCxnSpPr>
        <p:spPr>
          <a:xfrm rot="5400000" flipH="1">
            <a:off x="5485650" y="2628300"/>
            <a:ext cx="1888800" cy="544200"/>
          </a:xfrm>
          <a:prstGeom prst="curved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0" name="Google Shape;380;p50"/>
          <p:cNvCxnSpPr>
            <a:stCxn id="371" idx="0"/>
            <a:endCxn id="369" idx="2"/>
          </p:cNvCxnSpPr>
          <p:nvPr/>
        </p:nvCxnSpPr>
        <p:spPr>
          <a:xfrm rot="-5400000">
            <a:off x="6281850" y="3006600"/>
            <a:ext cx="1258500" cy="417900"/>
          </a:xfrm>
          <a:prstGeom prst="curved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1" name="Google Shape;381;p50"/>
          <p:cNvCxnSpPr>
            <a:stCxn id="371" idx="0"/>
            <a:endCxn id="370" idx="2"/>
          </p:cNvCxnSpPr>
          <p:nvPr/>
        </p:nvCxnSpPr>
        <p:spPr>
          <a:xfrm rot="-5400000">
            <a:off x="6898350" y="2390100"/>
            <a:ext cx="1258500" cy="1650900"/>
          </a:xfrm>
          <a:prstGeom prst="curved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Google Shape;382;p50"/>
          <p:cNvCxnSpPr>
            <a:stCxn id="353" idx="3"/>
            <a:endCxn id="371" idx="1"/>
          </p:cNvCxnSpPr>
          <p:nvPr/>
        </p:nvCxnSpPr>
        <p:spPr>
          <a:xfrm rot="10800000" flipH="1">
            <a:off x="2554765" y="3998750"/>
            <a:ext cx="3677700" cy="776400"/>
          </a:xfrm>
          <a:prstGeom prst="straightConnector1">
            <a:avLst/>
          </a:prstGeom>
          <a:noFill/>
          <a:ln w="9525" cap="flat" cmpd="sng">
            <a:solidFill>
              <a:srgbClr val="89898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3" name="Google Shape;383;p50"/>
          <p:cNvCxnSpPr/>
          <p:nvPr/>
        </p:nvCxnSpPr>
        <p:spPr>
          <a:xfrm rot="10800000" flipH="1">
            <a:off x="2289265" y="874200"/>
            <a:ext cx="3970200" cy="753000"/>
          </a:xfrm>
          <a:prstGeom prst="straightConnector1">
            <a:avLst/>
          </a:prstGeom>
          <a:noFill/>
          <a:ln w="9525" cap="flat" cmpd="sng">
            <a:solidFill>
              <a:srgbClr val="89898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4" name="Google Shape;384;p50"/>
          <p:cNvCxnSpPr/>
          <p:nvPr/>
        </p:nvCxnSpPr>
        <p:spPr>
          <a:xfrm rot="10800000" flipH="1">
            <a:off x="4383763" y="2364900"/>
            <a:ext cx="515400" cy="134400"/>
          </a:xfrm>
          <a:prstGeom prst="straightConnector1">
            <a:avLst/>
          </a:prstGeom>
          <a:noFill/>
          <a:ln w="9525" cap="flat" cmpd="sng">
            <a:solidFill>
              <a:srgbClr val="89898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" name="Google Shape;385;p50"/>
          <p:cNvCxnSpPr/>
          <p:nvPr/>
        </p:nvCxnSpPr>
        <p:spPr>
          <a:xfrm rot="10800000" flipH="1">
            <a:off x="4481175" y="2597900"/>
            <a:ext cx="515400" cy="134400"/>
          </a:xfrm>
          <a:prstGeom prst="straightConnector1">
            <a:avLst/>
          </a:prstGeom>
          <a:noFill/>
          <a:ln w="9525" cap="flat" cmpd="sng">
            <a:solidFill>
              <a:srgbClr val="89898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" name="Google Shape;386;p50"/>
          <p:cNvCxnSpPr/>
          <p:nvPr/>
        </p:nvCxnSpPr>
        <p:spPr>
          <a:xfrm rot="10800000" flipH="1">
            <a:off x="4556125" y="2830900"/>
            <a:ext cx="515400" cy="134400"/>
          </a:xfrm>
          <a:prstGeom prst="straightConnector1">
            <a:avLst/>
          </a:prstGeom>
          <a:noFill/>
          <a:ln w="9525" cap="flat" cmpd="sng">
            <a:solidFill>
              <a:srgbClr val="89898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7" name="Google Shape;387;p50"/>
          <p:cNvCxnSpPr/>
          <p:nvPr/>
        </p:nvCxnSpPr>
        <p:spPr>
          <a:xfrm rot="10800000" flipH="1">
            <a:off x="4648200" y="3063900"/>
            <a:ext cx="515400" cy="134400"/>
          </a:xfrm>
          <a:prstGeom prst="straightConnector1">
            <a:avLst/>
          </a:prstGeom>
          <a:noFill/>
          <a:ln w="9525" cap="flat" cmpd="sng">
            <a:solidFill>
              <a:srgbClr val="89898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 txBox="1"/>
          <p:nvPr/>
        </p:nvSpPr>
        <p:spPr>
          <a:xfrm>
            <a:off x="276225" y="285750"/>
            <a:ext cx="71532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b="0" i="0" u="none" strike="noStrike" cap="none" dirty="0">
                <a:solidFill>
                  <a:schemeClr val="lt1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Thanks!</a:t>
            </a:r>
            <a:endParaRPr sz="4800" dirty="0">
              <a:solidFill>
                <a:schemeClr val="lt1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393" name="Google Shape;393;p51">
            <a:hlinkClick r:id="rId3"/>
          </p:cNvPr>
          <p:cNvSpPr txBox="1"/>
          <p:nvPr/>
        </p:nvSpPr>
        <p:spPr>
          <a:xfrm>
            <a:off x="238875" y="4469150"/>
            <a:ext cx="21666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@kotlin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  <p:sp>
        <p:nvSpPr>
          <p:cNvPr id="394" name="Google Shape;394;p51"/>
          <p:cNvSpPr txBox="1"/>
          <p:nvPr/>
        </p:nvSpPr>
        <p:spPr>
          <a:xfrm>
            <a:off x="1079350" y="4469150"/>
            <a:ext cx="3967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HONOR Sans CN" panose="02000500000000000000" pitchFamily="2" charset="-122"/>
                <a:ea typeface="HONOR Sans CN" panose="02000500000000000000" pitchFamily="2" charset="-122"/>
                <a:cs typeface="Inter"/>
                <a:sym typeface="Inter"/>
              </a:rPr>
              <a:t>|  Developed by JetBrains </a:t>
            </a:r>
            <a:endParaRPr sz="1700" dirty="0">
              <a:solidFill>
                <a:srgbClr val="FFFFFF"/>
              </a:solidFill>
              <a:latin typeface="HONOR Sans CN" panose="02000500000000000000" pitchFamily="2" charset="-122"/>
              <a:ea typeface="HONOR Sans CN" panose="02000500000000000000" pitchFamily="2" charset="-122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 White Theme">
  <a:themeElements>
    <a:clrScheme name="Simple Light">
      <a:dk1>
        <a:srgbClr val="000000"/>
      </a:dk1>
      <a:lt1>
        <a:srgbClr val="FFFFFF"/>
      </a:lt1>
      <a:dk2>
        <a:srgbClr val="27282C"/>
      </a:dk2>
      <a:lt2>
        <a:srgbClr val="000000"/>
      </a:lt2>
      <a:accent1>
        <a:srgbClr val="28B8A0"/>
      </a:accent1>
      <a:accent2>
        <a:srgbClr val="FC801D"/>
      </a:accent2>
      <a:accent3>
        <a:srgbClr val="FF318C"/>
      </a:accent3>
      <a:accent4>
        <a:srgbClr val="6B57FF"/>
      </a:accent4>
      <a:accent5>
        <a:srgbClr val="087CFA"/>
      </a:accent5>
      <a:accent6>
        <a:srgbClr val="000000"/>
      </a:accent6>
      <a:hlink>
        <a:srgbClr val="FF31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10919</Words>
  <PresentationFormat>全屏显示(16:9)</PresentationFormat>
  <Paragraphs>1104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HONOR Sans CN</vt:lpstr>
      <vt:lpstr>JetBrains Mono</vt:lpstr>
      <vt:lpstr>Arial</vt:lpstr>
      <vt:lpstr>Raleway</vt:lpstr>
      <vt:lpstr>Open Sans</vt:lpstr>
      <vt:lpstr>Inter</vt:lpstr>
      <vt:lpstr>Standard White Theme</vt:lpstr>
      <vt:lpstr>PowerPoint 演示文稿</vt:lpstr>
      <vt:lpstr>面向对象编程</vt:lpstr>
      <vt:lpstr>类和对象</vt:lpstr>
      <vt:lpstr>对象（类/类型）不变式</vt:lpstr>
      <vt:lpstr>抽象</vt:lpstr>
      <vt:lpstr>封装</vt:lpstr>
      <vt:lpstr>抽象 vs 封装</vt:lpstr>
      <vt:lpstr>封装</vt:lpstr>
      <vt:lpstr>继承</vt:lpstr>
      <vt:lpstr>继承</vt:lpstr>
      <vt:lpstr>子类型</vt:lpstr>
      <vt:lpstr>子类型</vt:lpstr>
      <vt:lpstr>多态</vt:lpstr>
      <vt:lpstr>Kotlin 中的面向对象编程</vt:lpstr>
      <vt:lpstr>构造函数</vt:lpstr>
      <vt:lpstr>构造函数</vt:lpstr>
      <vt:lpstr>init 初始化代码块</vt:lpstr>
      <vt:lpstr>抽象</vt:lpstr>
      <vt:lpstr>封装</vt:lpstr>
      <vt:lpstr>封装</vt:lpstr>
      <vt:lpstr>继承</vt:lpstr>
      <vt:lpstr>你为什么要禁止猫咪拉💩？！</vt:lpstr>
      <vt:lpstr>重探多态</vt:lpstr>
      <vt:lpstr>属性</vt:lpstr>
      <vt:lpstr>属性</vt:lpstr>
      <vt:lpstr>运算符重载</vt:lpstr>
      <vt:lpstr>扩展</vt:lpstr>
      <vt:lpstr>扩展背后的原理</vt:lpstr>
      <vt:lpstr>中缀函数</vt:lpstr>
      <vt:lpstr>ComponentN 运算符</vt:lpstr>
      <vt:lpstr>数据类</vt:lpstr>
      <vt:lpstr>内联（值）类</vt:lpstr>
      <vt:lpstr>内联（值）类</vt:lpstr>
      <vt:lpstr>内联（值）类</vt:lpstr>
      <vt:lpstr>枚举类</vt:lpstr>
      <vt:lpstr>Kotlin 示例</vt:lpstr>
      <vt:lpstr>密封类</vt:lpstr>
      <vt:lpstr>函数式接口（单一抽象方法）</vt:lpstr>
      <vt:lpstr>Kotlin 单例</vt:lpstr>
      <vt:lpstr>伴生对象</vt:lpstr>
      <vt:lpstr>Kotlin 类型层次结构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2026-04-27T03:21:25Z</dcterms:modified>
</cp:coreProperties>
</file>